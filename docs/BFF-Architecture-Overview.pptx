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explains the architecture behind bff-kickstart: a Spring Boot backend-for-frontend with a React SPA and Keycloak. The one-sentence version: the browser never holds a token - it holds a session cookie, and a server it trusts does all the OAuth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before the pattern. The core issue is that a browser is a hostile place to keep long-lived credentials. Everything else - CORS pain, duplicated refresh logic - is secondary 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in one picture. The BFF is an OAuth2 confidential client. The browser-BFF relationship is plain old session auth, which browsers have done well for 25 years. Everything OAuth-shaped happens server-to-server.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shape. In Docker Compose these are four services; the frontend container is the only published port a real deployment needs. Browser login redirects do go browser-to-Keycloak in dev via an /etc/hosts alias; in production Keycloak sits behind the same ingress.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OpenID Connect authorization-code flow, done by Spring Security’s oauth2Login - none of this is hand-rolled. Two things to stress: passwords only ever touch Keycloak, and the code-for-token exchange happens on a back channel with a client secret the browser never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day-two payoff. Frontend devs write fetch-shaped code; all the OAuth machinery is invisible. The whole pipeline is one Spring SecurityFilterChain - point developers at SecurityConfig.java, it is heavily commented.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Cookie auth means CSRF protection is mandatory, and this is the standard double-submit-cookie pattern - Spring and axios both support it natively, so it is configuration, not code. The Bearer-scheme detail on the left is a real bypass class this repo explicitly guards against; see the comment block in SecurityConfig.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are defined once in the Keycloak realm and flow into the token; the BFF just maps them to Spring authorities. API Owner is a Keycloak composite role - membership expands automatically at token issuance. Being able to SEE the docs (API Developer) says nothing about what an actual call may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dwelling on for a technical audience: defense in depth with an explicit trade-off. Push handles the instant case; pull covers delivery failure; fail-open keeps an IdP blip from mass-logging-out users. If your threat model demands per-request freshness, the filter approach is possible - just price in the introspection round-trip, or cache verdicts briefly, which quietly reintroduces the same staleness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Same-origin is what makes the cookie model pleasant instead of painful. In dev, Vite’s server.proxy (and preview.proxy for built output) does what nginx does in prod, so the two environments have the same shape. The Spring side honors X-Forwarded-Prefix via ForwardedHeaderFilter so OAuth redirect URIs come out right behind the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BFF pattern covers your own frontend; API_EXPOSED covers everyone else. Off by default so a plain deployment has no bearer surface at all. Both doors converge on the same role authorities, so @PreAuthorize rules are written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is the one-command path; the native path exists for locked-down laptops or anyone who prefers local processes. The Keycloak script downloads the official distribution once, layers in this repo’s theme, SPI, and realm export, and starts it with --import-realm. Vite’s preview proxy makes the no-nginx production-style run behave like the real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audiences, two value propositions. For developers it is removed toil; for leads it is risk posture and operability. The CC0 point matters for org adoption - there is no attribution or license-preservation obligation to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Leads appreciate this slide most. None of these costs is hidden or surprising; they are the standard price of the pattern, and each has a standard mitigation. The moment you have many heterogeneous clients, revisit - that is what the Bearer door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invitation: everything in this deck exists as running, commented code. The realm export ships demo users for every role, so reviewers can log in as each persona in under five minutes with docker compose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2E"/>
        </a:solidFill>
      </p:bgPr>
    </p:bg>
    <p:spTree>
      <p:nvGrpSpPr>
        <p:cNvPr id="1" name=""/>
        <p:cNvGrpSpPr/>
        <p:nvPr/>
      </p:nvGrpSpPr>
      <p:grpSpPr>
        <a:xfrm>
          <a:off x="0" y="0"/>
          <a:ext cx="0" cy="0"/>
          <a:chOff x="0" y="0"/>
          <a:chExt cx="0" cy="0"/>
        </a:xfrm>
      </p:grpSpPr>
      <p:sp>
        <p:nvSpPr>
          <p:cNvPr id="2" name="Shape 0"/>
          <p:cNvSpPr/>
          <p:nvPr/>
        </p:nvSpPr>
        <p:spPr>
          <a:xfrm>
            <a:off x="685800" y="685800"/>
            <a:ext cx="1051560" cy="1051560"/>
          </a:xfrm>
          <a:prstGeom prst="roundRect">
            <a:avLst>
              <a:gd name="adj" fmla="val 20000"/>
            </a:avLst>
          </a:prstGeom>
          <a:solidFill>
            <a:srgbClr val="2FA36B"/>
          </a:solidFill>
          <a:ln/>
          <a:effectLst>
            <a:outerShdw sx="100000" sy="100000" kx="0" ky="0" algn="bl" rotWithShape="0" blurRad="76200" dist="25400" dir="5400000">
              <a:srgbClr val="0B3D2E">
                <a:alpha val="18000"/>
              </a:srgbClr>
            </a:outerShdw>
          </a:effectLst>
        </p:spPr>
      </p:sp>
      <p:sp>
        <p:nvSpPr>
          <p:cNvPr id="3" name="Text 1"/>
          <p:cNvSpPr txBox="1"/>
          <p:nvPr/>
        </p:nvSpPr>
        <p:spPr>
          <a:xfrm>
            <a:off x="685800" y="706831"/>
            <a:ext cx="1051560" cy="609905"/>
          </a:xfrm>
          <a:prstGeom prst="rect">
            <a:avLst/>
          </a:prstGeom>
          <a:noFill/>
          <a:ln/>
        </p:spPr>
        <p:txBody>
          <a:bodyPr wrap="square" lIns="0" tIns="0" rIns="0" bIns="0" rtlCol="0" anchor="ctr"/>
          <a:lstStyle/>
          <a:p>
            <a:pPr algn="ctr" indent="0" marL="0">
              <a:buNone/>
            </a:pPr>
            <a:r>
              <a:rPr lang="en-US" sz="5980" b="1" dirty="0">
                <a:solidFill>
                  <a:srgbClr val="FFFFFF"/>
                </a:solidFill>
                <a:latin typeface="Calibri" pitchFamily="34" charset="0"/>
                <a:ea typeface="Calibri" pitchFamily="34" charset="-122"/>
                <a:cs typeface="Calibri" pitchFamily="34" charset="-120"/>
              </a:rPr>
              <a:t>»</a:t>
            </a:r>
            <a:endParaRPr lang="en-US" sz="5980" dirty="0"/>
          </a:p>
        </p:txBody>
      </p:sp>
      <p:sp>
        <p:nvSpPr>
          <p:cNvPr id="4" name="Text 2"/>
          <p:cNvSpPr txBox="1"/>
          <p:nvPr/>
        </p:nvSpPr>
        <p:spPr>
          <a:xfrm>
            <a:off x="685800" y="1232611"/>
            <a:ext cx="1051560" cy="441655"/>
          </a:xfrm>
          <a:prstGeom prst="rect">
            <a:avLst/>
          </a:prstGeom>
          <a:noFill/>
          <a:ln/>
        </p:spPr>
        <p:txBody>
          <a:bodyPr wrap="square" lIns="0" tIns="0" rIns="0" bIns="0" rtlCol="0" anchor="ctr"/>
          <a:lstStyle/>
          <a:p>
            <a:pPr algn="ctr" indent="0" marL="0">
              <a:buNone/>
            </a:pPr>
            <a:r>
              <a:rPr lang="en-US" sz="3450" b="1" dirty="0">
                <a:solidFill>
                  <a:srgbClr val="FFFFFF"/>
                </a:solidFill>
                <a:latin typeface="Calibri" pitchFamily="34" charset="0"/>
                <a:ea typeface="Calibri" pitchFamily="34" charset="-122"/>
                <a:cs typeface="Calibri" pitchFamily="34" charset="-120"/>
              </a:rPr>
              <a:t>sG</a:t>
            </a:r>
            <a:endParaRPr lang="en-US" sz="3450" dirty="0"/>
          </a:p>
        </p:txBody>
      </p:sp>
      <p:sp>
        <p:nvSpPr>
          <p:cNvPr id="5" name="Text 3"/>
          <p:cNvSpPr txBox="1"/>
          <p:nvPr/>
        </p:nvSpPr>
        <p:spPr>
          <a:xfrm>
            <a:off x="685800" y="2331720"/>
            <a:ext cx="10789920" cy="155448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The Backend-for-Frontend Pattern</a:t>
            </a:r>
            <a:endParaRPr lang="en-US" sz="4800" dirty="0"/>
          </a:p>
        </p:txBody>
      </p:sp>
      <p:sp>
        <p:nvSpPr>
          <p:cNvPr id="6" name="Text 4"/>
          <p:cNvSpPr txBox="1"/>
          <p:nvPr/>
        </p:nvSpPr>
        <p:spPr>
          <a:xfrm>
            <a:off x="685800" y="3886200"/>
            <a:ext cx="9601200" cy="914400"/>
          </a:xfrm>
          <a:prstGeom prst="rect">
            <a:avLst/>
          </a:prstGeom>
          <a:noFill/>
          <a:ln/>
        </p:spPr>
        <p:txBody>
          <a:bodyPr wrap="square" lIns="0" tIns="0" rIns="0" bIns="0" rtlCol="0" anchor="ctr"/>
          <a:lstStyle/>
          <a:p>
            <a:pPr indent="0" marL="0">
              <a:buNone/>
            </a:pPr>
            <a:r>
              <a:rPr lang="en-US" sz="1900" dirty="0">
                <a:solidFill>
                  <a:srgbClr val="BFE3CF"/>
                </a:solidFill>
                <a:latin typeface="Calibri" pitchFamily="34" charset="0"/>
                <a:ea typeface="Calibri" pitchFamily="34" charset="-122"/>
                <a:cs typeface="Calibri" pitchFamily="34" charset="-120"/>
              </a:rPr>
              <a:t>How bff-kickstart signs users in, keeps tokens out of the browser,</a:t>
            </a:r>
            <a:endParaRPr lang="en-US" sz="1900" dirty="0"/>
          </a:p>
          <a:p>
            <a:pPr indent="0" marL="0">
              <a:buNone/>
            </a:pPr>
            <a:r>
              <a:rPr lang="en-US" sz="1900" dirty="0">
                <a:solidFill>
                  <a:srgbClr val="BFE3CF"/>
                </a:solidFill>
                <a:latin typeface="Calibri" pitchFamily="34" charset="0"/>
                <a:ea typeface="Calibri" pitchFamily="34" charset="-122"/>
                <a:cs typeface="Calibri" pitchFamily="34" charset="-120"/>
              </a:rPr>
              <a:t>and guards every request that follows.</a:t>
            </a:r>
            <a:endParaRPr lang="en-US" sz="1900" dirty="0"/>
          </a:p>
        </p:txBody>
      </p:sp>
      <p:sp>
        <p:nvSpPr>
          <p:cNvPr id="7" name="Text 5"/>
          <p:cNvSpPr txBox="1"/>
          <p:nvPr/>
        </p:nvSpPr>
        <p:spPr>
          <a:xfrm>
            <a:off x="685800" y="5989320"/>
            <a:ext cx="10058400" cy="365760"/>
          </a:xfrm>
          <a:prstGeom prst="rect">
            <a:avLst/>
          </a:prstGeom>
          <a:noFill/>
          <a:ln/>
        </p:spPr>
        <p:txBody>
          <a:bodyPr wrap="square" lIns="0" tIns="0" rIns="0" bIns="0" rtlCol="0" anchor="ctr"/>
          <a:lstStyle/>
          <a:p>
            <a:pPr indent="0" marL="0">
              <a:buNone/>
            </a:pPr>
            <a:r>
              <a:rPr lang="en-US" sz="1300" dirty="0">
                <a:solidFill>
                  <a:srgbClr val="7FAF97"/>
                </a:solidFill>
                <a:latin typeface="Calibri" pitchFamily="34" charset="0"/>
                <a:ea typeface="Calibri" pitchFamily="34" charset="-122"/>
                <a:cs typeface="Calibri" pitchFamily="34" charset="-120"/>
              </a:rPr>
              <a:t>For developers &amp; technical leads   ·   github.com/ryanjjohnson/bff-kickstart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ctr"/>
          <a:lstStyle/>
          <a:p>
            <a:pPr indent="0" marL="0">
              <a:buNone/>
            </a:pPr>
            <a:r>
              <a:rPr lang="en-US" sz="1200" b="1" spc="300" kern="0" dirty="0">
                <a:solidFill>
                  <a:srgbClr val="248257"/>
                </a:solidFill>
                <a:latin typeface="Calibri" pitchFamily="34" charset="0"/>
                <a:ea typeface="Calibri" pitchFamily="34" charset="-122"/>
                <a:cs typeface="Calibri" pitchFamily="34" charset="-120"/>
              </a:rPr>
              <a:t>WHY A BFF AT ALL</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A2E24"/>
                </a:solidFill>
                <a:latin typeface="Calibri" pitchFamily="34" charset="0"/>
                <a:ea typeface="Calibri" pitchFamily="34" charset="-122"/>
                <a:cs typeface="Calibri" pitchFamily="34" charset="-120"/>
              </a:rPr>
              <a:t>The classic SPA + API setup has a token problem</a:t>
            </a:r>
            <a:endParaRPr lang="en-US" sz="3000" dirty="0"/>
          </a:p>
        </p:txBody>
      </p:sp>
      <p:sp>
        <p:nvSpPr>
          <p:cNvPr id="4" name="Shape 2"/>
          <p:cNvSpPr/>
          <p:nvPr/>
        </p:nvSpPr>
        <p:spPr>
          <a:xfrm>
            <a:off x="548640" y="1600200"/>
            <a:ext cx="475488" cy="475488"/>
          </a:xfrm>
          <a:prstGeom prst="roundRect">
            <a:avLst>
              <a:gd name="adj" fmla="val 22000"/>
            </a:avLst>
          </a:prstGeom>
          <a:solidFill>
            <a:srgbClr val="B85042"/>
          </a:solidFill>
          <a:ln/>
          <a:effectLst>
            <a:outerShdw sx="100000" sy="100000" kx="0" ky="0" algn="bl" rotWithShape="0" blurRad="76200" dist="25400" dir="5400000">
              <a:srgbClr val="0B3D2E">
                <a:alpha val="18000"/>
              </a:srgbClr>
            </a:outerShdw>
          </a:effectLst>
        </p:spPr>
      </p:sp>
      <p:pic>
        <p:nvPicPr>
          <p:cNvPr id="5" name="Image 0" descr="preencoded.png">    </p:cNvPr>
          <p:cNvPicPr>
            <a:picLocks noChangeAspect="1"/>
          </p:cNvPicPr>
          <p:nvPr/>
        </p:nvPicPr>
        <p:blipFill>
          <a:blip r:embed="rId1"/>
          <a:stretch>
            <a:fillRect/>
          </a:stretch>
        </p:blipFill>
        <p:spPr>
          <a:xfrm>
            <a:off x="662757" y="1714317"/>
            <a:ext cx="247254" cy="247254"/>
          </a:xfrm>
          <a:prstGeom prst="rect">
            <a:avLst/>
          </a:prstGeom>
        </p:spPr>
      </p:pic>
      <p:sp>
        <p:nvSpPr>
          <p:cNvPr id="6" name="Text 3"/>
          <p:cNvSpPr txBox="1"/>
          <p:nvPr/>
        </p:nvSpPr>
        <p:spPr>
          <a:xfrm>
            <a:off x="1207008" y="1563624"/>
            <a:ext cx="5577840" cy="320040"/>
          </a:xfrm>
          <a:prstGeom prst="rect">
            <a:avLst/>
          </a:prstGeom>
          <a:noFill/>
          <a:ln/>
        </p:spPr>
        <p:txBody>
          <a:bodyPr wrap="square" lIns="0" tIns="0" rIns="0" bIns="0" rtlCol="0" anchor="ctr"/>
          <a:lstStyle/>
          <a:p>
            <a:pPr indent="0" marL="0">
              <a:buNone/>
            </a:pPr>
            <a:r>
              <a:rPr lang="en-US" sz="1600" b="1" dirty="0">
                <a:solidFill>
                  <a:srgbClr val="1A2E24"/>
                </a:solidFill>
                <a:latin typeface="Calibri" pitchFamily="34" charset="0"/>
                <a:ea typeface="Calibri" pitchFamily="34" charset="-122"/>
                <a:cs typeface="Calibri" pitchFamily="34" charset="-120"/>
              </a:rPr>
              <a:t>Tokens live in the browser</a:t>
            </a:r>
            <a:endParaRPr lang="en-US" sz="1600" dirty="0"/>
          </a:p>
        </p:txBody>
      </p:sp>
      <p:sp>
        <p:nvSpPr>
          <p:cNvPr id="7" name="Text 4"/>
          <p:cNvSpPr txBox="1"/>
          <p:nvPr/>
        </p:nvSpPr>
        <p:spPr>
          <a:xfrm>
            <a:off x="1207008" y="1883664"/>
            <a:ext cx="5577840" cy="777240"/>
          </a:xfrm>
          <a:prstGeom prst="rect">
            <a:avLst/>
          </a:prstGeom>
          <a:noFill/>
          <a:ln/>
        </p:spPr>
        <p:txBody>
          <a:bodyPr wrap="square" lIns="0" tIns="0" rIns="0" bIns="0" rtlCol="0" anchor="ctr"/>
          <a:lstStyle/>
          <a:p>
            <a:pPr indent="0" marL="0">
              <a:buNone/>
            </a:pPr>
            <a:r>
              <a:rPr lang="en-US" sz="1250" dirty="0">
                <a:solidFill>
                  <a:srgbClr val="5C6F66"/>
                </a:solidFill>
                <a:latin typeface="Calibri" pitchFamily="34" charset="0"/>
                <a:ea typeface="Calibri" pitchFamily="34" charset="-122"/>
                <a:cs typeface="Calibri" pitchFamily="34" charset="-120"/>
              </a:rPr>
              <a:t>Access &amp; refresh tokens sit in localStorage or JS memory - any successful XSS payload can read and exfiltrate them.</a:t>
            </a:r>
            <a:endParaRPr lang="en-US" sz="1250" dirty="0"/>
          </a:p>
        </p:txBody>
      </p:sp>
      <p:sp>
        <p:nvSpPr>
          <p:cNvPr id="8" name="Shape 5"/>
          <p:cNvSpPr/>
          <p:nvPr/>
        </p:nvSpPr>
        <p:spPr>
          <a:xfrm>
            <a:off x="548640" y="2807208"/>
            <a:ext cx="475488" cy="475488"/>
          </a:xfrm>
          <a:prstGeom prst="roundRect">
            <a:avLst>
              <a:gd name="adj" fmla="val 22000"/>
            </a:avLst>
          </a:prstGeom>
          <a:solidFill>
            <a:srgbClr val="B85042"/>
          </a:solidFill>
          <a:ln/>
          <a:effectLst>
            <a:outerShdw sx="100000" sy="100000" kx="0" ky="0" algn="bl" rotWithShape="0" blurRad="76200" dist="25400" dir="5400000">
              <a:srgbClr val="0B3D2E">
                <a:alpha val="18000"/>
              </a:srgbClr>
            </a:outerShdw>
          </a:effectLst>
        </p:spPr>
      </p:sp>
      <p:pic>
        <p:nvPicPr>
          <p:cNvPr id="9" name="Image 1" descr="preencoded.png">    </p:cNvPr>
          <p:cNvPicPr>
            <a:picLocks noChangeAspect="1"/>
          </p:cNvPicPr>
          <p:nvPr/>
        </p:nvPicPr>
        <p:blipFill>
          <a:blip r:embed="rId2"/>
          <a:stretch>
            <a:fillRect/>
          </a:stretch>
        </p:blipFill>
        <p:spPr>
          <a:xfrm>
            <a:off x="662757" y="2921325"/>
            <a:ext cx="247254" cy="247254"/>
          </a:xfrm>
          <a:prstGeom prst="rect">
            <a:avLst/>
          </a:prstGeom>
        </p:spPr>
      </p:pic>
      <p:sp>
        <p:nvSpPr>
          <p:cNvPr id="10" name="Text 6"/>
          <p:cNvSpPr txBox="1"/>
          <p:nvPr/>
        </p:nvSpPr>
        <p:spPr>
          <a:xfrm>
            <a:off x="1207008" y="2770632"/>
            <a:ext cx="5577840" cy="320040"/>
          </a:xfrm>
          <a:prstGeom prst="rect">
            <a:avLst/>
          </a:prstGeom>
          <a:noFill/>
          <a:ln/>
        </p:spPr>
        <p:txBody>
          <a:bodyPr wrap="square" lIns="0" tIns="0" rIns="0" bIns="0" rtlCol="0" anchor="ctr"/>
          <a:lstStyle/>
          <a:p>
            <a:pPr indent="0" marL="0">
              <a:buNone/>
            </a:pPr>
            <a:r>
              <a:rPr lang="en-US" sz="1600" b="1" dirty="0">
                <a:solidFill>
                  <a:srgbClr val="1A2E24"/>
                </a:solidFill>
                <a:latin typeface="Calibri" pitchFamily="34" charset="0"/>
                <a:ea typeface="Calibri" pitchFamily="34" charset="-122"/>
                <a:cs typeface="Calibri" pitchFamily="34" charset="-120"/>
              </a:rPr>
              <a:t>Every SPA re-implements OAuth</a:t>
            </a:r>
            <a:endParaRPr lang="en-US" sz="1600" dirty="0"/>
          </a:p>
        </p:txBody>
      </p:sp>
      <p:sp>
        <p:nvSpPr>
          <p:cNvPr id="11" name="Text 7"/>
          <p:cNvSpPr txBox="1"/>
          <p:nvPr/>
        </p:nvSpPr>
        <p:spPr>
          <a:xfrm>
            <a:off x="1207008" y="3090672"/>
            <a:ext cx="5577840" cy="777240"/>
          </a:xfrm>
          <a:prstGeom prst="rect">
            <a:avLst/>
          </a:prstGeom>
          <a:noFill/>
          <a:ln/>
        </p:spPr>
        <p:txBody>
          <a:bodyPr wrap="square" lIns="0" tIns="0" rIns="0" bIns="0" rtlCol="0" anchor="ctr"/>
          <a:lstStyle/>
          <a:p>
            <a:pPr indent="0" marL="0">
              <a:buNone/>
            </a:pPr>
            <a:r>
              <a:rPr lang="en-US" sz="1250" dirty="0">
                <a:solidFill>
                  <a:srgbClr val="5C6F66"/>
                </a:solidFill>
                <a:latin typeface="Calibri" pitchFamily="34" charset="0"/>
                <a:ea typeface="Calibri" pitchFamily="34" charset="-122"/>
                <a:cs typeface="Calibri" pitchFamily="34" charset="-120"/>
              </a:rPr>
              <a:t>Refresh timers, retry-on-401, token storage, PKCE - duplicated, subtly differently, in every frontend.</a:t>
            </a:r>
            <a:endParaRPr lang="en-US" sz="1250" dirty="0"/>
          </a:p>
        </p:txBody>
      </p:sp>
      <p:sp>
        <p:nvSpPr>
          <p:cNvPr id="12" name="Shape 8"/>
          <p:cNvSpPr/>
          <p:nvPr/>
        </p:nvSpPr>
        <p:spPr>
          <a:xfrm>
            <a:off x="548640" y="4014216"/>
            <a:ext cx="475488" cy="475488"/>
          </a:xfrm>
          <a:prstGeom prst="roundRect">
            <a:avLst>
              <a:gd name="adj" fmla="val 22000"/>
            </a:avLst>
          </a:prstGeom>
          <a:solidFill>
            <a:srgbClr val="B85042"/>
          </a:solidFill>
          <a:ln/>
          <a:effectLst>
            <a:outerShdw sx="100000" sy="100000" kx="0" ky="0" algn="bl" rotWithShape="0" blurRad="76200" dist="25400" dir="5400000">
              <a:srgbClr val="0B3D2E">
                <a:alpha val="18000"/>
              </a:srgbClr>
            </a:outerShdw>
          </a:effectLst>
        </p:spPr>
      </p:sp>
      <p:pic>
        <p:nvPicPr>
          <p:cNvPr id="13" name="Image 2" descr="preencoded.png">    </p:cNvPr>
          <p:cNvPicPr>
            <a:picLocks noChangeAspect="1"/>
          </p:cNvPicPr>
          <p:nvPr/>
        </p:nvPicPr>
        <p:blipFill>
          <a:blip r:embed="rId3"/>
          <a:stretch>
            <a:fillRect/>
          </a:stretch>
        </p:blipFill>
        <p:spPr>
          <a:xfrm>
            <a:off x="662757" y="4128333"/>
            <a:ext cx="247254" cy="247254"/>
          </a:xfrm>
          <a:prstGeom prst="rect">
            <a:avLst/>
          </a:prstGeom>
        </p:spPr>
      </p:pic>
      <p:sp>
        <p:nvSpPr>
          <p:cNvPr id="14" name="Text 9"/>
          <p:cNvSpPr txBox="1"/>
          <p:nvPr/>
        </p:nvSpPr>
        <p:spPr>
          <a:xfrm>
            <a:off x="1207008" y="3977640"/>
            <a:ext cx="5577840" cy="320040"/>
          </a:xfrm>
          <a:prstGeom prst="rect">
            <a:avLst/>
          </a:prstGeom>
          <a:noFill/>
          <a:ln/>
        </p:spPr>
        <p:txBody>
          <a:bodyPr wrap="square" lIns="0" tIns="0" rIns="0" bIns="0" rtlCol="0" anchor="ctr"/>
          <a:lstStyle/>
          <a:p>
            <a:pPr indent="0" marL="0">
              <a:buNone/>
            </a:pPr>
            <a:r>
              <a:rPr lang="en-US" sz="1600" b="1" dirty="0">
                <a:solidFill>
                  <a:srgbClr val="1A2E24"/>
                </a:solidFill>
                <a:latin typeface="Calibri" pitchFamily="34" charset="0"/>
                <a:ea typeface="Calibri" pitchFamily="34" charset="-122"/>
                <a:cs typeface="Calibri" pitchFamily="34" charset="-120"/>
              </a:rPr>
              <a:t>CORS and SameSite friction</a:t>
            </a:r>
            <a:endParaRPr lang="en-US" sz="1600" dirty="0"/>
          </a:p>
        </p:txBody>
      </p:sp>
      <p:sp>
        <p:nvSpPr>
          <p:cNvPr id="15" name="Text 10"/>
          <p:cNvSpPr txBox="1"/>
          <p:nvPr/>
        </p:nvSpPr>
        <p:spPr>
          <a:xfrm>
            <a:off x="1207008" y="4297680"/>
            <a:ext cx="5577840" cy="777240"/>
          </a:xfrm>
          <a:prstGeom prst="rect">
            <a:avLst/>
          </a:prstGeom>
          <a:noFill/>
          <a:ln/>
        </p:spPr>
        <p:txBody>
          <a:bodyPr wrap="square" lIns="0" tIns="0" rIns="0" bIns="0" rtlCol="0" anchor="ctr"/>
          <a:lstStyle/>
          <a:p>
            <a:pPr indent="0" marL="0">
              <a:buNone/>
            </a:pPr>
            <a:r>
              <a:rPr lang="en-US" sz="1250" dirty="0">
                <a:solidFill>
                  <a:srgbClr val="5C6F66"/>
                </a:solidFill>
                <a:latin typeface="Calibri" pitchFamily="34" charset="0"/>
                <a:ea typeface="Calibri" pitchFamily="34" charset="-122"/>
                <a:cs typeface="Calibri" pitchFamily="34" charset="-120"/>
              </a:rPr>
              <a:t>SPA and APIs on different origins means preflights, CORS config on every service, and cookie rules that fight you.</a:t>
            </a:r>
            <a:endParaRPr lang="en-US" sz="1250" dirty="0"/>
          </a:p>
        </p:txBody>
      </p:sp>
      <p:sp>
        <p:nvSpPr>
          <p:cNvPr id="16" name="Shape 11"/>
          <p:cNvSpPr/>
          <p:nvPr/>
        </p:nvSpPr>
        <p:spPr>
          <a:xfrm>
            <a:off x="548640" y="5221224"/>
            <a:ext cx="475488" cy="475488"/>
          </a:xfrm>
          <a:prstGeom prst="roundRect">
            <a:avLst>
              <a:gd name="adj" fmla="val 22000"/>
            </a:avLst>
          </a:prstGeom>
          <a:solidFill>
            <a:srgbClr val="B85042"/>
          </a:solidFill>
          <a:ln/>
          <a:effectLst>
            <a:outerShdw sx="100000" sy="100000" kx="0" ky="0" algn="bl" rotWithShape="0" blurRad="76200" dist="25400" dir="5400000">
              <a:srgbClr val="0B3D2E">
                <a:alpha val="18000"/>
              </a:srgbClr>
            </a:outerShdw>
          </a:effectLst>
        </p:spPr>
      </p:sp>
      <p:pic>
        <p:nvPicPr>
          <p:cNvPr id="17" name="Image 3" descr="preencoded.png">    </p:cNvPr>
          <p:cNvPicPr>
            <a:picLocks noChangeAspect="1"/>
          </p:cNvPicPr>
          <p:nvPr/>
        </p:nvPicPr>
        <p:blipFill>
          <a:blip r:embed="rId4"/>
          <a:stretch>
            <a:fillRect/>
          </a:stretch>
        </p:blipFill>
        <p:spPr>
          <a:xfrm>
            <a:off x="662757" y="5335341"/>
            <a:ext cx="247254" cy="247254"/>
          </a:xfrm>
          <a:prstGeom prst="rect">
            <a:avLst/>
          </a:prstGeom>
        </p:spPr>
      </p:pic>
      <p:sp>
        <p:nvSpPr>
          <p:cNvPr id="18" name="Text 12"/>
          <p:cNvSpPr txBox="1"/>
          <p:nvPr/>
        </p:nvSpPr>
        <p:spPr>
          <a:xfrm>
            <a:off x="1207008" y="5184648"/>
            <a:ext cx="5577840" cy="320040"/>
          </a:xfrm>
          <a:prstGeom prst="rect">
            <a:avLst/>
          </a:prstGeom>
          <a:noFill/>
          <a:ln/>
        </p:spPr>
        <p:txBody>
          <a:bodyPr wrap="square" lIns="0" tIns="0" rIns="0" bIns="0" rtlCol="0" anchor="ctr"/>
          <a:lstStyle/>
          <a:p>
            <a:pPr indent="0" marL="0">
              <a:buNone/>
            </a:pPr>
            <a:r>
              <a:rPr lang="en-US" sz="1600" b="1" dirty="0">
                <a:solidFill>
                  <a:srgbClr val="1A2E24"/>
                </a:solidFill>
                <a:latin typeface="Calibri" pitchFamily="34" charset="0"/>
                <a:ea typeface="Calibri" pitchFamily="34" charset="-122"/>
                <a:cs typeface="Calibri" pitchFamily="34" charset="-120"/>
              </a:rPr>
              <a:t>Auth logic sprawls</a:t>
            </a:r>
            <a:endParaRPr lang="en-US" sz="1600" dirty="0"/>
          </a:p>
        </p:txBody>
      </p:sp>
      <p:sp>
        <p:nvSpPr>
          <p:cNvPr id="19" name="Text 13"/>
          <p:cNvSpPr txBox="1"/>
          <p:nvPr/>
        </p:nvSpPr>
        <p:spPr>
          <a:xfrm>
            <a:off x="1207008" y="5504688"/>
            <a:ext cx="5577840" cy="777240"/>
          </a:xfrm>
          <a:prstGeom prst="rect">
            <a:avLst/>
          </a:prstGeom>
          <a:noFill/>
          <a:ln/>
        </p:spPr>
        <p:txBody>
          <a:bodyPr wrap="square" lIns="0" tIns="0" rIns="0" bIns="0" rtlCol="0" anchor="ctr"/>
          <a:lstStyle/>
          <a:p>
            <a:pPr indent="0" marL="0">
              <a:buNone/>
            </a:pPr>
            <a:r>
              <a:rPr lang="en-US" sz="1250" dirty="0">
                <a:solidFill>
                  <a:srgbClr val="5C6F66"/>
                </a:solidFill>
                <a:latin typeface="Calibri" pitchFamily="34" charset="0"/>
                <a:ea typeface="Calibri" pitchFamily="34" charset="-122"/>
                <a:cs typeface="Calibri" pitchFamily="34" charset="-120"/>
              </a:rPr>
              <a:t>N clients talking to M APIs means authorization decisions scattered across every hop.</a:t>
            </a:r>
            <a:endParaRPr lang="en-US" sz="1250" dirty="0"/>
          </a:p>
        </p:txBody>
      </p:sp>
      <p:sp>
        <p:nvSpPr>
          <p:cNvPr id="20" name="Shape 14"/>
          <p:cNvSpPr/>
          <p:nvPr/>
        </p:nvSpPr>
        <p:spPr>
          <a:xfrm>
            <a:off x="7315200" y="1691640"/>
            <a:ext cx="4297680" cy="4480560"/>
          </a:xfrm>
          <a:prstGeom prst="roundRect">
            <a:avLst>
              <a:gd name="adj" fmla="val 1915"/>
            </a:avLst>
          </a:prstGeom>
          <a:solidFill>
            <a:srgbClr val="EDF6F1"/>
          </a:solidFill>
          <a:ln w="12700">
            <a:solidFill>
              <a:srgbClr val="CFE3D7"/>
            </a:solidFill>
            <a:prstDash val="solid"/>
          </a:ln>
        </p:spPr>
      </p:sp>
      <p:sp>
        <p:nvSpPr>
          <p:cNvPr id="21" name="Text 15"/>
          <p:cNvSpPr txBox="1"/>
          <p:nvPr/>
        </p:nvSpPr>
        <p:spPr>
          <a:xfrm>
            <a:off x="7635240" y="1965960"/>
            <a:ext cx="3657600" cy="274320"/>
          </a:xfrm>
          <a:prstGeom prst="rect">
            <a:avLst/>
          </a:prstGeom>
          <a:noFill/>
          <a:ln/>
        </p:spPr>
        <p:txBody>
          <a:bodyPr wrap="square" lIns="0" tIns="0" rIns="0" bIns="0" rtlCol="0" anchor="ctr"/>
          <a:lstStyle/>
          <a:p>
            <a:pPr indent="0" marL="0">
              <a:buNone/>
            </a:pPr>
            <a:r>
              <a:rPr lang="en-US" sz="1100" b="1" spc="200" kern="0" dirty="0">
                <a:solidFill>
                  <a:srgbClr val="248257"/>
                </a:solidFill>
                <a:latin typeface="Calibri" pitchFamily="34" charset="0"/>
                <a:ea typeface="Calibri" pitchFamily="34" charset="-122"/>
                <a:cs typeface="Calibri" pitchFamily="34" charset="-120"/>
              </a:rPr>
              <a:t>WHERE THE SECRETS SIT TODAY</a:t>
            </a:r>
            <a:endParaRPr lang="en-US" sz="1100" dirty="0"/>
          </a:p>
        </p:txBody>
      </p:sp>
      <p:sp>
        <p:nvSpPr>
          <p:cNvPr id="22" name="Shape 16"/>
          <p:cNvSpPr/>
          <p:nvPr/>
        </p:nvSpPr>
        <p:spPr>
          <a:xfrm>
            <a:off x="7818120" y="2423160"/>
            <a:ext cx="3291840" cy="1371600"/>
          </a:xfrm>
          <a:prstGeom prst="roundRect">
            <a:avLst>
              <a:gd name="adj" fmla="val 6000"/>
            </a:avLst>
          </a:prstGeom>
          <a:solidFill>
            <a:srgbClr val="FFFFFF"/>
          </a:solidFill>
          <a:ln/>
          <a:effectLst>
            <a:outerShdw sx="100000" sy="100000" kx="0" ky="0" algn="bl" rotWithShape="0" blurRad="76200" dist="25400" dir="5400000">
              <a:srgbClr val="0B3D2E">
                <a:alpha val="18000"/>
              </a:srgbClr>
            </a:outerShdw>
          </a:effectLst>
        </p:spPr>
      </p:sp>
      <p:sp>
        <p:nvSpPr>
          <p:cNvPr id="23" name="Shape 17"/>
          <p:cNvSpPr/>
          <p:nvPr/>
        </p:nvSpPr>
        <p:spPr>
          <a:xfrm>
            <a:off x="8001000" y="2606040"/>
            <a:ext cx="457200" cy="45720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24" name="Image 4" descr="preencoded.png">    </p:cNvPr>
          <p:cNvPicPr>
            <a:picLocks noChangeAspect="1"/>
          </p:cNvPicPr>
          <p:nvPr/>
        </p:nvPicPr>
        <p:blipFill>
          <a:blip r:embed="rId5"/>
          <a:stretch>
            <a:fillRect/>
          </a:stretch>
        </p:blipFill>
        <p:spPr>
          <a:xfrm>
            <a:off x="8110728" y="2715768"/>
            <a:ext cx="237744" cy="237744"/>
          </a:xfrm>
          <a:prstGeom prst="rect">
            <a:avLst/>
          </a:prstGeom>
        </p:spPr>
      </p:pic>
      <p:sp>
        <p:nvSpPr>
          <p:cNvPr id="25" name="Text 18"/>
          <p:cNvSpPr txBox="1"/>
          <p:nvPr/>
        </p:nvSpPr>
        <p:spPr>
          <a:xfrm>
            <a:off x="8595360" y="2651760"/>
            <a:ext cx="2377440" cy="274320"/>
          </a:xfrm>
          <a:prstGeom prst="rect">
            <a:avLst/>
          </a:prstGeom>
          <a:noFill/>
          <a:ln/>
        </p:spPr>
        <p:txBody>
          <a:bodyPr wrap="square" lIns="0" tIns="0" rIns="0" bIns="0" rtlCol="0" anchor="ctr"/>
          <a:lstStyle/>
          <a:p>
            <a:pPr indent="0" marL="0">
              <a:buNone/>
            </a:pPr>
            <a:r>
              <a:rPr lang="en-US" sz="1400" b="1" dirty="0">
                <a:solidFill>
                  <a:srgbClr val="1A2E24"/>
                </a:solidFill>
                <a:latin typeface="Calibri" pitchFamily="34" charset="0"/>
                <a:ea typeface="Calibri" pitchFamily="34" charset="-122"/>
                <a:cs typeface="Calibri" pitchFamily="34" charset="-120"/>
              </a:rPr>
              <a:t>Browser (SPA)</a:t>
            </a:r>
            <a:endParaRPr lang="en-US" sz="1400" dirty="0"/>
          </a:p>
        </p:txBody>
      </p:sp>
      <p:sp>
        <p:nvSpPr>
          <p:cNvPr id="26" name="Shape 19"/>
          <p:cNvSpPr/>
          <p:nvPr/>
        </p:nvSpPr>
        <p:spPr>
          <a:xfrm>
            <a:off x="8001000" y="3200400"/>
            <a:ext cx="2926080" cy="384048"/>
          </a:xfrm>
          <a:prstGeom prst="roundRect">
            <a:avLst>
              <a:gd name="adj" fmla="val 14286"/>
            </a:avLst>
          </a:prstGeom>
          <a:solidFill>
            <a:srgbClr val="F7ECEA"/>
          </a:solidFill>
          <a:ln w="12700">
            <a:solidFill>
              <a:srgbClr val="B85042"/>
            </a:solidFill>
            <a:prstDash val="solid"/>
          </a:ln>
        </p:spPr>
      </p:sp>
      <p:sp>
        <p:nvSpPr>
          <p:cNvPr id="27" name="Text 20"/>
          <p:cNvSpPr txBox="1"/>
          <p:nvPr/>
        </p:nvSpPr>
        <p:spPr>
          <a:xfrm>
            <a:off x="8001000" y="3200400"/>
            <a:ext cx="2926080" cy="384048"/>
          </a:xfrm>
          <a:prstGeom prst="rect">
            <a:avLst/>
          </a:prstGeom>
          <a:noFill/>
          <a:ln/>
        </p:spPr>
        <p:txBody>
          <a:bodyPr wrap="square" lIns="0" tIns="0" rIns="0" bIns="0" rtlCol="0" anchor="ctr"/>
          <a:lstStyle/>
          <a:p>
            <a:pPr algn="ctr" indent="0" marL="0">
              <a:buNone/>
            </a:pPr>
            <a:r>
              <a:rPr lang="en-US" sz="1050" dirty="0">
                <a:solidFill>
                  <a:srgbClr val="B85042"/>
                </a:solidFill>
                <a:latin typeface="Courier New" pitchFamily="34" charset="0"/>
                <a:ea typeface="Courier New" pitchFamily="34" charset="-122"/>
                <a:cs typeface="Courier New" pitchFamily="34" charset="-120"/>
              </a:rPr>
              <a:t>access_token · refresh_token</a:t>
            </a:r>
            <a:endParaRPr lang="en-US" sz="1050" dirty="0"/>
          </a:p>
        </p:txBody>
      </p:sp>
      <p:sp>
        <p:nvSpPr>
          <p:cNvPr id="28" name="Shape 21"/>
          <p:cNvSpPr/>
          <p:nvPr/>
        </p:nvSpPr>
        <p:spPr>
          <a:xfrm>
            <a:off x="9464040" y="3794760"/>
            <a:ext cx="0" cy="502920"/>
          </a:xfrm>
          <a:prstGeom prst="line">
            <a:avLst/>
          </a:prstGeom>
          <a:noFill/>
          <a:ln w="28575">
            <a:solidFill>
              <a:srgbClr val="248257"/>
            </a:solidFill>
            <a:prstDash val="solid"/>
            <a:tailEnd type="triangle"/>
          </a:ln>
        </p:spPr>
      </p:sp>
      <p:sp>
        <p:nvSpPr>
          <p:cNvPr id="29" name="Shape 22"/>
          <p:cNvSpPr/>
          <p:nvPr/>
        </p:nvSpPr>
        <p:spPr>
          <a:xfrm>
            <a:off x="7818120" y="4297680"/>
            <a:ext cx="3291840" cy="914400"/>
          </a:xfrm>
          <a:prstGeom prst="roundRect">
            <a:avLst>
              <a:gd name="adj" fmla="val 9000"/>
            </a:avLst>
          </a:prstGeom>
          <a:solidFill>
            <a:srgbClr val="FFFFFF"/>
          </a:solidFill>
          <a:ln/>
          <a:effectLst>
            <a:outerShdw sx="100000" sy="100000" kx="0" ky="0" algn="bl" rotWithShape="0" blurRad="76200" dist="25400" dir="5400000">
              <a:srgbClr val="0B3D2E">
                <a:alpha val="18000"/>
              </a:srgbClr>
            </a:outerShdw>
          </a:effectLst>
        </p:spPr>
      </p:sp>
      <p:sp>
        <p:nvSpPr>
          <p:cNvPr id="30" name="Shape 23"/>
          <p:cNvSpPr/>
          <p:nvPr/>
        </p:nvSpPr>
        <p:spPr>
          <a:xfrm>
            <a:off x="8001000" y="4526280"/>
            <a:ext cx="457200" cy="45720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31" name="Image 5" descr="preencoded.png">    </p:cNvPr>
          <p:cNvPicPr>
            <a:picLocks noChangeAspect="1"/>
          </p:cNvPicPr>
          <p:nvPr/>
        </p:nvPicPr>
        <p:blipFill>
          <a:blip r:embed="rId6"/>
          <a:stretch>
            <a:fillRect/>
          </a:stretch>
        </p:blipFill>
        <p:spPr>
          <a:xfrm>
            <a:off x="8110728" y="4636008"/>
            <a:ext cx="237744" cy="237744"/>
          </a:xfrm>
          <a:prstGeom prst="rect">
            <a:avLst/>
          </a:prstGeom>
        </p:spPr>
      </p:pic>
      <p:sp>
        <p:nvSpPr>
          <p:cNvPr id="32" name="Text 24"/>
          <p:cNvSpPr txBox="1"/>
          <p:nvPr/>
        </p:nvSpPr>
        <p:spPr>
          <a:xfrm>
            <a:off x="8595360" y="4434840"/>
            <a:ext cx="2377440" cy="274320"/>
          </a:xfrm>
          <a:prstGeom prst="rect">
            <a:avLst/>
          </a:prstGeom>
          <a:noFill/>
          <a:ln/>
        </p:spPr>
        <p:txBody>
          <a:bodyPr wrap="square" lIns="0" tIns="0" rIns="0" bIns="0" rtlCol="0" anchor="ctr"/>
          <a:lstStyle/>
          <a:p>
            <a:pPr indent="0" marL="0">
              <a:buNone/>
            </a:pPr>
            <a:r>
              <a:rPr lang="en-US" sz="1400" b="1" dirty="0">
                <a:solidFill>
                  <a:srgbClr val="1A2E24"/>
                </a:solidFill>
                <a:latin typeface="Calibri" pitchFamily="34" charset="0"/>
                <a:ea typeface="Calibri" pitchFamily="34" charset="-122"/>
                <a:cs typeface="Calibri" pitchFamily="34" charset="-120"/>
              </a:rPr>
              <a:t>APIs × M</a:t>
            </a:r>
            <a:endParaRPr lang="en-US" sz="1400" dirty="0"/>
          </a:p>
        </p:txBody>
      </p:sp>
      <p:sp>
        <p:nvSpPr>
          <p:cNvPr id="33" name="Text 25"/>
          <p:cNvSpPr txBox="1"/>
          <p:nvPr/>
        </p:nvSpPr>
        <p:spPr>
          <a:xfrm>
            <a:off x="8595360" y="4718304"/>
            <a:ext cx="2468880" cy="274320"/>
          </a:xfrm>
          <a:prstGeom prst="rect">
            <a:avLst/>
          </a:prstGeom>
          <a:noFill/>
          <a:ln/>
        </p:spPr>
        <p:txBody>
          <a:bodyPr wrap="square" lIns="0" tIns="0" rIns="0" bIns="0" rtlCol="0" anchor="ctr"/>
          <a:lstStyle/>
          <a:p>
            <a:pPr indent="0" marL="0">
              <a:buNone/>
            </a:pPr>
            <a:r>
              <a:rPr lang="en-US" sz="1100" dirty="0">
                <a:solidFill>
                  <a:srgbClr val="5C6F66"/>
                </a:solidFill>
                <a:latin typeface="Calibri" pitchFamily="34" charset="0"/>
                <a:ea typeface="Calibri" pitchFamily="34" charset="-122"/>
                <a:cs typeface="Calibri" pitchFamily="34" charset="-120"/>
              </a:rPr>
              <a:t>each validating bearer tokens</a:t>
            </a:r>
            <a:endParaRPr lang="en-US" sz="1100" dirty="0"/>
          </a:p>
        </p:txBody>
      </p:sp>
      <p:sp>
        <p:nvSpPr>
          <p:cNvPr id="34" name="Text 26"/>
          <p:cNvSpPr txBox="1"/>
          <p:nvPr/>
        </p:nvSpPr>
        <p:spPr>
          <a:xfrm>
            <a:off x="7635240" y="5486400"/>
            <a:ext cx="3749040" cy="365760"/>
          </a:xfrm>
          <a:prstGeom prst="rect">
            <a:avLst/>
          </a:prstGeom>
          <a:noFill/>
          <a:ln/>
        </p:spPr>
        <p:txBody>
          <a:bodyPr wrap="square" lIns="0" tIns="0" rIns="0" bIns="0" rtlCol="0" anchor="ctr"/>
          <a:lstStyle/>
          <a:p>
            <a:pPr indent="0" marL="0">
              <a:buNone/>
            </a:pPr>
            <a:r>
              <a:rPr lang="en-US" sz="1250" i="1" dirty="0">
                <a:solidFill>
                  <a:srgbClr val="B85042"/>
                </a:solidFill>
                <a:latin typeface="Calibri" pitchFamily="34" charset="0"/>
                <a:ea typeface="Calibri" pitchFamily="34" charset="-122"/>
                <a:cs typeface="Calibri" pitchFamily="34" charset="-120"/>
              </a:rPr>
              <a:t>One XSS bug away from credential theft.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ctr"/>
          <a:lstStyle/>
          <a:p>
            <a:pPr indent="0" marL="0">
              <a:buNone/>
            </a:pPr>
            <a:r>
              <a:rPr lang="en-US" sz="1200" b="1" spc="300" kern="0" dirty="0">
                <a:solidFill>
                  <a:srgbClr val="248257"/>
                </a:solidFill>
                <a:latin typeface="Calibri" pitchFamily="34" charset="0"/>
                <a:ea typeface="Calibri" pitchFamily="34" charset="-122"/>
                <a:cs typeface="Calibri" pitchFamily="34" charset="-120"/>
              </a:rPr>
              <a:t>THE PATTERN</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A2E24"/>
                </a:solidFill>
                <a:latin typeface="Calibri" pitchFamily="34" charset="0"/>
                <a:ea typeface="Calibri" pitchFamily="34" charset="-122"/>
                <a:cs typeface="Calibri" pitchFamily="34" charset="-120"/>
              </a:rPr>
              <a:t>A BFF moves the tokens server-side</a:t>
            </a:r>
            <a:endParaRPr lang="en-US" sz="3000" dirty="0"/>
          </a:p>
        </p:txBody>
      </p:sp>
      <p:sp>
        <p:nvSpPr>
          <p:cNvPr id="4" name="Text 2"/>
          <p:cNvSpPr txBox="1"/>
          <p:nvPr/>
        </p:nvSpPr>
        <p:spPr>
          <a:xfrm>
            <a:off x="548640" y="1417320"/>
            <a:ext cx="11064240" cy="548640"/>
          </a:xfrm>
          <a:prstGeom prst="rect">
            <a:avLst/>
          </a:prstGeom>
          <a:noFill/>
          <a:ln/>
        </p:spPr>
        <p:txBody>
          <a:bodyPr wrap="square" lIns="0" tIns="0" rIns="0" bIns="0" rtlCol="0" anchor="ctr"/>
          <a:lstStyle/>
          <a:p>
            <a:pPr indent="0" marL="0">
              <a:buNone/>
            </a:pPr>
            <a:r>
              <a:rPr lang="en-US" sz="1700" b="1" dirty="0">
                <a:solidFill>
                  <a:srgbClr val="0F6A44"/>
                </a:solidFill>
                <a:latin typeface="Calibri" pitchFamily="34" charset="0"/>
                <a:ea typeface="Calibri" pitchFamily="34" charset="-122"/>
                <a:cs typeface="Calibri" pitchFamily="34" charset="-120"/>
              </a:rPr>
              <a:t>The browser never holds a token. </a:t>
            </a:r>
            <a:pPr indent="0" marL="0">
              <a:buNone/>
            </a:pPr>
            <a:r>
              <a:rPr lang="en-US" sz="1700" dirty="0">
                <a:solidFill>
                  <a:srgbClr val="1A2E24"/>
                </a:solidFill>
                <a:latin typeface="Calibri" pitchFamily="34" charset="0"/>
                <a:ea typeface="Calibri" pitchFamily="34" charset="-122"/>
                <a:cs typeface="Calibri" pitchFamily="34" charset="-120"/>
              </a:rPr>
              <a:t>It holds one httpOnly session cookie; a backend it trusts holds the tokens and speaks OAuth on its behalf.</a:t>
            </a:r>
            <a:endParaRPr lang="en-US" sz="1700" dirty="0"/>
          </a:p>
        </p:txBody>
      </p:sp>
      <p:sp>
        <p:nvSpPr>
          <p:cNvPr id="5" name="Shape 3"/>
          <p:cNvSpPr/>
          <p:nvPr/>
        </p:nvSpPr>
        <p:spPr>
          <a:xfrm>
            <a:off x="822960" y="2331720"/>
            <a:ext cx="2926080" cy="1600200"/>
          </a:xfrm>
          <a:prstGeom prst="roundRect">
            <a:avLst>
              <a:gd name="adj" fmla="val 5143"/>
            </a:avLst>
          </a:prstGeom>
          <a:solidFill>
            <a:srgbClr val="EDF6F1"/>
          </a:solidFill>
          <a:ln w="12700">
            <a:solidFill>
              <a:srgbClr val="CFE3D7"/>
            </a:solidFill>
            <a:prstDash val="solid"/>
          </a:ln>
        </p:spPr>
      </p:sp>
      <p:sp>
        <p:nvSpPr>
          <p:cNvPr id="6" name="Shape 4"/>
          <p:cNvSpPr/>
          <p:nvPr/>
        </p:nvSpPr>
        <p:spPr>
          <a:xfrm>
            <a:off x="1051560" y="2560320"/>
            <a:ext cx="548640" cy="54864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7" name="Image 0" descr="preencoded.png">    </p:cNvPr>
          <p:cNvPicPr>
            <a:picLocks noChangeAspect="1"/>
          </p:cNvPicPr>
          <p:nvPr/>
        </p:nvPicPr>
        <p:blipFill>
          <a:blip r:embed="rId1"/>
          <a:stretch>
            <a:fillRect/>
          </a:stretch>
        </p:blipFill>
        <p:spPr>
          <a:xfrm>
            <a:off x="1183234" y="2691994"/>
            <a:ext cx="285293" cy="285293"/>
          </a:xfrm>
          <a:prstGeom prst="rect">
            <a:avLst/>
          </a:prstGeom>
        </p:spPr>
      </p:pic>
      <p:sp>
        <p:nvSpPr>
          <p:cNvPr id="8" name="Text 5"/>
          <p:cNvSpPr txBox="1"/>
          <p:nvPr/>
        </p:nvSpPr>
        <p:spPr>
          <a:xfrm>
            <a:off x="1783080" y="2624328"/>
            <a:ext cx="1828800" cy="320040"/>
          </a:xfrm>
          <a:prstGeom prst="rect">
            <a:avLst/>
          </a:prstGeom>
          <a:noFill/>
          <a:ln/>
        </p:spPr>
        <p:txBody>
          <a:bodyPr wrap="square" lIns="0" tIns="0" rIns="0" bIns="0" rtlCol="0" anchor="ctr"/>
          <a:lstStyle/>
          <a:p>
            <a:pPr indent="0" marL="0">
              <a:buNone/>
            </a:pPr>
            <a:r>
              <a:rPr lang="en-US" sz="1600" b="1" dirty="0">
                <a:solidFill>
                  <a:srgbClr val="1A2E24"/>
                </a:solidFill>
                <a:latin typeface="Calibri" pitchFamily="34" charset="0"/>
                <a:ea typeface="Calibri" pitchFamily="34" charset="-122"/>
                <a:cs typeface="Calibri" pitchFamily="34" charset="-120"/>
              </a:rPr>
              <a:t>Browser</a:t>
            </a:r>
            <a:endParaRPr lang="en-US" sz="1600" dirty="0"/>
          </a:p>
        </p:txBody>
      </p:sp>
      <p:sp>
        <p:nvSpPr>
          <p:cNvPr id="9" name="Text 6"/>
          <p:cNvSpPr txBox="1"/>
          <p:nvPr/>
        </p:nvSpPr>
        <p:spPr>
          <a:xfrm>
            <a:off x="1051560" y="3246120"/>
            <a:ext cx="2560320" cy="594360"/>
          </a:xfrm>
          <a:prstGeom prst="rect">
            <a:avLst/>
          </a:prstGeom>
          <a:noFill/>
          <a:ln/>
        </p:spPr>
        <p:txBody>
          <a:bodyPr wrap="square" lIns="0" tIns="0" rIns="0" bIns="0" rtlCol="0" anchor="ctr"/>
          <a:lstStyle/>
          <a:p>
            <a:pPr indent="0" marL="0">
              <a:buNone/>
            </a:pPr>
            <a:r>
              <a:rPr lang="en-US" sz="1150" dirty="0">
                <a:solidFill>
                  <a:srgbClr val="5C6F66"/>
                </a:solidFill>
                <a:latin typeface="Calibri" pitchFamily="34" charset="0"/>
                <a:ea typeface="Calibri" pitchFamily="34" charset="-122"/>
                <a:cs typeface="Calibri" pitchFamily="34" charset="-120"/>
              </a:rPr>
              <a:t>React SPA</a:t>
            </a:r>
            <a:endParaRPr lang="en-US" sz="1150" dirty="0"/>
          </a:p>
          <a:p>
            <a:pPr indent="0" marL="0">
              <a:buNone/>
            </a:pPr>
            <a:r>
              <a:rPr lang="en-US" sz="1150" dirty="0">
                <a:solidFill>
                  <a:srgbClr val="5C6F66"/>
                </a:solidFill>
                <a:latin typeface="Calibri" pitchFamily="34" charset="0"/>
                <a:ea typeface="Calibri" pitchFamily="34" charset="-122"/>
                <a:cs typeface="Calibri" pitchFamily="34" charset="-120"/>
              </a:rPr>
              <a:t>knows nothing about OAuth</a:t>
            </a:r>
            <a:endParaRPr lang="en-US" sz="1150" dirty="0"/>
          </a:p>
        </p:txBody>
      </p:sp>
      <p:sp>
        <p:nvSpPr>
          <p:cNvPr id="10" name="Shape 7"/>
          <p:cNvSpPr/>
          <p:nvPr/>
        </p:nvSpPr>
        <p:spPr>
          <a:xfrm>
            <a:off x="4663440" y="2331720"/>
            <a:ext cx="2926080" cy="1600200"/>
          </a:xfrm>
          <a:prstGeom prst="roundRect">
            <a:avLst>
              <a:gd name="adj" fmla="val 5143"/>
            </a:avLst>
          </a:prstGeom>
          <a:solidFill>
            <a:srgbClr val="0F6A44"/>
          </a:solidFill>
          <a:ln/>
        </p:spPr>
      </p:sp>
      <p:sp>
        <p:nvSpPr>
          <p:cNvPr id="11" name="Shape 8"/>
          <p:cNvSpPr/>
          <p:nvPr/>
        </p:nvSpPr>
        <p:spPr>
          <a:xfrm>
            <a:off x="4892040" y="2560320"/>
            <a:ext cx="548640" cy="548640"/>
          </a:xfrm>
          <a:prstGeom prst="roundRect">
            <a:avLst>
              <a:gd name="adj" fmla="val 22000"/>
            </a:avLst>
          </a:prstGeom>
          <a:solidFill>
            <a:srgbClr val="2FA36B"/>
          </a:solidFill>
          <a:ln/>
          <a:effectLst>
            <a:outerShdw sx="100000" sy="100000" kx="0" ky="0" algn="bl" rotWithShape="0" blurRad="76200" dist="25400" dir="5400000">
              <a:srgbClr val="0B3D2E">
                <a:alpha val="18000"/>
              </a:srgbClr>
            </a:outerShdw>
          </a:effectLst>
        </p:spPr>
      </p:sp>
      <p:pic>
        <p:nvPicPr>
          <p:cNvPr id="12" name="Image 1" descr="preencoded.png">    </p:cNvPr>
          <p:cNvPicPr>
            <a:picLocks noChangeAspect="1"/>
          </p:cNvPicPr>
          <p:nvPr/>
        </p:nvPicPr>
        <p:blipFill>
          <a:blip r:embed="rId2"/>
          <a:stretch>
            <a:fillRect/>
          </a:stretch>
        </p:blipFill>
        <p:spPr>
          <a:xfrm>
            <a:off x="5023714" y="2691994"/>
            <a:ext cx="285293" cy="285293"/>
          </a:xfrm>
          <a:prstGeom prst="rect">
            <a:avLst/>
          </a:prstGeom>
        </p:spPr>
      </p:pic>
      <p:sp>
        <p:nvSpPr>
          <p:cNvPr id="13" name="Text 9"/>
          <p:cNvSpPr txBox="1"/>
          <p:nvPr/>
        </p:nvSpPr>
        <p:spPr>
          <a:xfrm>
            <a:off x="5623560" y="2624328"/>
            <a:ext cx="18288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BFF</a:t>
            </a:r>
            <a:endParaRPr lang="en-US" sz="1600" dirty="0"/>
          </a:p>
        </p:txBody>
      </p:sp>
      <p:sp>
        <p:nvSpPr>
          <p:cNvPr id="14" name="Text 10"/>
          <p:cNvSpPr txBox="1"/>
          <p:nvPr/>
        </p:nvSpPr>
        <p:spPr>
          <a:xfrm>
            <a:off x="4892040" y="3246120"/>
            <a:ext cx="2560320" cy="594360"/>
          </a:xfrm>
          <a:prstGeom prst="rect">
            <a:avLst/>
          </a:prstGeom>
          <a:noFill/>
          <a:ln/>
        </p:spPr>
        <p:txBody>
          <a:bodyPr wrap="square" lIns="0" tIns="0" rIns="0" bIns="0" rtlCol="0" anchor="ctr"/>
          <a:lstStyle/>
          <a:p>
            <a:pPr indent="0" marL="0">
              <a:buNone/>
            </a:pPr>
            <a:r>
              <a:rPr lang="en-US" sz="1150" dirty="0">
                <a:solidFill>
                  <a:srgbClr val="CBEAD9"/>
                </a:solidFill>
                <a:latin typeface="Calibri" pitchFamily="34" charset="0"/>
                <a:ea typeface="Calibri" pitchFamily="34" charset="-122"/>
                <a:cs typeface="Calibri" pitchFamily="34" charset="-120"/>
              </a:rPr>
              <a:t>Spring Boot</a:t>
            </a:r>
            <a:endParaRPr lang="en-US" sz="1150" dirty="0"/>
          </a:p>
          <a:p>
            <a:pPr indent="0" marL="0">
              <a:buNone/>
            </a:pPr>
            <a:r>
              <a:rPr lang="en-US" sz="1150" dirty="0">
                <a:solidFill>
                  <a:srgbClr val="CBEAD9"/>
                </a:solidFill>
                <a:latin typeface="Calibri" pitchFamily="34" charset="0"/>
                <a:ea typeface="Calibri" pitchFamily="34" charset="-122"/>
                <a:cs typeface="Calibri" pitchFamily="34" charset="-120"/>
              </a:rPr>
              <a:t>sessions, tokens, roles, CSRF</a:t>
            </a:r>
            <a:endParaRPr lang="en-US" sz="1150" dirty="0"/>
          </a:p>
        </p:txBody>
      </p:sp>
      <p:sp>
        <p:nvSpPr>
          <p:cNvPr id="15" name="Shape 11"/>
          <p:cNvSpPr/>
          <p:nvPr/>
        </p:nvSpPr>
        <p:spPr>
          <a:xfrm>
            <a:off x="8503920" y="2331720"/>
            <a:ext cx="2926080" cy="1600200"/>
          </a:xfrm>
          <a:prstGeom prst="roundRect">
            <a:avLst>
              <a:gd name="adj" fmla="val 5143"/>
            </a:avLst>
          </a:prstGeom>
          <a:solidFill>
            <a:srgbClr val="EDF6F1"/>
          </a:solidFill>
          <a:ln w="12700">
            <a:solidFill>
              <a:srgbClr val="CFE3D7"/>
            </a:solidFill>
            <a:prstDash val="solid"/>
          </a:ln>
        </p:spPr>
      </p:sp>
      <p:sp>
        <p:nvSpPr>
          <p:cNvPr id="16" name="Shape 12"/>
          <p:cNvSpPr/>
          <p:nvPr/>
        </p:nvSpPr>
        <p:spPr>
          <a:xfrm>
            <a:off x="8732520" y="2560320"/>
            <a:ext cx="548640" cy="54864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17" name="Image 2" descr="preencoded.png">    </p:cNvPr>
          <p:cNvPicPr>
            <a:picLocks noChangeAspect="1"/>
          </p:cNvPicPr>
          <p:nvPr/>
        </p:nvPicPr>
        <p:blipFill>
          <a:blip r:embed="rId3"/>
          <a:stretch>
            <a:fillRect/>
          </a:stretch>
        </p:blipFill>
        <p:spPr>
          <a:xfrm>
            <a:off x="8864194" y="2691994"/>
            <a:ext cx="285293" cy="285293"/>
          </a:xfrm>
          <a:prstGeom prst="rect">
            <a:avLst/>
          </a:prstGeom>
        </p:spPr>
      </p:pic>
      <p:sp>
        <p:nvSpPr>
          <p:cNvPr id="18" name="Text 13"/>
          <p:cNvSpPr txBox="1"/>
          <p:nvPr/>
        </p:nvSpPr>
        <p:spPr>
          <a:xfrm>
            <a:off x="9464040" y="2624328"/>
            <a:ext cx="1828800" cy="320040"/>
          </a:xfrm>
          <a:prstGeom prst="rect">
            <a:avLst/>
          </a:prstGeom>
          <a:noFill/>
          <a:ln/>
        </p:spPr>
        <p:txBody>
          <a:bodyPr wrap="square" lIns="0" tIns="0" rIns="0" bIns="0" rtlCol="0" anchor="ctr"/>
          <a:lstStyle/>
          <a:p>
            <a:pPr indent="0" marL="0">
              <a:buNone/>
            </a:pPr>
            <a:r>
              <a:rPr lang="en-US" sz="1600" b="1" dirty="0">
                <a:solidFill>
                  <a:srgbClr val="1A2E24"/>
                </a:solidFill>
                <a:latin typeface="Calibri" pitchFamily="34" charset="0"/>
                <a:ea typeface="Calibri" pitchFamily="34" charset="-122"/>
                <a:cs typeface="Calibri" pitchFamily="34" charset="-120"/>
              </a:rPr>
              <a:t>Keycloak</a:t>
            </a:r>
            <a:endParaRPr lang="en-US" sz="1600" dirty="0"/>
          </a:p>
        </p:txBody>
      </p:sp>
      <p:sp>
        <p:nvSpPr>
          <p:cNvPr id="19" name="Text 14"/>
          <p:cNvSpPr txBox="1"/>
          <p:nvPr/>
        </p:nvSpPr>
        <p:spPr>
          <a:xfrm>
            <a:off x="8732520" y="3246120"/>
            <a:ext cx="2560320" cy="594360"/>
          </a:xfrm>
          <a:prstGeom prst="rect">
            <a:avLst/>
          </a:prstGeom>
          <a:noFill/>
          <a:ln/>
        </p:spPr>
        <p:txBody>
          <a:bodyPr wrap="square" lIns="0" tIns="0" rIns="0" bIns="0" rtlCol="0" anchor="ctr"/>
          <a:lstStyle/>
          <a:p>
            <a:pPr indent="0" marL="0">
              <a:buNone/>
            </a:pPr>
            <a:r>
              <a:rPr lang="en-US" sz="1150" dirty="0">
                <a:solidFill>
                  <a:srgbClr val="5C6F66"/>
                </a:solidFill>
                <a:latin typeface="Calibri" pitchFamily="34" charset="0"/>
                <a:ea typeface="Calibri" pitchFamily="34" charset="-122"/>
                <a:cs typeface="Calibri" pitchFamily="34" charset="-120"/>
              </a:rPr>
              <a:t>OIDC provider</a:t>
            </a:r>
            <a:endParaRPr lang="en-US" sz="1150" dirty="0"/>
          </a:p>
          <a:p>
            <a:pPr indent="0" marL="0">
              <a:buNone/>
            </a:pPr>
            <a:r>
              <a:rPr lang="en-US" sz="1150" dirty="0">
                <a:solidFill>
                  <a:srgbClr val="5C6F66"/>
                </a:solidFill>
                <a:latin typeface="Calibri" pitchFamily="34" charset="0"/>
                <a:ea typeface="Calibri" pitchFamily="34" charset="-122"/>
                <a:cs typeface="Calibri" pitchFamily="34" charset="-120"/>
              </a:rPr>
              <a:t>realm, users, roles</a:t>
            </a:r>
            <a:endParaRPr lang="en-US" sz="1150" dirty="0"/>
          </a:p>
        </p:txBody>
      </p:sp>
      <p:sp>
        <p:nvSpPr>
          <p:cNvPr id="20" name="Shape 15"/>
          <p:cNvSpPr/>
          <p:nvPr/>
        </p:nvSpPr>
        <p:spPr>
          <a:xfrm>
            <a:off x="3794760" y="2834640"/>
            <a:ext cx="822960" cy="0"/>
          </a:xfrm>
          <a:prstGeom prst="line">
            <a:avLst/>
          </a:prstGeom>
          <a:noFill/>
          <a:ln w="28575">
            <a:solidFill>
              <a:srgbClr val="248257"/>
            </a:solidFill>
            <a:prstDash val="solid"/>
            <a:tailEnd type="triangle"/>
          </a:ln>
        </p:spPr>
      </p:sp>
      <p:sp>
        <p:nvSpPr>
          <p:cNvPr id="21" name="Text 16"/>
          <p:cNvSpPr txBox="1"/>
          <p:nvPr/>
        </p:nvSpPr>
        <p:spPr>
          <a:xfrm>
            <a:off x="3520440" y="2898648"/>
            <a:ext cx="1371600" cy="256032"/>
          </a:xfrm>
          <a:prstGeom prst="rect">
            <a:avLst/>
          </a:prstGeom>
          <a:noFill/>
          <a:ln/>
        </p:spPr>
        <p:txBody>
          <a:bodyPr wrap="square" lIns="0" tIns="0" rIns="0" bIns="0" rtlCol="0" anchor="ctr"/>
          <a:lstStyle/>
          <a:p>
            <a:pPr algn="ctr" indent="0" marL="0">
              <a:buNone/>
            </a:pPr>
            <a:r>
              <a:rPr lang="en-US" sz="1050" b="1" dirty="0">
                <a:solidFill>
                  <a:srgbClr val="248257"/>
                </a:solidFill>
                <a:latin typeface="Calibri" pitchFamily="34" charset="0"/>
                <a:ea typeface="Calibri" pitchFamily="34" charset="-122"/>
                <a:cs typeface="Calibri" pitchFamily="34" charset="-120"/>
              </a:rPr>
              <a:t>session cookie</a:t>
            </a:r>
            <a:endParaRPr lang="en-US" sz="1050" dirty="0"/>
          </a:p>
        </p:txBody>
      </p:sp>
      <p:sp>
        <p:nvSpPr>
          <p:cNvPr id="22" name="Shape 17"/>
          <p:cNvSpPr/>
          <p:nvPr/>
        </p:nvSpPr>
        <p:spPr>
          <a:xfrm>
            <a:off x="7635240" y="2834640"/>
            <a:ext cx="822960" cy="0"/>
          </a:xfrm>
          <a:prstGeom prst="line">
            <a:avLst/>
          </a:prstGeom>
          <a:noFill/>
          <a:ln w="28575">
            <a:solidFill>
              <a:srgbClr val="248257"/>
            </a:solidFill>
            <a:prstDash val="solid"/>
            <a:tailEnd type="triangle"/>
          </a:ln>
        </p:spPr>
      </p:sp>
      <p:sp>
        <p:nvSpPr>
          <p:cNvPr id="23" name="Text 18"/>
          <p:cNvSpPr txBox="1"/>
          <p:nvPr/>
        </p:nvSpPr>
        <p:spPr>
          <a:xfrm>
            <a:off x="7360920" y="2898648"/>
            <a:ext cx="1371600" cy="256032"/>
          </a:xfrm>
          <a:prstGeom prst="rect">
            <a:avLst/>
          </a:prstGeom>
          <a:noFill/>
          <a:ln/>
        </p:spPr>
        <p:txBody>
          <a:bodyPr wrap="square" lIns="0" tIns="0" rIns="0" bIns="0" rtlCol="0" anchor="ctr"/>
          <a:lstStyle/>
          <a:p>
            <a:pPr algn="ctr" indent="0" marL="0">
              <a:buNone/>
            </a:pPr>
            <a:r>
              <a:rPr lang="en-US" sz="1050" b="1" dirty="0">
                <a:solidFill>
                  <a:srgbClr val="248257"/>
                </a:solidFill>
                <a:latin typeface="Calibri" pitchFamily="34" charset="0"/>
                <a:ea typeface="Calibri" pitchFamily="34" charset="-122"/>
                <a:cs typeface="Calibri" pitchFamily="34" charset="-120"/>
              </a:rPr>
              <a:t>OAuth tokens</a:t>
            </a:r>
            <a:endParaRPr lang="en-US" sz="1050" dirty="0"/>
          </a:p>
        </p:txBody>
      </p:sp>
      <p:sp>
        <p:nvSpPr>
          <p:cNvPr id="24" name="Shape 19"/>
          <p:cNvSpPr/>
          <p:nvPr/>
        </p:nvSpPr>
        <p:spPr>
          <a:xfrm>
            <a:off x="822960" y="4572000"/>
            <a:ext cx="3383280" cy="1417320"/>
          </a:xfrm>
          <a:prstGeom prst="roundRect">
            <a:avLst>
              <a:gd name="adj" fmla="val 5806"/>
            </a:avLst>
          </a:prstGeom>
          <a:solidFill>
            <a:srgbClr val="FFFFFF"/>
          </a:solidFill>
          <a:ln/>
          <a:effectLst>
            <a:outerShdw sx="100000" sy="100000" kx="0" ky="0" algn="bl" rotWithShape="0" blurRad="76200" dist="25400" dir="5400000">
              <a:srgbClr val="0B3D2E">
                <a:alpha val="18000"/>
              </a:srgbClr>
            </a:outerShdw>
          </a:effectLst>
        </p:spPr>
      </p:sp>
      <p:sp>
        <p:nvSpPr>
          <p:cNvPr id="25" name="Text 20"/>
          <p:cNvSpPr txBox="1"/>
          <p:nvPr/>
        </p:nvSpPr>
        <p:spPr>
          <a:xfrm>
            <a:off x="1097280" y="4709160"/>
            <a:ext cx="914400" cy="822960"/>
          </a:xfrm>
          <a:prstGeom prst="rect">
            <a:avLst/>
          </a:prstGeom>
          <a:noFill/>
          <a:ln/>
        </p:spPr>
        <p:txBody>
          <a:bodyPr wrap="square" lIns="0" tIns="0" rIns="0" bIns="0" rtlCol="0" anchor="ctr"/>
          <a:lstStyle/>
          <a:p>
            <a:pPr indent="0" marL="0">
              <a:buNone/>
            </a:pPr>
            <a:r>
              <a:rPr lang="en-US" sz="5400" b="1" dirty="0">
                <a:solidFill>
                  <a:srgbClr val="2FA36B"/>
                </a:solidFill>
                <a:latin typeface="Calibri" pitchFamily="34" charset="0"/>
                <a:ea typeface="Calibri" pitchFamily="34" charset="-122"/>
                <a:cs typeface="Calibri" pitchFamily="34" charset="-120"/>
              </a:rPr>
              <a:t>0</a:t>
            </a:r>
            <a:endParaRPr lang="en-US" sz="5400" dirty="0"/>
          </a:p>
        </p:txBody>
      </p:sp>
      <p:sp>
        <p:nvSpPr>
          <p:cNvPr id="26" name="Text 21"/>
          <p:cNvSpPr txBox="1"/>
          <p:nvPr/>
        </p:nvSpPr>
        <p:spPr>
          <a:xfrm>
            <a:off x="2057400" y="4846320"/>
            <a:ext cx="2011680" cy="914400"/>
          </a:xfrm>
          <a:prstGeom prst="rect">
            <a:avLst/>
          </a:prstGeom>
          <a:noFill/>
          <a:ln/>
        </p:spPr>
        <p:txBody>
          <a:bodyPr wrap="square" lIns="0" tIns="0" rIns="0" bIns="0" rtlCol="0" anchor="ctr"/>
          <a:lstStyle/>
          <a:p>
            <a:pPr indent="0" marL="0">
              <a:buNone/>
            </a:pPr>
            <a:r>
              <a:rPr lang="en-US" sz="1300" dirty="0">
                <a:solidFill>
                  <a:srgbClr val="1A2E24"/>
                </a:solidFill>
                <a:latin typeface="Calibri" pitchFamily="34" charset="0"/>
                <a:ea typeface="Calibri" pitchFamily="34" charset="-122"/>
                <a:cs typeface="Calibri" pitchFamily="34" charset="-120"/>
              </a:rPr>
              <a:t>tokens in JS-reachable storage</a:t>
            </a:r>
            <a:endParaRPr lang="en-US" sz="1300" dirty="0"/>
          </a:p>
        </p:txBody>
      </p:sp>
      <p:sp>
        <p:nvSpPr>
          <p:cNvPr id="27" name="Shape 22"/>
          <p:cNvSpPr/>
          <p:nvPr/>
        </p:nvSpPr>
        <p:spPr>
          <a:xfrm>
            <a:off x="4663440" y="4572000"/>
            <a:ext cx="3383280" cy="1417320"/>
          </a:xfrm>
          <a:prstGeom prst="roundRect">
            <a:avLst>
              <a:gd name="adj" fmla="val 5806"/>
            </a:avLst>
          </a:prstGeom>
          <a:solidFill>
            <a:srgbClr val="FFFFFF"/>
          </a:solidFill>
          <a:ln/>
          <a:effectLst>
            <a:outerShdw sx="100000" sy="100000" kx="0" ky="0" algn="bl" rotWithShape="0" blurRad="76200" dist="25400" dir="5400000">
              <a:srgbClr val="0B3D2E">
                <a:alpha val="18000"/>
              </a:srgbClr>
            </a:outerShdw>
          </a:effectLst>
        </p:spPr>
      </p:sp>
      <p:sp>
        <p:nvSpPr>
          <p:cNvPr id="28" name="Text 23"/>
          <p:cNvSpPr txBox="1"/>
          <p:nvPr/>
        </p:nvSpPr>
        <p:spPr>
          <a:xfrm>
            <a:off x="4937760" y="4709160"/>
            <a:ext cx="914400" cy="822960"/>
          </a:xfrm>
          <a:prstGeom prst="rect">
            <a:avLst/>
          </a:prstGeom>
          <a:noFill/>
          <a:ln/>
        </p:spPr>
        <p:txBody>
          <a:bodyPr wrap="square" lIns="0" tIns="0" rIns="0" bIns="0" rtlCol="0" anchor="ctr"/>
          <a:lstStyle/>
          <a:p>
            <a:pPr indent="0" marL="0">
              <a:buNone/>
            </a:pPr>
            <a:r>
              <a:rPr lang="en-US" sz="5400" b="1" dirty="0">
                <a:solidFill>
                  <a:srgbClr val="2FA36B"/>
                </a:solidFill>
                <a:latin typeface="Calibri" pitchFamily="34" charset="0"/>
                <a:ea typeface="Calibri" pitchFamily="34" charset="-122"/>
                <a:cs typeface="Calibri" pitchFamily="34" charset="-120"/>
              </a:rPr>
              <a:t>1</a:t>
            </a:r>
            <a:endParaRPr lang="en-US" sz="5400" dirty="0"/>
          </a:p>
        </p:txBody>
      </p:sp>
      <p:sp>
        <p:nvSpPr>
          <p:cNvPr id="29" name="Text 24"/>
          <p:cNvSpPr txBox="1"/>
          <p:nvPr/>
        </p:nvSpPr>
        <p:spPr>
          <a:xfrm>
            <a:off x="5897880" y="4846320"/>
            <a:ext cx="2011680" cy="914400"/>
          </a:xfrm>
          <a:prstGeom prst="rect">
            <a:avLst/>
          </a:prstGeom>
          <a:noFill/>
          <a:ln/>
        </p:spPr>
        <p:txBody>
          <a:bodyPr wrap="square" lIns="0" tIns="0" rIns="0" bIns="0" rtlCol="0" anchor="ctr"/>
          <a:lstStyle/>
          <a:p>
            <a:pPr indent="0" marL="0">
              <a:buNone/>
            </a:pPr>
            <a:r>
              <a:rPr lang="en-US" sz="1300" dirty="0">
                <a:solidFill>
                  <a:srgbClr val="1A2E24"/>
                </a:solidFill>
                <a:latin typeface="Calibri" pitchFamily="34" charset="0"/>
                <a:ea typeface="Calibri" pitchFamily="34" charset="-122"/>
                <a:cs typeface="Calibri" pitchFamily="34" charset="-120"/>
              </a:rPr>
              <a:t>origin - CORS is a dev-mode footnote</a:t>
            </a:r>
            <a:endParaRPr lang="en-US" sz="1300" dirty="0"/>
          </a:p>
        </p:txBody>
      </p:sp>
      <p:sp>
        <p:nvSpPr>
          <p:cNvPr id="30" name="Shape 25"/>
          <p:cNvSpPr/>
          <p:nvPr/>
        </p:nvSpPr>
        <p:spPr>
          <a:xfrm>
            <a:off x="8503920" y="4572000"/>
            <a:ext cx="3383280" cy="1417320"/>
          </a:xfrm>
          <a:prstGeom prst="roundRect">
            <a:avLst>
              <a:gd name="adj" fmla="val 5806"/>
            </a:avLst>
          </a:prstGeom>
          <a:solidFill>
            <a:srgbClr val="FFFFFF"/>
          </a:solidFill>
          <a:ln/>
          <a:effectLst>
            <a:outerShdw sx="100000" sy="100000" kx="0" ky="0" algn="bl" rotWithShape="0" blurRad="76200" dist="25400" dir="5400000">
              <a:srgbClr val="0B3D2E">
                <a:alpha val="18000"/>
              </a:srgbClr>
            </a:outerShdw>
          </a:effectLst>
        </p:spPr>
      </p:sp>
      <p:sp>
        <p:nvSpPr>
          <p:cNvPr id="31" name="Text 26"/>
          <p:cNvSpPr txBox="1"/>
          <p:nvPr/>
        </p:nvSpPr>
        <p:spPr>
          <a:xfrm>
            <a:off x="8778240" y="4709160"/>
            <a:ext cx="914400" cy="822960"/>
          </a:xfrm>
          <a:prstGeom prst="rect">
            <a:avLst/>
          </a:prstGeom>
          <a:noFill/>
          <a:ln/>
        </p:spPr>
        <p:txBody>
          <a:bodyPr wrap="square" lIns="0" tIns="0" rIns="0" bIns="0" rtlCol="0" anchor="ctr"/>
          <a:lstStyle/>
          <a:p>
            <a:pPr indent="0" marL="0">
              <a:buNone/>
            </a:pPr>
            <a:r>
              <a:rPr lang="en-US" sz="5400" b="1" dirty="0">
                <a:solidFill>
                  <a:srgbClr val="2FA36B"/>
                </a:solidFill>
                <a:latin typeface="Calibri" pitchFamily="34" charset="0"/>
                <a:ea typeface="Calibri" pitchFamily="34" charset="-122"/>
                <a:cs typeface="Calibri" pitchFamily="34" charset="-120"/>
              </a:rPr>
              <a:t>1</a:t>
            </a:r>
            <a:endParaRPr lang="en-US" sz="5400" dirty="0"/>
          </a:p>
        </p:txBody>
      </p:sp>
      <p:sp>
        <p:nvSpPr>
          <p:cNvPr id="32" name="Text 27"/>
          <p:cNvSpPr txBox="1"/>
          <p:nvPr/>
        </p:nvSpPr>
        <p:spPr>
          <a:xfrm>
            <a:off x="9738360" y="4846320"/>
            <a:ext cx="2011680" cy="914400"/>
          </a:xfrm>
          <a:prstGeom prst="rect">
            <a:avLst/>
          </a:prstGeom>
          <a:noFill/>
          <a:ln/>
        </p:spPr>
        <p:txBody>
          <a:bodyPr wrap="square" lIns="0" tIns="0" rIns="0" bIns="0" rtlCol="0" anchor="ctr"/>
          <a:lstStyle/>
          <a:p>
            <a:pPr indent="0" marL="0">
              <a:buNone/>
            </a:pPr>
            <a:r>
              <a:rPr lang="en-US" sz="1300" dirty="0">
                <a:solidFill>
                  <a:srgbClr val="1A2E24"/>
                </a:solidFill>
                <a:latin typeface="Calibri" pitchFamily="34" charset="0"/>
                <a:ea typeface="Calibri" pitchFamily="34" charset="-122"/>
                <a:cs typeface="Calibri" pitchFamily="34" charset="-120"/>
              </a:rPr>
              <a:t>place all auth logic lives and gets audited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ctr"/>
          <a:lstStyle/>
          <a:p>
            <a:pPr indent="0" marL="0">
              <a:buNone/>
            </a:pPr>
            <a:r>
              <a:rPr lang="en-US" sz="1200" b="1" spc="300" kern="0" dirty="0">
                <a:solidFill>
                  <a:srgbClr val="248257"/>
                </a:solidFill>
                <a:latin typeface="Calibri" pitchFamily="34" charset="0"/>
                <a:ea typeface="Calibri" pitchFamily="34" charset="-122"/>
                <a:cs typeface="Calibri" pitchFamily="34" charset="-120"/>
              </a:rPr>
              <a:t>THE WHOLE SYSTEM</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A2E24"/>
                </a:solidFill>
                <a:latin typeface="Calibri" pitchFamily="34" charset="0"/>
                <a:ea typeface="Calibri" pitchFamily="34" charset="-122"/>
                <a:cs typeface="Calibri" pitchFamily="34" charset="-120"/>
              </a:rPr>
              <a:t>One externally-routable door</a:t>
            </a:r>
            <a:endParaRPr lang="en-US" sz="3000" dirty="0"/>
          </a:p>
        </p:txBody>
      </p:sp>
      <p:sp>
        <p:nvSpPr>
          <p:cNvPr id="4" name="Shape 2"/>
          <p:cNvSpPr/>
          <p:nvPr/>
        </p:nvSpPr>
        <p:spPr>
          <a:xfrm>
            <a:off x="548640" y="1554480"/>
            <a:ext cx="3017520" cy="1920240"/>
          </a:xfrm>
          <a:prstGeom prst="roundRect">
            <a:avLst>
              <a:gd name="adj" fmla="val 4286"/>
            </a:avLst>
          </a:prstGeom>
          <a:solidFill>
            <a:srgbClr val="EDF6F1"/>
          </a:solidFill>
          <a:ln w="12700">
            <a:solidFill>
              <a:srgbClr val="CFE3D7"/>
            </a:solidFill>
            <a:prstDash val="solid"/>
          </a:ln>
        </p:spPr>
      </p:sp>
      <p:sp>
        <p:nvSpPr>
          <p:cNvPr id="5" name="Shape 3"/>
          <p:cNvSpPr/>
          <p:nvPr/>
        </p:nvSpPr>
        <p:spPr>
          <a:xfrm>
            <a:off x="777240" y="1783080"/>
            <a:ext cx="502920" cy="50292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6" name="Image 0" descr="preencoded.png">    </p:cNvPr>
          <p:cNvPicPr>
            <a:picLocks noChangeAspect="1"/>
          </p:cNvPicPr>
          <p:nvPr/>
        </p:nvPicPr>
        <p:blipFill>
          <a:blip r:embed="rId1"/>
          <a:stretch>
            <a:fillRect/>
          </a:stretch>
        </p:blipFill>
        <p:spPr>
          <a:xfrm>
            <a:off x="897941" y="1903781"/>
            <a:ext cx="261518" cy="261518"/>
          </a:xfrm>
          <a:prstGeom prst="rect">
            <a:avLst/>
          </a:prstGeom>
        </p:spPr>
      </p:pic>
      <p:sp>
        <p:nvSpPr>
          <p:cNvPr id="7" name="Text 4"/>
          <p:cNvSpPr txBox="1"/>
          <p:nvPr/>
        </p:nvSpPr>
        <p:spPr>
          <a:xfrm>
            <a:off x="1463040" y="1828800"/>
            <a:ext cx="2011680" cy="320040"/>
          </a:xfrm>
          <a:prstGeom prst="rect">
            <a:avLst/>
          </a:prstGeom>
          <a:noFill/>
          <a:ln/>
        </p:spPr>
        <p:txBody>
          <a:bodyPr wrap="square" lIns="0" tIns="0" rIns="0" bIns="0" rtlCol="0" anchor="ctr"/>
          <a:lstStyle/>
          <a:p>
            <a:pPr indent="0" marL="0">
              <a:buNone/>
            </a:pPr>
            <a:r>
              <a:rPr lang="en-US" sz="1500" b="1" dirty="0">
                <a:solidFill>
                  <a:srgbClr val="1A2E24"/>
                </a:solidFill>
                <a:latin typeface="Calibri" pitchFamily="34" charset="0"/>
                <a:ea typeface="Calibri" pitchFamily="34" charset="-122"/>
                <a:cs typeface="Calibri" pitchFamily="34" charset="-120"/>
              </a:rPr>
              <a:t>Browser</a:t>
            </a:r>
            <a:endParaRPr lang="en-US" sz="1500" dirty="0"/>
          </a:p>
        </p:txBody>
      </p:sp>
      <p:sp>
        <p:nvSpPr>
          <p:cNvPr id="8" name="Text 5"/>
          <p:cNvSpPr txBox="1"/>
          <p:nvPr/>
        </p:nvSpPr>
        <p:spPr>
          <a:xfrm>
            <a:off x="777240" y="2423160"/>
            <a:ext cx="2651760" cy="822960"/>
          </a:xfrm>
          <a:prstGeom prst="rect">
            <a:avLst/>
          </a:prstGeom>
          <a:noFill/>
          <a:ln/>
        </p:spPr>
        <p:txBody>
          <a:bodyPr wrap="square" lIns="0" tIns="0" rIns="0" bIns="0" rtlCol="0" anchor="ctr"/>
          <a:lstStyle/>
          <a:p>
            <a:pPr indent="0" marL="0">
              <a:buNone/>
            </a:pPr>
            <a:r>
              <a:rPr lang="en-US" sz="1150" dirty="0">
                <a:solidFill>
                  <a:srgbClr val="5C6F66"/>
                </a:solidFill>
                <a:latin typeface="Calibri" pitchFamily="34" charset="0"/>
                <a:ea typeface="Calibri" pitchFamily="34" charset="-122"/>
                <a:cs typeface="Calibri" pitchFamily="34" charset="-120"/>
              </a:rPr>
              <a:t>React SPA, session cookie,</a:t>
            </a:r>
            <a:endParaRPr lang="en-US" sz="1150" dirty="0"/>
          </a:p>
          <a:p>
            <a:pPr indent="0" marL="0">
              <a:buNone/>
            </a:pPr>
            <a:r>
              <a:rPr lang="en-US" sz="1150" dirty="0">
                <a:solidFill>
                  <a:srgbClr val="5C6F66"/>
                </a:solidFill>
                <a:latin typeface="Calibri" pitchFamily="34" charset="0"/>
                <a:ea typeface="Calibri" pitchFamily="34" charset="-122"/>
                <a:cs typeface="Calibri" pitchFamily="34" charset="-120"/>
              </a:rPr>
              <a:t>axios with CSRF interceptor</a:t>
            </a:r>
            <a:endParaRPr lang="en-US" sz="1150" dirty="0"/>
          </a:p>
        </p:txBody>
      </p:sp>
      <p:sp>
        <p:nvSpPr>
          <p:cNvPr id="9" name="Shape 6"/>
          <p:cNvSpPr/>
          <p:nvPr/>
        </p:nvSpPr>
        <p:spPr>
          <a:xfrm>
            <a:off x="4206240" y="1417320"/>
            <a:ext cx="7452360" cy="5029200"/>
          </a:xfrm>
          <a:prstGeom prst="roundRect">
            <a:avLst>
              <a:gd name="adj" fmla="val 2182"/>
            </a:avLst>
          </a:prstGeom>
          <a:ln w="19050">
            <a:solidFill>
              <a:srgbClr val="248257"/>
            </a:solidFill>
            <a:prstDash val="dash"/>
          </a:ln>
        </p:spPr>
      </p:sp>
      <p:sp>
        <p:nvSpPr>
          <p:cNvPr id="10" name="Text 7"/>
          <p:cNvSpPr txBox="1"/>
          <p:nvPr/>
        </p:nvSpPr>
        <p:spPr>
          <a:xfrm>
            <a:off x="4434840" y="1554480"/>
            <a:ext cx="3657600" cy="274320"/>
          </a:xfrm>
          <a:prstGeom prst="rect">
            <a:avLst/>
          </a:prstGeom>
          <a:noFill/>
          <a:ln/>
        </p:spPr>
        <p:txBody>
          <a:bodyPr wrap="square" lIns="0" tIns="0" rIns="0" bIns="0" rtlCol="0" anchor="ctr"/>
          <a:lstStyle/>
          <a:p>
            <a:pPr indent="0" marL="0">
              <a:buNone/>
            </a:pPr>
            <a:r>
              <a:rPr lang="en-US" sz="1050" b="1" spc="200" kern="0" dirty="0">
                <a:solidFill>
                  <a:srgbClr val="248257"/>
                </a:solidFill>
                <a:latin typeface="Calibri" pitchFamily="34" charset="0"/>
                <a:ea typeface="Calibri" pitchFamily="34" charset="-122"/>
                <a:cs typeface="Calibri" pitchFamily="34" charset="-120"/>
              </a:rPr>
              <a:t>CLUSTER / INTERNAL NETWORK</a:t>
            </a:r>
            <a:endParaRPr lang="en-US" sz="1050" dirty="0"/>
          </a:p>
        </p:txBody>
      </p:sp>
      <p:sp>
        <p:nvSpPr>
          <p:cNvPr id="11" name="Shape 8"/>
          <p:cNvSpPr/>
          <p:nvPr/>
        </p:nvSpPr>
        <p:spPr>
          <a:xfrm>
            <a:off x="4526280" y="1965960"/>
            <a:ext cx="3017520" cy="1737360"/>
          </a:xfrm>
          <a:prstGeom prst="roundRect">
            <a:avLst>
              <a:gd name="adj" fmla="val 4737"/>
            </a:avLst>
          </a:prstGeom>
          <a:solidFill>
            <a:srgbClr val="0F6A44"/>
          </a:solidFill>
          <a:ln/>
        </p:spPr>
      </p:sp>
      <p:sp>
        <p:nvSpPr>
          <p:cNvPr id="12" name="Shape 9"/>
          <p:cNvSpPr/>
          <p:nvPr/>
        </p:nvSpPr>
        <p:spPr>
          <a:xfrm>
            <a:off x="4754880" y="2194560"/>
            <a:ext cx="502920" cy="502920"/>
          </a:xfrm>
          <a:prstGeom prst="roundRect">
            <a:avLst>
              <a:gd name="adj" fmla="val 22000"/>
            </a:avLst>
          </a:prstGeom>
          <a:solidFill>
            <a:srgbClr val="2FA36B"/>
          </a:solidFill>
          <a:ln/>
          <a:effectLst>
            <a:outerShdw sx="100000" sy="100000" kx="0" ky="0" algn="bl" rotWithShape="0" blurRad="76200" dist="25400" dir="5400000">
              <a:srgbClr val="0B3D2E">
                <a:alpha val="18000"/>
              </a:srgbClr>
            </a:outerShdw>
          </a:effectLst>
        </p:spPr>
      </p:sp>
      <p:pic>
        <p:nvPicPr>
          <p:cNvPr id="13" name="Image 1" descr="preencoded.png">    </p:cNvPr>
          <p:cNvPicPr>
            <a:picLocks noChangeAspect="1"/>
          </p:cNvPicPr>
          <p:nvPr/>
        </p:nvPicPr>
        <p:blipFill>
          <a:blip r:embed="rId2"/>
          <a:stretch>
            <a:fillRect/>
          </a:stretch>
        </p:blipFill>
        <p:spPr>
          <a:xfrm>
            <a:off x="4875581" y="2315261"/>
            <a:ext cx="261518" cy="261518"/>
          </a:xfrm>
          <a:prstGeom prst="rect">
            <a:avLst/>
          </a:prstGeom>
        </p:spPr>
      </p:pic>
      <p:sp>
        <p:nvSpPr>
          <p:cNvPr id="14" name="Text 10"/>
          <p:cNvSpPr txBox="1"/>
          <p:nvPr/>
        </p:nvSpPr>
        <p:spPr>
          <a:xfrm>
            <a:off x="5440680" y="2240280"/>
            <a:ext cx="21031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Frontend tier</a:t>
            </a:r>
            <a:endParaRPr lang="en-US" sz="1500" dirty="0"/>
          </a:p>
        </p:txBody>
      </p:sp>
      <p:sp>
        <p:nvSpPr>
          <p:cNvPr id="15" name="Text 11"/>
          <p:cNvSpPr txBox="1"/>
          <p:nvPr/>
        </p:nvSpPr>
        <p:spPr>
          <a:xfrm>
            <a:off x="4754880" y="2788920"/>
            <a:ext cx="2651760" cy="868680"/>
          </a:xfrm>
          <a:prstGeom prst="rect">
            <a:avLst/>
          </a:prstGeom>
          <a:noFill/>
          <a:ln/>
        </p:spPr>
        <p:txBody>
          <a:bodyPr wrap="square" lIns="0" tIns="0" rIns="0" bIns="0" rtlCol="0" anchor="ctr"/>
          <a:lstStyle/>
          <a:p>
            <a:pPr indent="0" marL="0">
              <a:buNone/>
            </a:pPr>
            <a:r>
              <a:rPr lang="en-US" sz="1100" dirty="0">
                <a:solidFill>
                  <a:srgbClr val="CBEAD9"/>
                </a:solidFill>
                <a:latin typeface="Calibri" pitchFamily="34" charset="0"/>
                <a:ea typeface="Calibri" pitchFamily="34" charset="-122"/>
                <a:cs typeface="Calibri" pitchFamily="34" charset="-120"/>
              </a:rPr>
              <a:t>nginx (prod) / Vite (dev)</a:t>
            </a:r>
            <a:endParaRPr lang="en-US" sz="1100" dirty="0"/>
          </a:p>
          <a:p>
            <a:pPr indent="0" marL="0">
              <a:buNone/>
            </a:pPr>
            <a:r>
              <a:rPr lang="en-US" sz="1100" dirty="0">
                <a:solidFill>
                  <a:srgbClr val="CBEAD9"/>
                </a:solidFill>
                <a:latin typeface="Calibri" pitchFamily="34" charset="0"/>
                <a:ea typeface="Calibri" pitchFamily="34" charset="-122"/>
                <a:cs typeface="Calibri" pitchFamily="34" charset="-120"/>
              </a:rPr>
              <a:t>serves the SPA, proxies</a:t>
            </a:r>
            <a:endParaRPr lang="en-US" sz="1100" dirty="0"/>
          </a:p>
          <a:p>
            <a:pPr indent="0" marL="0">
              <a:buNone/>
            </a:pPr>
            <a:r>
              <a:rPr lang="en-US" sz="1100" dirty="0">
                <a:solidFill>
                  <a:srgbClr val="CBEAD9"/>
                </a:solidFill>
                <a:latin typeface="Calibri" pitchFamily="34" charset="0"/>
                <a:ea typeface="Calibri" pitchFamily="34" charset="-122"/>
                <a:cs typeface="Calibri" pitchFamily="34" charset="-120"/>
              </a:rPr>
              <a:t>/api and /swagger to the BFF</a:t>
            </a:r>
            <a:endParaRPr lang="en-US" sz="1100" dirty="0"/>
          </a:p>
        </p:txBody>
      </p:sp>
      <p:sp>
        <p:nvSpPr>
          <p:cNvPr id="16" name="Shape 12"/>
          <p:cNvSpPr/>
          <p:nvPr/>
        </p:nvSpPr>
        <p:spPr>
          <a:xfrm>
            <a:off x="8275320" y="1965960"/>
            <a:ext cx="3017520" cy="1737360"/>
          </a:xfrm>
          <a:prstGeom prst="roundRect">
            <a:avLst>
              <a:gd name="adj" fmla="val 4737"/>
            </a:avLst>
          </a:prstGeom>
          <a:solidFill>
            <a:srgbClr val="0F6A44"/>
          </a:solidFill>
          <a:ln/>
        </p:spPr>
      </p:sp>
      <p:sp>
        <p:nvSpPr>
          <p:cNvPr id="17" name="Shape 13"/>
          <p:cNvSpPr/>
          <p:nvPr/>
        </p:nvSpPr>
        <p:spPr>
          <a:xfrm>
            <a:off x="8503920" y="2194560"/>
            <a:ext cx="502920" cy="502920"/>
          </a:xfrm>
          <a:prstGeom prst="roundRect">
            <a:avLst>
              <a:gd name="adj" fmla="val 22000"/>
            </a:avLst>
          </a:prstGeom>
          <a:solidFill>
            <a:srgbClr val="2FA36B"/>
          </a:solidFill>
          <a:ln/>
          <a:effectLst>
            <a:outerShdw sx="100000" sy="100000" kx="0" ky="0" algn="bl" rotWithShape="0" blurRad="76200" dist="25400" dir="5400000">
              <a:srgbClr val="0B3D2E">
                <a:alpha val="18000"/>
              </a:srgbClr>
            </a:outerShdw>
          </a:effectLst>
        </p:spPr>
      </p:sp>
      <p:pic>
        <p:nvPicPr>
          <p:cNvPr id="18" name="Image 2" descr="preencoded.png">    </p:cNvPr>
          <p:cNvPicPr>
            <a:picLocks noChangeAspect="1"/>
          </p:cNvPicPr>
          <p:nvPr/>
        </p:nvPicPr>
        <p:blipFill>
          <a:blip r:embed="rId3"/>
          <a:stretch>
            <a:fillRect/>
          </a:stretch>
        </p:blipFill>
        <p:spPr>
          <a:xfrm>
            <a:off x="8624621" y="2315261"/>
            <a:ext cx="261518" cy="261518"/>
          </a:xfrm>
          <a:prstGeom prst="rect">
            <a:avLst/>
          </a:prstGeom>
        </p:spPr>
      </p:pic>
      <p:sp>
        <p:nvSpPr>
          <p:cNvPr id="19" name="Text 14"/>
          <p:cNvSpPr txBox="1"/>
          <p:nvPr/>
        </p:nvSpPr>
        <p:spPr>
          <a:xfrm>
            <a:off x="9189720" y="2240280"/>
            <a:ext cx="21031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Spring Boot BFF</a:t>
            </a:r>
            <a:endParaRPr lang="en-US" sz="1500" dirty="0"/>
          </a:p>
        </p:txBody>
      </p:sp>
      <p:sp>
        <p:nvSpPr>
          <p:cNvPr id="20" name="Text 15"/>
          <p:cNvSpPr txBox="1"/>
          <p:nvPr/>
        </p:nvSpPr>
        <p:spPr>
          <a:xfrm>
            <a:off x="8503920" y="2788920"/>
            <a:ext cx="2651760" cy="868680"/>
          </a:xfrm>
          <a:prstGeom prst="rect">
            <a:avLst/>
          </a:prstGeom>
          <a:noFill/>
          <a:ln/>
        </p:spPr>
        <p:txBody>
          <a:bodyPr wrap="square" lIns="0" tIns="0" rIns="0" bIns="0" rtlCol="0" anchor="ctr"/>
          <a:lstStyle/>
          <a:p>
            <a:pPr indent="0" marL="0">
              <a:buNone/>
            </a:pPr>
            <a:r>
              <a:rPr lang="en-US" sz="1100" dirty="0">
                <a:solidFill>
                  <a:srgbClr val="CBEAD9"/>
                </a:solidFill>
                <a:latin typeface="Calibri" pitchFamily="34" charset="0"/>
                <a:ea typeface="Calibri" pitchFamily="34" charset="-122"/>
                <a:cs typeface="Calibri" pitchFamily="34" charset="-120"/>
              </a:rPr>
              <a:t>OAuth2 client + sessions,</a:t>
            </a:r>
            <a:endParaRPr lang="en-US" sz="1100" dirty="0"/>
          </a:p>
          <a:p>
            <a:pPr indent="0" marL="0">
              <a:buNone/>
            </a:pPr>
            <a:r>
              <a:rPr lang="en-US" sz="1100" dirty="0">
                <a:solidFill>
                  <a:srgbClr val="CBEAD9"/>
                </a:solidFill>
                <a:latin typeface="Calibri" pitchFamily="34" charset="0"/>
                <a:ea typeface="Calibri" pitchFamily="34" charset="-122"/>
                <a:cs typeface="Calibri" pitchFamily="34" charset="-120"/>
              </a:rPr>
              <a:t>role checks, CSRF, REST API,</a:t>
            </a:r>
            <a:endParaRPr lang="en-US" sz="1100" dirty="0"/>
          </a:p>
          <a:p>
            <a:pPr indent="0" marL="0">
              <a:buNone/>
            </a:pPr>
            <a:r>
              <a:rPr lang="en-US" sz="1100" dirty="0">
                <a:solidFill>
                  <a:srgbClr val="CBEAD9"/>
                </a:solidFill>
                <a:latin typeface="Calibri" pitchFamily="34" charset="0"/>
                <a:ea typeface="Calibri" pitchFamily="34" charset="-122"/>
                <a:cs typeface="Calibri" pitchFamily="34" charset="-120"/>
              </a:rPr>
              <a:t>reports, mail</a:t>
            </a:r>
            <a:endParaRPr lang="en-US" sz="1100" dirty="0"/>
          </a:p>
        </p:txBody>
      </p:sp>
      <p:sp>
        <p:nvSpPr>
          <p:cNvPr id="21" name="Shape 16"/>
          <p:cNvSpPr/>
          <p:nvPr/>
        </p:nvSpPr>
        <p:spPr>
          <a:xfrm>
            <a:off x="4526280" y="4206240"/>
            <a:ext cx="3017520" cy="1737360"/>
          </a:xfrm>
          <a:prstGeom prst="roundRect">
            <a:avLst>
              <a:gd name="adj" fmla="val 4737"/>
            </a:avLst>
          </a:prstGeom>
          <a:solidFill>
            <a:srgbClr val="EDF6F1"/>
          </a:solidFill>
          <a:ln w="12700">
            <a:solidFill>
              <a:srgbClr val="CFE3D7"/>
            </a:solidFill>
            <a:prstDash val="solid"/>
          </a:ln>
        </p:spPr>
      </p:sp>
      <p:sp>
        <p:nvSpPr>
          <p:cNvPr id="22" name="Shape 17"/>
          <p:cNvSpPr/>
          <p:nvPr/>
        </p:nvSpPr>
        <p:spPr>
          <a:xfrm>
            <a:off x="4754880" y="4434840"/>
            <a:ext cx="502920" cy="50292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23" name="Image 3" descr="preencoded.png">    </p:cNvPr>
          <p:cNvPicPr>
            <a:picLocks noChangeAspect="1"/>
          </p:cNvPicPr>
          <p:nvPr/>
        </p:nvPicPr>
        <p:blipFill>
          <a:blip r:embed="rId4"/>
          <a:stretch>
            <a:fillRect/>
          </a:stretch>
        </p:blipFill>
        <p:spPr>
          <a:xfrm>
            <a:off x="4875581" y="4555541"/>
            <a:ext cx="261518" cy="261518"/>
          </a:xfrm>
          <a:prstGeom prst="rect">
            <a:avLst/>
          </a:prstGeom>
        </p:spPr>
      </p:pic>
      <p:sp>
        <p:nvSpPr>
          <p:cNvPr id="24" name="Text 18"/>
          <p:cNvSpPr txBox="1"/>
          <p:nvPr/>
        </p:nvSpPr>
        <p:spPr>
          <a:xfrm>
            <a:off x="5440680" y="4480560"/>
            <a:ext cx="2103120" cy="320040"/>
          </a:xfrm>
          <a:prstGeom prst="rect">
            <a:avLst/>
          </a:prstGeom>
          <a:noFill/>
          <a:ln/>
        </p:spPr>
        <p:txBody>
          <a:bodyPr wrap="square" lIns="0" tIns="0" rIns="0" bIns="0" rtlCol="0" anchor="ctr"/>
          <a:lstStyle/>
          <a:p>
            <a:pPr indent="0" marL="0">
              <a:buNone/>
            </a:pPr>
            <a:r>
              <a:rPr lang="en-US" sz="1500" b="1" dirty="0">
                <a:solidFill>
                  <a:srgbClr val="1A2E24"/>
                </a:solidFill>
                <a:latin typeface="Calibri" pitchFamily="34" charset="0"/>
                <a:ea typeface="Calibri" pitchFamily="34" charset="-122"/>
                <a:cs typeface="Calibri" pitchFamily="34" charset="-120"/>
              </a:rPr>
              <a:t>Keycloak</a:t>
            </a:r>
            <a:endParaRPr lang="en-US" sz="1500" dirty="0"/>
          </a:p>
        </p:txBody>
      </p:sp>
      <p:sp>
        <p:nvSpPr>
          <p:cNvPr id="25" name="Text 19"/>
          <p:cNvSpPr txBox="1"/>
          <p:nvPr/>
        </p:nvSpPr>
        <p:spPr>
          <a:xfrm>
            <a:off x="4754880" y="5029200"/>
            <a:ext cx="2651760" cy="868680"/>
          </a:xfrm>
          <a:prstGeom prst="rect">
            <a:avLst/>
          </a:prstGeom>
          <a:noFill/>
          <a:ln/>
        </p:spPr>
        <p:txBody>
          <a:bodyPr wrap="square" lIns="0" tIns="0" rIns="0" bIns="0" rtlCol="0" anchor="ctr"/>
          <a:lstStyle/>
          <a:p>
            <a:pPr indent="0" marL="0">
              <a:buNone/>
            </a:pPr>
            <a:r>
              <a:rPr lang="en-US" sz="1100" dirty="0">
                <a:solidFill>
                  <a:srgbClr val="5C6F66"/>
                </a:solidFill>
                <a:latin typeface="Calibri" pitchFamily="34" charset="0"/>
                <a:ea typeface="Calibri" pitchFamily="34" charset="-122"/>
                <a:cs typeface="Calibri" pitchFamily="34" charset="-120"/>
              </a:rPr>
              <a:t>OIDC provider - login pages,</a:t>
            </a:r>
            <a:endParaRPr lang="en-US" sz="1100" dirty="0"/>
          </a:p>
          <a:p>
            <a:pPr indent="0" marL="0">
              <a:buNone/>
            </a:pPr>
            <a:r>
              <a:rPr lang="en-US" sz="1100" dirty="0">
                <a:solidFill>
                  <a:srgbClr val="5C6F66"/>
                </a:solidFill>
                <a:latin typeface="Calibri" pitchFamily="34" charset="0"/>
                <a:ea typeface="Calibri" pitchFamily="34" charset="-122"/>
                <a:cs typeface="Calibri" pitchFamily="34" charset="-120"/>
              </a:rPr>
              <a:t>users, roles, backchannel</a:t>
            </a:r>
            <a:endParaRPr lang="en-US" sz="1100" dirty="0"/>
          </a:p>
          <a:p>
            <a:pPr indent="0" marL="0">
              <a:buNone/>
            </a:pPr>
            <a:r>
              <a:rPr lang="en-US" sz="1100" dirty="0">
                <a:solidFill>
                  <a:srgbClr val="5C6F66"/>
                </a:solidFill>
                <a:latin typeface="Calibri" pitchFamily="34" charset="0"/>
                <a:ea typeface="Calibri" pitchFamily="34" charset="-122"/>
                <a:cs typeface="Calibri" pitchFamily="34" charset="-120"/>
              </a:rPr>
              <a:t>logout, introspection</a:t>
            </a:r>
            <a:endParaRPr lang="en-US" sz="1100" dirty="0"/>
          </a:p>
        </p:txBody>
      </p:sp>
      <p:sp>
        <p:nvSpPr>
          <p:cNvPr id="26" name="Shape 20"/>
          <p:cNvSpPr/>
          <p:nvPr/>
        </p:nvSpPr>
        <p:spPr>
          <a:xfrm>
            <a:off x="8275320" y="4206240"/>
            <a:ext cx="3017520" cy="1737360"/>
          </a:xfrm>
          <a:prstGeom prst="roundRect">
            <a:avLst>
              <a:gd name="adj" fmla="val 4737"/>
            </a:avLst>
          </a:prstGeom>
          <a:solidFill>
            <a:srgbClr val="EDF6F1"/>
          </a:solidFill>
          <a:ln w="12700">
            <a:solidFill>
              <a:srgbClr val="CFE3D7"/>
            </a:solidFill>
            <a:prstDash val="solid"/>
          </a:ln>
        </p:spPr>
      </p:sp>
      <p:sp>
        <p:nvSpPr>
          <p:cNvPr id="27" name="Shape 21"/>
          <p:cNvSpPr/>
          <p:nvPr/>
        </p:nvSpPr>
        <p:spPr>
          <a:xfrm>
            <a:off x="8503920" y="4434840"/>
            <a:ext cx="502920" cy="50292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28" name="Image 4" descr="preencoded.png">    </p:cNvPr>
          <p:cNvPicPr>
            <a:picLocks noChangeAspect="1"/>
          </p:cNvPicPr>
          <p:nvPr/>
        </p:nvPicPr>
        <p:blipFill>
          <a:blip r:embed="rId5"/>
          <a:stretch>
            <a:fillRect/>
          </a:stretch>
        </p:blipFill>
        <p:spPr>
          <a:xfrm>
            <a:off x="8624621" y="4555541"/>
            <a:ext cx="261518" cy="261518"/>
          </a:xfrm>
          <a:prstGeom prst="rect">
            <a:avLst/>
          </a:prstGeom>
        </p:spPr>
      </p:pic>
      <p:sp>
        <p:nvSpPr>
          <p:cNvPr id="29" name="Text 22"/>
          <p:cNvSpPr txBox="1"/>
          <p:nvPr/>
        </p:nvSpPr>
        <p:spPr>
          <a:xfrm>
            <a:off x="9189720" y="4480560"/>
            <a:ext cx="2103120" cy="320040"/>
          </a:xfrm>
          <a:prstGeom prst="rect">
            <a:avLst/>
          </a:prstGeom>
          <a:noFill/>
          <a:ln/>
        </p:spPr>
        <p:txBody>
          <a:bodyPr wrap="square" lIns="0" tIns="0" rIns="0" bIns="0" rtlCol="0" anchor="ctr"/>
          <a:lstStyle/>
          <a:p>
            <a:pPr indent="0" marL="0">
              <a:buNone/>
            </a:pPr>
            <a:r>
              <a:rPr lang="en-US" sz="1500" b="1" dirty="0">
                <a:solidFill>
                  <a:srgbClr val="1A2E24"/>
                </a:solidFill>
                <a:latin typeface="Calibri" pitchFamily="34" charset="0"/>
                <a:ea typeface="Calibri" pitchFamily="34" charset="-122"/>
                <a:cs typeface="Calibri" pitchFamily="34" charset="-120"/>
              </a:rPr>
              <a:t>App database</a:t>
            </a:r>
            <a:endParaRPr lang="en-US" sz="1500" dirty="0"/>
          </a:p>
        </p:txBody>
      </p:sp>
      <p:sp>
        <p:nvSpPr>
          <p:cNvPr id="30" name="Text 23"/>
          <p:cNvSpPr txBox="1"/>
          <p:nvPr/>
        </p:nvSpPr>
        <p:spPr>
          <a:xfrm>
            <a:off x="8503920" y="5029200"/>
            <a:ext cx="2651760" cy="868680"/>
          </a:xfrm>
          <a:prstGeom prst="rect">
            <a:avLst/>
          </a:prstGeom>
          <a:noFill/>
          <a:ln/>
        </p:spPr>
        <p:txBody>
          <a:bodyPr wrap="square" lIns="0" tIns="0" rIns="0" bIns="0" rtlCol="0" anchor="ctr"/>
          <a:lstStyle/>
          <a:p>
            <a:pPr indent="0" marL="0">
              <a:buNone/>
            </a:pPr>
            <a:r>
              <a:rPr lang="en-US" sz="1100" dirty="0">
                <a:solidFill>
                  <a:srgbClr val="5C6F66"/>
                </a:solidFill>
                <a:latin typeface="Calibri" pitchFamily="34" charset="0"/>
                <a:ea typeface="Calibri" pitchFamily="34" charset="-122"/>
                <a:cs typeface="Calibri" pitchFamily="34" charset="-120"/>
              </a:rPr>
              <a:t>H2 (dev) / Oracle-mode SQL,</a:t>
            </a:r>
            <a:endParaRPr lang="en-US" sz="1100" dirty="0"/>
          </a:p>
          <a:p>
            <a:pPr indent="0" marL="0">
              <a:buNone/>
            </a:pPr>
            <a:r>
              <a:rPr lang="en-US" sz="1100" dirty="0">
                <a:solidFill>
                  <a:srgbClr val="5C6F66"/>
                </a:solidFill>
                <a:latin typeface="Calibri" pitchFamily="34" charset="0"/>
                <a:ea typeface="Calibri" pitchFamily="34" charset="-122"/>
                <a:cs typeface="Calibri" pitchFamily="34" charset="-120"/>
              </a:rPr>
              <a:t>Flyway migrations - facilities,</a:t>
            </a:r>
            <a:endParaRPr lang="en-US" sz="1100" dirty="0"/>
          </a:p>
          <a:p>
            <a:pPr indent="0" marL="0">
              <a:buNone/>
            </a:pPr>
            <a:r>
              <a:rPr lang="en-US" sz="1100" dirty="0">
                <a:solidFill>
                  <a:srgbClr val="5C6F66"/>
                </a:solidFill>
                <a:latin typeface="Calibri" pitchFamily="34" charset="0"/>
                <a:ea typeface="Calibri" pitchFamily="34" charset="-122"/>
                <a:cs typeface="Calibri" pitchFamily="34" charset="-120"/>
              </a:rPr>
              <a:t>permits, inspections</a:t>
            </a:r>
            <a:endParaRPr lang="en-US" sz="1100" dirty="0"/>
          </a:p>
        </p:txBody>
      </p:sp>
      <p:sp>
        <p:nvSpPr>
          <p:cNvPr id="31" name="Shape 24"/>
          <p:cNvSpPr/>
          <p:nvPr/>
        </p:nvSpPr>
        <p:spPr>
          <a:xfrm>
            <a:off x="3566160" y="2834640"/>
            <a:ext cx="960120" cy="0"/>
          </a:xfrm>
          <a:prstGeom prst="line">
            <a:avLst/>
          </a:prstGeom>
          <a:noFill/>
          <a:ln w="28575">
            <a:solidFill>
              <a:srgbClr val="248257"/>
            </a:solidFill>
            <a:prstDash val="solid"/>
            <a:tailEnd type="triangle"/>
          </a:ln>
        </p:spPr>
      </p:sp>
      <p:sp>
        <p:nvSpPr>
          <p:cNvPr id="32" name="Shape 25"/>
          <p:cNvSpPr/>
          <p:nvPr/>
        </p:nvSpPr>
        <p:spPr>
          <a:xfrm>
            <a:off x="7543800" y="2834640"/>
            <a:ext cx="731520" cy="0"/>
          </a:xfrm>
          <a:prstGeom prst="line">
            <a:avLst/>
          </a:prstGeom>
          <a:noFill/>
          <a:ln w="28575">
            <a:solidFill>
              <a:srgbClr val="248257"/>
            </a:solidFill>
            <a:prstDash val="solid"/>
            <a:tailEnd type="triangle"/>
          </a:ln>
        </p:spPr>
      </p:sp>
      <p:sp>
        <p:nvSpPr>
          <p:cNvPr id="33" name="Shape 26"/>
          <p:cNvSpPr/>
          <p:nvPr/>
        </p:nvSpPr>
        <p:spPr>
          <a:xfrm>
            <a:off x="9784080" y="3703320"/>
            <a:ext cx="0" cy="502920"/>
          </a:xfrm>
          <a:prstGeom prst="line">
            <a:avLst/>
          </a:prstGeom>
          <a:noFill/>
          <a:ln w="28575">
            <a:solidFill>
              <a:srgbClr val="248257"/>
            </a:solidFill>
            <a:prstDash val="solid"/>
            <a:tailEnd type="triangle"/>
          </a:ln>
        </p:spPr>
      </p:sp>
      <p:sp>
        <p:nvSpPr>
          <p:cNvPr id="34" name="Shape 27"/>
          <p:cNvSpPr/>
          <p:nvPr/>
        </p:nvSpPr>
        <p:spPr>
          <a:xfrm>
            <a:off x="8275320" y="3291840"/>
            <a:ext cx="-1371600" cy="1463040"/>
          </a:xfrm>
          <a:prstGeom prst="line">
            <a:avLst/>
          </a:prstGeom>
          <a:noFill/>
          <a:ln w="28575">
            <a:solidFill>
              <a:srgbClr val="248257"/>
            </a:solidFill>
            <a:prstDash val="solid"/>
            <a:tailEnd type="triangle"/>
          </a:ln>
        </p:spPr>
      </p:sp>
      <p:sp>
        <p:nvSpPr>
          <p:cNvPr id="35" name="Text 28"/>
          <p:cNvSpPr txBox="1"/>
          <p:nvPr/>
        </p:nvSpPr>
        <p:spPr>
          <a:xfrm>
            <a:off x="548640" y="4206240"/>
            <a:ext cx="3200400" cy="1737360"/>
          </a:xfrm>
          <a:prstGeom prst="rect">
            <a:avLst/>
          </a:prstGeom>
          <a:noFill/>
          <a:ln/>
        </p:spPr>
        <p:txBody>
          <a:bodyPr wrap="square" lIns="0" tIns="0" rIns="0" bIns="0" rtlCol="0" anchor="ctr"/>
          <a:lstStyle/>
          <a:p>
            <a:pPr indent="0" marL="0">
              <a:buNone/>
            </a:pPr>
            <a:r>
              <a:rPr lang="en-US" sz="1250" b="1" dirty="0">
                <a:solidFill>
                  <a:srgbClr val="0F6A44"/>
                </a:solidFill>
                <a:latin typeface="Calibri" pitchFamily="34" charset="0"/>
                <a:ea typeface="Calibri" pitchFamily="34" charset="-122"/>
                <a:cs typeface="Calibri" pitchFamily="34" charset="-120"/>
              </a:rPr>
              <a:t>Only the frontend tier answers from outside. </a:t>
            </a:r>
            <a:pPr indent="0" marL="0">
              <a:buNone/>
            </a:pPr>
            <a:r>
              <a:rPr lang="en-US" sz="1250" dirty="0">
                <a:solidFill>
                  <a:srgbClr val="5C6F66"/>
                </a:solidFill>
                <a:latin typeface="Calibri" pitchFamily="34" charset="0"/>
                <a:ea typeface="Calibri" pitchFamily="34" charset="-122"/>
                <a:cs typeface="Calibri" pitchFamily="34" charset="-120"/>
              </a:rPr>
              <a:t>The BFF and Keycloak are reachable solely through its proxy - nothing else is routable.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ctr"/>
          <a:lstStyle/>
          <a:p>
            <a:pPr indent="0" marL="0">
              <a:buNone/>
            </a:pPr>
            <a:r>
              <a:rPr lang="en-US" sz="1200" b="1" spc="300" kern="0" dirty="0">
                <a:solidFill>
                  <a:srgbClr val="248257"/>
                </a:solidFill>
                <a:latin typeface="Calibri" pitchFamily="34" charset="0"/>
                <a:ea typeface="Calibri" pitchFamily="34" charset="-122"/>
                <a:cs typeface="Calibri" pitchFamily="34" charset="-120"/>
              </a:rPr>
              <a:t>SIGNING IN</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A2E24"/>
                </a:solidFill>
                <a:latin typeface="Calibri" pitchFamily="34" charset="0"/>
                <a:ea typeface="Calibri" pitchFamily="34" charset="-122"/>
                <a:cs typeface="Calibri" pitchFamily="34" charset="-120"/>
              </a:rPr>
              <a:t>The authorization-code dance, start to finish</a:t>
            </a:r>
            <a:endParaRPr lang="en-US" sz="3000" dirty="0"/>
          </a:p>
        </p:txBody>
      </p:sp>
      <p:sp>
        <p:nvSpPr>
          <p:cNvPr id="4" name="Shape 2"/>
          <p:cNvSpPr/>
          <p:nvPr/>
        </p:nvSpPr>
        <p:spPr>
          <a:xfrm>
            <a:off x="548640" y="1600200"/>
            <a:ext cx="3611880" cy="2011680"/>
          </a:xfrm>
          <a:prstGeom prst="roundRect">
            <a:avLst>
              <a:gd name="adj" fmla="val 4091"/>
            </a:avLst>
          </a:prstGeom>
          <a:solidFill>
            <a:srgbClr val="EDF6F1"/>
          </a:solidFill>
          <a:ln w="12700">
            <a:solidFill>
              <a:srgbClr val="CFE3D7"/>
            </a:solidFill>
            <a:prstDash val="solid"/>
          </a:ln>
        </p:spPr>
      </p:sp>
      <p:sp>
        <p:nvSpPr>
          <p:cNvPr id="5" name="Shape 3"/>
          <p:cNvSpPr/>
          <p:nvPr/>
        </p:nvSpPr>
        <p:spPr>
          <a:xfrm>
            <a:off x="777240" y="1828800"/>
            <a:ext cx="457200" cy="457200"/>
          </a:xfrm>
          <a:prstGeom prst="roundRect">
            <a:avLst>
              <a:gd name="adj" fmla="val 22000"/>
            </a:avLst>
          </a:prstGeom>
          <a:solidFill>
            <a:srgbClr val="0F6A44"/>
          </a:solidFill>
          <a:ln/>
        </p:spPr>
      </p:sp>
      <p:sp>
        <p:nvSpPr>
          <p:cNvPr id="6" name="Text 4"/>
          <p:cNvSpPr txBox="1"/>
          <p:nvPr/>
        </p:nvSpPr>
        <p:spPr>
          <a:xfrm>
            <a:off x="777240" y="18105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417320" y="1874520"/>
            <a:ext cx="2606040" cy="365760"/>
          </a:xfrm>
          <a:prstGeom prst="rect">
            <a:avLst/>
          </a:prstGeom>
          <a:noFill/>
          <a:ln/>
        </p:spPr>
        <p:txBody>
          <a:bodyPr wrap="square" lIns="0" tIns="0" rIns="0" bIns="0" rtlCol="0" anchor="ctr"/>
          <a:lstStyle/>
          <a:p>
            <a:pPr indent="0" marL="0">
              <a:buNone/>
            </a:pPr>
            <a:r>
              <a:rPr lang="en-US" sz="1500" b="1" dirty="0">
                <a:solidFill>
                  <a:srgbClr val="1A2E24"/>
                </a:solidFill>
                <a:latin typeface="Calibri" pitchFamily="34" charset="0"/>
                <a:ea typeface="Calibri" pitchFamily="34" charset="-122"/>
                <a:cs typeface="Calibri" pitchFamily="34" charset="-120"/>
              </a:rPr>
              <a:t>Sign in clicked</a:t>
            </a:r>
            <a:endParaRPr lang="en-US" sz="1500" dirty="0"/>
          </a:p>
        </p:txBody>
      </p:sp>
      <p:sp>
        <p:nvSpPr>
          <p:cNvPr id="8" name="Text 6"/>
          <p:cNvSpPr txBox="1"/>
          <p:nvPr/>
        </p:nvSpPr>
        <p:spPr>
          <a:xfrm>
            <a:off x="777240" y="2468880"/>
            <a:ext cx="3154680" cy="1005840"/>
          </a:xfrm>
          <a:prstGeom prst="rect">
            <a:avLst/>
          </a:prstGeom>
          <a:noFill/>
          <a:ln/>
        </p:spPr>
        <p:txBody>
          <a:bodyPr wrap="square" lIns="0" tIns="0" rIns="0" bIns="0" rtlCol="0" anchor="ctr"/>
          <a:lstStyle/>
          <a:p>
            <a:pPr indent="0" marL="0">
              <a:buNone/>
            </a:pPr>
            <a:r>
              <a:rPr lang="en-US" sz="1200" dirty="0">
                <a:solidFill>
                  <a:srgbClr val="5C6F66"/>
                </a:solidFill>
                <a:latin typeface="Calibri" pitchFamily="34" charset="0"/>
                <a:ea typeface="Calibri" pitchFamily="34" charset="-122"/>
                <a:cs typeface="Calibri" pitchFamily="34" charset="-120"/>
              </a:rPr>
              <a:t>SPA sends the browser to the BFF’s /oauth2/authorization endpoint - no popup, no SDK.</a:t>
            </a:r>
            <a:endParaRPr lang="en-US" sz="1200" dirty="0"/>
          </a:p>
        </p:txBody>
      </p:sp>
      <p:sp>
        <p:nvSpPr>
          <p:cNvPr id="9" name="Shape 7"/>
          <p:cNvSpPr/>
          <p:nvPr/>
        </p:nvSpPr>
        <p:spPr>
          <a:xfrm>
            <a:off x="4434840" y="1600200"/>
            <a:ext cx="3611880" cy="2011680"/>
          </a:xfrm>
          <a:prstGeom prst="roundRect">
            <a:avLst>
              <a:gd name="adj" fmla="val 4091"/>
            </a:avLst>
          </a:prstGeom>
          <a:solidFill>
            <a:srgbClr val="EDF6F1"/>
          </a:solidFill>
          <a:ln w="12700">
            <a:solidFill>
              <a:srgbClr val="CFE3D7"/>
            </a:solidFill>
            <a:prstDash val="solid"/>
          </a:ln>
        </p:spPr>
      </p:sp>
      <p:sp>
        <p:nvSpPr>
          <p:cNvPr id="10" name="Shape 8"/>
          <p:cNvSpPr/>
          <p:nvPr/>
        </p:nvSpPr>
        <p:spPr>
          <a:xfrm>
            <a:off x="4663440" y="1828800"/>
            <a:ext cx="457200" cy="457200"/>
          </a:xfrm>
          <a:prstGeom prst="roundRect">
            <a:avLst>
              <a:gd name="adj" fmla="val 22000"/>
            </a:avLst>
          </a:prstGeom>
          <a:solidFill>
            <a:srgbClr val="0F6A44"/>
          </a:solidFill>
          <a:ln/>
        </p:spPr>
      </p:sp>
      <p:sp>
        <p:nvSpPr>
          <p:cNvPr id="11" name="Text 9"/>
          <p:cNvSpPr txBox="1"/>
          <p:nvPr/>
        </p:nvSpPr>
        <p:spPr>
          <a:xfrm>
            <a:off x="4663440" y="18105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5303520" y="1874520"/>
            <a:ext cx="2606040" cy="365760"/>
          </a:xfrm>
          <a:prstGeom prst="rect">
            <a:avLst/>
          </a:prstGeom>
          <a:noFill/>
          <a:ln/>
        </p:spPr>
        <p:txBody>
          <a:bodyPr wrap="square" lIns="0" tIns="0" rIns="0" bIns="0" rtlCol="0" anchor="ctr"/>
          <a:lstStyle/>
          <a:p>
            <a:pPr indent="0" marL="0">
              <a:buNone/>
            </a:pPr>
            <a:r>
              <a:rPr lang="en-US" sz="1500" b="1" dirty="0">
                <a:solidFill>
                  <a:srgbClr val="1A2E24"/>
                </a:solidFill>
                <a:latin typeface="Calibri" pitchFamily="34" charset="0"/>
                <a:ea typeface="Calibri" pitchFamily="34" charset="-122"/>
                <a:cs typeface="Calibri" pitchFamily="34" charset="-120"/>
              </a:rPr>
              <a:t>Redirect to Keycloak</a:t>
            </a:r>
            <a:endParaRPr lang="en-US" sz="1500" dirty="0"/>
          </a:p>
        </p:txBody>
      </p:sp>
      <p:sp>
        <p:nvSpPr>
          <p:cNvPr id="13" name="Text 11"/>
          <p:cNvSpPr txBox="1"/>
          <p:nvPr/>
        </p:nvSpPr>
        <p:spPr>
          <a:xfrm>
            <a:off x="4663440" y="2468880"/>
            <a:ext cx="3154680" cy="1005840"/>
          </a:xfrm>
          <a:prstGeom prst="rect">
            <a:avLst/>
          </a:prstGeom>
          <a:noFill/>
          <a:ln/>
        </p:spPr>
        <p:txBody>
          <a:bodyPr wrap="square" lIns="0" tIns="0" rIns="0" bIns="0" rtlCol="0" anchor="ctr"/>
          <a:lstStyle/>
          <a:p>
            <a:pPr indent="0" marL="0">
              <a:buNone/>
            </a:pPr>
            <a:r>
              <a:rPr lang="en-US" sz="1200" dirty="0">
                <a:solidFill>
                  <a:srgbClr val="5C6F66"/>
                </a:solidFill>
                <a:latin typeface="Calibri" pitchFamily="34" charset="0"/>
                <a:ea typeface="Calibri" pitchFamily="34" charset="-122"/>
                <a:cs typeface="Calibri" pitchFamily="34" charset="-120"/>
              </a:rPr>
              <a:t>BFF issues a 302 to the realm’s login page with client id, scopes, and a state value.</a:t>
            </a:r>
            <a:endParaRPr lang="en-US" sz="1200" dirty="0"/>
          </a:p>
        </p:txBody>
      </p:sp>
      <p:sp>
        <p:nvSpPr>
          <p:cNvPr id="14" name="Shape 12"/>
          <p:cNvSpPr/>
          <p:nvPr/>
        </p:nvSpPr>
        <p:spPr>
          <a:xfrm>
            <a:off x="8321040" y="1600200"/>
            <a:ext cx="3611880" cy="2011680"/>
          </a:xfrm>
          <a:prstGeom prst="roundRect">
            <a:avLst>
              <a:gd name="adj" fmla="val 4091"/>
            </a:avLst>
          </a:prstGeom>
          <a:solidFill>
            <a:srgbClr val="EDF6F1"/>
          </a:solidFill>
          <a:ln w="12700">
            <a:solidFill>
              <a:srgbClr val="CFE3D7"/>
            </a:solidFill>
            <a:prstDash val="solid"/>
          </a:ln>
        </p:spPr>
      </p:sp>
      <p:sp>
        <p:nvSpPr>
          <p:cNvPr id="15" name="Shape 13"/>
          <p:cNvSpPr/>
          <p:nvPr/>
        </p:nvSpPr>
        <p:spPr>
          <a:xfrm>
            <a:off x="8549640" y="1828800"/>
            <a:ext cx="457200" cy="457200"/>
          </a:xfrm>
          <a:prstGeom prst="roundRect">
            <a:avLst>
              <a:gd name="adj" fmla="val 22000"/>
            </a:avLst>
          </a:prstGeom>
          <a:solidFill>
            <a:srgbClr val="0F6A44"/>
          </a:solidFill>
          <a:ln/>
        </p:spPr>
      </p:sp>
      <p:sp>
        <p:nvSpPr>
          <p:cNvPr id="16" name="Text 14"/>
          <p:cNvSpPr txBox="1"/>
          <p:nvPr/>
        </p:nvSpPr>
        <p:spPr>
          <a:xfrm>
            <a:off x="8549640" y="18105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9189720" y="1874520"/>
            <a:ext cx="2606040" cy="365760"/>
          </a:xfrm>
          <a:prstGeom prst="rect">
            <a:avLst/>
          </a:prstGeom>
          <a:noFill/>
          <a:ln/>
        </p:spPr>
        <p:txBody>
          <a:bodyPr wrap="square" lIns="0" tIns="0" rIns="0" bIns="0" rtlCol="0" anchor="ctr"/>
          <a:lstStyle/>
          <a:p>
            <a:pPr indent="0" marL="0">
              <a:buNone/>
            </a:pPr>
            <a:r>
              <a:rPr lang="en-US" sz="1500" b="1" dirty="0">
                <a:solidFill>
                  <a:srgbClr val="1A2E24"/>
                </a:solidFill>
                <a:latin typeface="Calibri" pitchFamily="34" charset="0"/>
                <a:ea typeface="Calibri" pitchFamily="34" charset="-122"/>
                <a:cs typeface="Calibri" pitchFamily="34" charset="-120"/>
              </a:rPr>
              <a:t>User authenticates</a:t>
            </a:r>
            <a:endParaRPr lang="en-US" sz="1500" dirty="0"/>
          </a:p>
        </p:txBody>
      </p:sp>
      <p:sp>
        <p:nvSpPr>
          <p:cNvPr id="18" name="Text 16"/>
          <p:cNvSpPr txBox="1"/>
          <p:nvPr/>
        </p:nvSpPr>
        <p:spPr>
          <a:xfrm>
            <a:off x="8549640" y="2468880"/>
            <a:ext cx="3154680" cy="1005840"/>
          </a:xfrm>
          <a:prstGeom prst="rect">
            <a:avLst/>
          </a:prstGeom>
          <a:noFill/>
          <a:ln/>
        </p:spPr>
        <p:txBody>
          <a:bodyPr wrap="square" lIns="0" tIns="0" rIns="0" bIns="0" rtlCol="0" anchor="ctr"/>
          <a:lstStyle/>
          <a:p>
            <a:pPr indent="0" marL="0">
              <a:buNone/>
            </a:pPr>
            <a:r>
              <a:rPr lang="en-US" sz="1200" dirty="0">
                <a:solidFill>
                  <a:srgbClr val="5C6F66"/>
                </a:solidFill>
                <a:latin typeface="Calibri" pitchFamily="34" charset="0"/>
                <a:ea typeface="Calibri" pitchFamily="34" charset="-122"/>
                <a:cs typeface="Calibri" pitchFamily="34" charset="-120"/>
              </a:rPr>
              <a:t>Credentials go to Keycloak only. The BFF and SPA never see a password.</a:t>
            </a:r>
            <a:endParaRPr lang="en-US" sz="1200" dirty="0"/>
          </a:p>
        </p:txBody>
      </p:sp>
      <p:sp>
        <p:nvSpPr>
          <p:cNvPr id="19" name="Shape 17"/>
          <p:cNvSpPr/>
          <p:nvPr/>
        </p:nvSpPr>
        <p:spPr>
          <a:xfrm>
            <a:off x="548640" y="3886200"/>
            <a:ext cx="3611880" cy="2011680"/>
          </a:xfrm>
          <a:prstGeom prst="roundRect">
            <a:avLst>
              <a:gd name="adj" fmla="val 4091"/>
            </a:avLst>
          </a:prstGeom>
          <a:solidFill>
            <a:srgbClr val="EDF6F1"/>
          </a:solidFill>
          <a:ln w="12700">
            <a:solidFill>
              <a:srgbClr val="CFE3D7"/>
            </a:solidFill>
            <a:prstDash val="solid"/>
          </a:ln>
        </p:spPr>
      </p:sp>
      <p:sp>
        <p:nvSpPr>
          <p:cNvPr id="20" name="Shape 18"/>
          <p:cNvSpPr/>
          <p:nvPr/>
        </p:nvSpPr>
        <p:spPr>
          <a:xfrm>
            <a:off x="777240" y="4114800"/>
            <a:ext cx="457200" cy="457200"/>
          </a:xfrm>
          <a:prstGeom prst="roundRect">
            <a:avLst>
              <a:gd name="adj" fmla="val 22000"/>
            </a:avLst>
          </a:prstGeom>
          <a:solidFill>
            <a:srgbClr val="0F6A44"/>
          </a:solidFill>
          <a:ln/>
        </p:spPr>
      </p:sp>
      <p:sp>
        <p:nvSpPr>
          <p:cNvPr id="21" name="Text 19"/>
          <p:cNvSpPr txBox="1"/>
          <p:nvPr/>
        </p:nvSpPr>
        <p:spPr>
          <a:xfrm>
            <a:off x="777240" y="40965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1417320" y="4160520"/>
            <a:ext cx="2606040" cy="365760"/>
          </a:xfrm>
          <a:prstGeom prst="rect">
            <a:avLst/>
          </a:prstGeom>
          <a:noFill/>
          <a:ln/>
        </p:spPr>
        <p:txBody>
          <a:bodyPr wrap="square" lIns="0" tIns="0" rIns="0" bIns="0" rtlCol="0" anchor="ctr"/>
          <a:lstStyle/>
          <a:p>
            <a:pPr indent="0" marL="0">
              <a:buNone/>
            </a:pPr>
            <a:r>
              <a:rPr lang="en-US" sz="1500" b="1" dirty="0">
                <a:solidFill>
                  <a:srgbClr val="1A2E24"/>
                </a:solidFill>
                <a:latin typeface="Calibri" pitchFamily="34" charset="0"/>
                <a:ea typeface="Calibri" pitchFamily="34" charset="-122"/>
                <a:cs typeface="Calibri" pitchFamily="34" charset="-120"/>
              </a:rPr>
              <a:t>Code comes back</a:t>
            </a:r>
            <a:endParaRPr lang="en-US" sz="1500" dirty="0"/>
          </a:p>
        </p:txBody>
      </p:sp>
      <p:sp>
        <p:nvSpPr>
          <p:cNvPr id="23" name="Text 21"/>
          <p:cNvSpPr txBox="1"/>
          <p:nvPr/>
        </p:nvSpPr>
        <p:spPr>
          <a:xfrm>
            <a:off x="777240" y="4754880"/>
            <a:ext cx="3154680" cy="1005840"/>
          </a:xfrm>
          <a:prstGeom prst="rect">
            <a:avLst/>
          </a:prstGeom>
          <a:noFill/>
          <a:ln/>
        </p:spPr>
        <p:txBody>
          <a:bodyPr wrap="square" lIns="0" tIns="0" rIns="0" bIns="0" rtlCol="0" anchor="ctr"/>
          <a:lstStyle/>
          <a:p>
            <a:pPr indent="0" marL="0">
              <a:buNone/>
            </a:pPr>
            <a:r>
              <a:rPr lang="en-US" sz="1200" dirty="0">
                <a:solidFill>
                  <a:srgbClr val="5C6F66"/>
                </a:solidFill>
                <a:latin typeface="Calibri" pitchFamily="34" charset="0"/>
                <a:ea typeface="Calibri" pitchFamily="34" charset="-122"/>
                <a:cs typeface="Calibri" pitchFamily="34" charset="-120"/>
              </a:rPr>
              <a:t>Keycloak redirects to the BFF’s callback with a one-time authorization code.</a:t>
            </a:r>
            <a:endParaRPr lang="en-US" sz="1200" dirty="0"/>
          </a:p>
        </p:txBody>
      </p:sp>
      <p:sp>
        <p:nvSpPr>
          <p:cNvPr id="24" name="Shape 22"/>
          <p:cNvSpPr/>
          <p:nvPr/>
        </p:nvSpPr>
        <p:spPr>
          <a:xfrm>
            <a:off x="4434840" y="3886200"/>
            <a:ext cx="3611880" cy="2011680"/>
          </a:xfrm>
          <a:prstGeom prst="roundRect">
            <a:avLst>
              <a:gd name="adj" fmla="val 4091"/>
            </a:avLst>
          </a:prstGeom>
          <a:solidFill>
            <a:srgbClr val="EDF6F1"/>
          </a:solidFill>
          <a:ln w="12700">
            <a:solidFill>
              <a:srgbClr val="CFE3D7"/>
            </a:solidFill>
            <a:prstDash val="solid"/>
          </a:ln>
        </p:spPr>
      </p:sp>
      <p:sp>
        <p:nvSpPr>
          <p:cNvPr id="25" name="Shape 23"/>
          <p:cNvSpPr/>
          <p:nvPr/>
        </p:nvSpPr>
        <p:spPr>
          <a:xfrm>
            <a:off x="4663440" y="4114800"/>
            <a:ext cx="457200" cy="457200"/>
          </a:xfrm>
          <a:prstGeom prst="roundRect">
            <a:avLst>
              <a:gd name="adj" fmla="val 22000"/>
            </a:avLst>
          </a:prstGeom>
          <a:solidFill>
            <a:srgbClr val="0F6A44"/>
          </a:solidFill>
          <a:ln/>
        </p:spPr>
      </p:sp>
      <p:sp>
        <p:nvSpPr>
          <p:cNvPr id="26" name="Text 24"/>
          <p:cNvSpPr txBox="1"/>
          <p:nvPr/>
        </p:nvSpPr>
        <p:spPr>
          <a:xfrm>
            <a:off x="4663440" y="40965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txBox="1"/>
          <p:nvPr/>
        </p:nvSpPr>
        <p:spPr>
          <a:xfrm>
            <a:off x="5303520" y="4160520"/>
            <a:ext cx="2606040" cy="365760"/>
          </a:xfrm>
          <a:prstGeom prst="rect">
            <a:avLst/>
          </a:prstGeom>
          <a:noFill/>
          <a:ln/>
        </p:spPr>
        <p:txBody>
          <a:bodyPr wrap="square" lIns="0" tIns="0" rIns="0" bIns="0" rtlCol="0" anchor="ctr"/>
          <a:lstStyle/>
          <a:p>
            <a:pPr indent="0" marL="0">
              <a:buNone/>
            </a:pPr>
            <a:r>
              <a:rPr lang="en-US" sz="1500" b="1" dirty="0">
                <a:solidFill>
                  <a:srgbClr val="1A2E24"/>
                </a:solidFill>
                <a:latin typeface="Calibri" pitchFamily="34" charset="0"/>
                <a:ea typeface="Calibri" pitchFamily="34" charset="-122"/>
                <a:cs typeface="Calibri" pitchFamily="34" charset="-120"/>
              </a:rPr>
              <a:t>Server-side exchange</a:t>
            </a:r>
            <a:endParaRPr lang="en-US" sz="1500" dirty="0"/>
          </a:p>
        </p:txBody>
      </p:sp>
      <p:sp>
        <p:nvSpPr>
          <p:cNvPr id="28" name="Text 26"/>
          <p:cNvSpPr txBox="1"/>
          <p:nvPr/>
        </p:nvSpPr>
        <p:spPr>
          <a:xfrm>
            <a:off x="4663440" y="4754880"/>
            <a:ext cx="3154680" cy="1005840"/>
          </a:xfrm>
          <a:prstGeom prst="rect">
            <a:avLst/>
          </a:prstGeom>
          <a:noFill/>
          <a:ln/>
        </p:spPr>
        <p:txBody>
          <a:bodyPr wrap="square" lIns="0" tIns="0" rIns="0" bIns="0" rtlCol="0" anchor="ctr"/>
          <a:lstStyle/>
          <a:p>
            <a:pPr indent="0" marL="0">
              <a:buNone/>
            </a:pPr>
            <a:r>
              <a:rPr lang="en-US" sz="1200" dirty="0">
                <a:solidFill>
                  <a:srgbClr val="5C6F66"/>
                </a:solidFill>
                <a:latin typeface="Calibri" pitchFamily="34" charset="0"/>
                <a:ea typeface="Calibri" pitchFamily="34" charset="-122"/>
                <a:cs typeface="Calibri" pitchFamily="34" charset="-120"/>
              </a:rPr>
              <a:t>BFF trades code + client secret for ID, access, and refresh tokens - server to server.</a:t>
            </a:r>
            <a:endParaRPr lang="en-US" sz="1200" dirty="0"/>
          </a:p>
        </p:txBody>
      </p:sp>
      <p:sp>
        <p:nvSpPr>
          <p:cNvPr id="29" name="Shape 27"/>
          <p:cNvSpPr/>
          <p:nvPr/>
        </p:nvSpPr>
        <p:spPr>
          <a:xfrm>
            <a:off x="8321040" y="3886200"/>
            <a:ext cx="3611880" cy="2011680"/>
          </a:xfrm>
          <a:prstGeom prst="roundRect">
            <a:avLst>
              <a:gd name="adj" fmla="val 4091"/>
            </a:avLst>
          </a:prstGeom>
          <a:solidFill>
            <a:srgbClr val="0F6A44"/>
          </a:solidFill>
          <a:ln/>
        </p:spPr>
      </p:sp>
      <p:sp>
        <p:nvSpPr>
          <p:cNvPr id="30" name="Shape 28"/>
          <p:cNvSpPr/>
          <p:nvPr/>
        </p:nvSpPr>
        <p:spPr>
          <a:xfrm>
            <a:off x="8549640" y="4114800"/>
            <a:ext cx="457200" cy="457200"/>
          </a:xfrm>
          <a:prstGeom prst="roundRect">
            <a:avLst>
              <a:gd name="adj" fmla="val 22000"/>
            </a:avLst>
          </a:prstGeom>
          <a:solidFill>
            <a:srgbClr val="2FA36B"/>
          </a:solidFill>
          <a:ln/>
        </p:spPr>
      </p:sp>
      <p:sp>
        <p:nvSpPr>
          <p:cNvPr id="31" name="Text 29"/>
          <p:cNvSpPr txBox="1"/>
          <p:nvPr/>
        </p:nvSpPr>
        <p:spPr>
          <a:xfrm>
            <a:off x="8549640" y="40965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Text 30"/>
          <p:cNvSpPr txBox="1"/>
          <p:nvPr/>
        </p:nvSpPr>
        <p:spPr>
          <a:xfrm>
            <a:off x="9189720" y="4160520"/>
            <a:ext cx="2606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Session established</a:t>
            </a:r>
            <a:endParaRPr lang="en-US" sz="1500" dirty="0"/>
          </a:p>
        </p:txBody>
      </p:sp>
      <p:sp>
        <p:nvSpPr>
          <p:cNvPr id="33" name="Text 31"/>
          <p:cNvSpPr txBox="1"/>
          <p:nvPr/>
        </p:nvSpPr>
        <p:spPr>
          <a:xfrm>
            <a:off x="8549640" y="4754880"/>
            <a:ext cx="3154680" cy="1005840"/>
          </a:xfrm>
          <a:prstGeom prst="rect">
            <a:avLst/>
          </a:prstGeom>
          <a:noFill/>
          <a:ln/>
        </p:spPr>
        <p:txBody>
          <a:bodyPr wrap="square" lIns="0" tIns="0" rIns="0" bIns="0" rtlCol="0" anchor="ctr"/>
          <a:lstStyle/>
          <a:p>
            <a:pPr indent="0" marL="0">
              <a:buNone/>
            </a:pPr>
            <a:r>
              <a:rPr lang="en-US" sz="1200" dirty="0">
                <a:solidFill>
                  <a:srgbClr val="CBEAD9"/>
                </a:solidFill>
                <a:latin typeface="Calibri" pitchFamily="34" charset="0"/>
                <a:ea typeface="Calibri" pitchFamily="34" charset="-122"/>
                <a:cs typeface="Calibri" pitchFamily="34" charset="-120"/>
              </a:rPr>
              <a:t>Tokens stored server-side; browser gets one httpOnly cookie and lands on the app.</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ctr"/>
          <a:lstStyle/>
          <a:p>
            <a:pPr indent="0" marL="0">
              <a:buNone/>
            </a:pPr>
            <a:r>
              <a:rPr lang="en-US" sz="1200" b="1" spc="300" kern="0" dirty="0">
                <a:solidFill>
                  <a:srgbClr val="248257"/>
                </a:solidFill>
                <a:latin typeface="Calibri" pitchFamily="34" charset="0"/>
                <a:ea typeface="Calibri" pitchFamily="34" charset="-122"/>
                <a:cs typeface="Calibri" pitchFamily="34" charset="-120"/>
              </a:rPr>
              <a:t>AFTER LOGIN</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A2E24"/>
                </a:solidFill>
                <a:latin typeface="Calibri" pitchFamily="34" charset="0"/>
                <a:ea typeface="Calibri" pitchFamily="34" charset="-122"/>
                <a:cs typeface="Calibri" pitchFamily="34" charset="-120"/>
              </a:rPr>
              <a:t>What every API call goes through</a:t>
            </a:r>
            <a:endParaRPr lang="en-US" sz="3000" dirty="0"/>
          </a:p>
        </p:txBody>
      </p:sp>
      <p:sp>
        <p:nvSpPr>
          <p:cNvPr id="4" name="Shape 2"/>
          <p:cNvSpPr/>
          <p:nvPr/>
        </p:nvSpPr>
        <p:spPr>
          <a:xfrm>
            <a:off x="548640" y="1828800"/>
            <a:ext cx="2121408" cy="3017520"/>
          </a:xfrm>
          <a:prstGeom prst="roundRect">
            <a:avLst>
              <a:gd name="adj" fmla="val 3879"/>
            </a:avLst>
          </a:prstGeom>
          <a:solidFill>
            <a:srgbClr val="EDF6F1"/>
          </a:solidFill>
          <a:ln w="12700">
            <a:solidFill>
              <a:srgbClr val="CFE3D7"/>
            </a:solidFill>
            <a:prstDash val="solid"/>
          </a:ln>
        </p:spPr>
      </p:sp>
      <p:sp>
        <p:nvSpPr>
          <p:cNvPr id="5" name="Shape 3"/>
          <p:cNvSpPr/>
          <p:nvPr/>
        </p:nvSpPr>
        <p:spPr>
          <a:xfrm>
            <a:off x="1335024" y="2103120"/>
            <a:ext cx="548640" cy="54864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6" name="Image 0" descr="preencoded.png">    </p:cNvPr>
          <p:cNvPicPr>
            <a:picLocks noChangeAspect="1"/>
          </p:cNvPicPr>
          <p:nvPr/>
        </p:nvPicPr>
        <p:blipFill>
          <a:blip r:embed="rId1"/>
          <a:stretch>
            <a:fillRect/>
          </a:stretch>
        </p:blipFill>
        <p:spPr>
          <a:xfrm>
            <a:off x="1466698" y="2234794"/>
            <a:ext cx="285293" cy="285293"/>
          </a:xfrm>
          <a:prstGeom prst="rect">
            <a:avLst/>
          </a:prstGeom>
        </p:spPr>
      </p:pic>
      <p:sp>
        <p:nvSpPr>
          <p:cNvPr id="7" name="Text 4"/>
          <p:cNvSpPr txBox="1"/>
          <p:nvPr/>
        </p:nvSpPr>
        <p:spPr>
          <a:xfrm>
            <a:off x="685800" y="2834640"/>
            <a:ext cx="1847088" cy="594360"/>
          </a:xfrm>
          <a:prstGeom prst="rect">
            <a:avLst/>
          </a:prstGeom>
          <a:noFill/>
          <a:ln/>
        </p:spPr>
        <p:txBody>
          <a:bodyPr wrap="square" lIns="0" tIns="0" rIns="0" bIns="0" rtlCol="0" anchor="ctr"/>
          <a:lstStyle/>
          <a:p>
            <a:pPr algn="ctr" indent="0" marL="0">
              <a:buNone/>
            </a:pPr>
            <a:r>
              <a:rPr lang="en-US" sz="1350" b="1" dirty="0">
                <a:solidFill>
                  <a:srgbClr val="1A2E24"/>
                </a:solidFill>
                <a:latin typeface="Calibri" pitchFamily="34" charset="0"/>
                <a:ea typeface="Calibri" pitchFamily="34" charset="-122"/>
                <a:cs typeface="Calibri" pitchFamily="34" charset="-120"/>
              </a:rPr>
              <a:t>Cookie rides along</a:t>
            </a:r>
            <a:endParaRPr lang="en-US" sz="1350" dirty="0"/>
          </a:p>
        </p:txBody>
      </p:sp>
      <p:sp>
        <p:nvSpPr>
          <p:cNvPr id="8" name="Text 5"/>
          <p:cNvSpPr txBox="1"/>
          <p:nvPr/>
        </p:nvSpPr>
        <p:spPr>
          <a:xfrm>
            <a:off x="713232" y="3474720"/>
            <a:ext cx="1792224" cy="1280160"/>
          </a:xfrm>
          <a:prstGeom prst="rect">
            <a:avLst/>
          </a:prstGeom>
          <a:noFill/>
          <a:ln/>
        </p:spPr>
        <p:txBody>
          <a:bodyPr wrap="square" lIns="0" tIns="0" rIns="0" bIns="0" rtlCol="0" anchor="ctr"/>
          <a:lstStyle/>
          <a:p>
            <a:pPr algn="ctr" indent="0" marL="0">
              <a:buNone/>
            </a:pPr>
            <a:r>
              <a:rPr lang="en-US" sz="1050" dirty="0">
                <a:solidFill>
                  <a:srgbClr val="5C6F66"/>
                </a:solidFill>
                <a:latin typeface="Calibri" pitchFamily="34" charset="0"/>
                <a:ea typeface="Calibri" pitchFamily="34" charset="-122"/>
                <a:cs typeface="Calibri" pitchFamily="34" charset="-120"/>
              </a:rPr>
              <a:t>Browser attaches the session cookie automatically - axios adds nothing but the CSRF header.</a:t>
            </a:r>
            <a:endParaRPr lang="en-US" sz="1050" dirty="0"/>
          </a:p>
        </p:txBody>
      </p:sp>
      <p:sp>
        <p:nvSpPr>
          <p:cNvPr id="9" name="Shape 6"/>
          <p:cNvSpPr/>
          <p:nvPr/>
        </p:nvSpPr>
        <p:spPr>
          <a:xfrm>
            <a:off x="2679192" y="3337560"/>
            <a:ext cx="100584" cy="0"/>
          </a:xfrm>
          <a:prstGeom prst="line">
            <a:avLst/>
          </a:prstGeom>
          <a:noFill/>
          <a:ln w="28575">
            <a:solidFill>
              <a:srgbClr val="248257"/>
            </a:solidFill>
            <a:prstDash val="solid"/>
            <a:tailEnd type="triangle"/>
          </a:ln>
        </p:spPr>
      </p:sp>
      <p:sp>
        <p:nvSpPr>
          <p:cNvPr id="10" name="Shape 7"/>
          <p:cNvSpPr/>
          <p:nvPr/>
        </p:nvSpPr>
        <p:spPr>
          <a:xfrm>
            <a:off x="2788920" y="1828800"/>
            <a:ext cx="2121408" cy="3017520"/>
          </a:xfrm>
          <a:prstGeom prst="roundRect">
            <a:avLst>
              <a:gd name="adj" fmla="val 3879"/>
            </a:avLst>
          </a:prstGeom>
          <a:solidFill>
            <a:srgbClr val="EDF6F1"/>
          </a:solidFill>
          <a:ln w="12700">
            <a:solidFill>
              <a:srgbClr val="CFE3D7"/>
            </a:solidFill>
            <a:prstDash val="solid"/>
          </a:ln>
        </p:spPr>
      </p:sp>
      <p:sp>
        <p:nvSpPr>
          <p:cNvPr id="11" name="Shape 8"/>
          <p:cNvSpPr/>
          <p:nvPr/>
        </p:nvSpPr>
        <p:spPr>
          <a:xfrm>
            <a:off x="3575304" y="2103120"/>
            <a:ext cx="548640" cy="54864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12" name="Image 1" descr="preencoded.png">    </p:cNvPr>
          <p:cNvPicPr>
            <a:picLocks noChangeAspect="1"/>
          </p:cNvPicPr>
          <p:nvPr/>
        </p:nvPicPr>
        <p:blipFill>
          <a:blip r:embed="rId2"/>
          <a:stretch>
            <a:fillRect/>
          </a:stretch>
        </p:blipFill>
        <p:spPr>
          <a:xfrm>
            <a:off x="3706978" y="2234794"/>
            <a:ext cx="285293" cy="285293"/>
          </a:xfrm>
          <a:prstGeom prst="rect">
            <a:avLst/>
          </a:prstGeom>
        </p:spPr>
      </p:pic>
      <p:sp>
        <p:nvSpPr>
          <p:cNvPr id="13" name="Text 9"/>
          <p:cNvSpPr txBox="1"/>
          <p:nvPr/>
        </p:nvSpPr>
        <p:spPr>
          <a:xfrm>
            <a:off x="2926080" y="2834640"/>
            <a:ext cx="1847088" cy="594360"/>
          </a:xfrm>
          <a:prstGeom prst="rect">
            <a:avLst/>
          </a:prstGeom>
          <a:noFill/>
          <a:ln/>
        </p:spPr>
        <p:txBody>
          <a:bodyPr wrap="square" lIns="0" tIns="0" rIns="0" bIns="0" rtlCol="0" anchor="ctr"/>
          <a:lstStyle/>
          <a:p>
            <a:pPr algn="ctr" indent="0" marL="0">
              <a:buNone/>
            </a:pPr>
            <a:r>
              <a:rPr lang="en-US" sz="1350" b="1" dirty="0">
                <a:solidFill>
                  <a:srgbClr val="1A2E24"/>
                </a:solidFill>
                <a:latin typeface="Calibri" pitchFamily="34" charset="0"/>
                <a:ea typeface="Calibri" pitchFamily="34" charset="-122"/>
                <a:cs typeface="Calibri" pitchFamily="34" charset="-120"/>
              </a:rPr>
              <a:t>Session resolved</a:t>
            </a:r>
            <a:endParaRPr lang="en-US" sz="1350" dirty="0"/>
          </a:p>
        </p:txBody>
      </p:sp>
      <p:sp>
        <p:nvSpPr>
          <p:cNvPr id="14" name="Text 10"/>
          <p:cNvSpPr txBox="1"/>
          <p:nvPr/>
        </p:nvSpPr>
        <p:spPr>
          <a:xfrm>
            <a:off x="2953512" y="3474720"/>
            <a:ext cx="1792224" cy="1280160"/>
          </a:xfrm>
          <a:prstGeom prst="rect">
            <a:avLst/>
          </a:prstGeom>
          <a:noFill/>
          <a:ln/>
        </p:spPr>
        <p:txBody>
          <a:bodyPr wrap="square" lIns="0" tIns="0" rIns="0" bIns="0" rtlCol="0" anchor="ctr"/>
          <a:lstStyle/>
          <a:p>
            <a:pPr algn="ctr" indent="0" marL="0">
              <a:buNone/>
            </a:pPr>
            <a:r>
              <a:rPr lang="en-US" sz="1050" dirty="0">
                <a:solidFill>
                  <a:srgbClr val="5C6F66"/>
                </a:solidFill>
                <a:latin typeface="Calibri" pitchFamily="34" charset="0"/>
                <a:ea typeface="Calibri" pitchFamily="34" charset="-122"/>
                <a:cs typeface="Calibri" pitchFamily="34" charset="-120"/>
              </a:rPr>
              <a:t>Spring Security turns the cookie back into an Authentication with the user’s mapped roles.</a:t>
            </a:r>
            <a:endParaRPr lang="en-US" sz="1050" dirty="0"/>
          </a:p>
        </p:txBody>
      </p:sp>
      <p:sp>
        <p:nvSpPr>
          <p:cNvPr id="15" name="Shape 11"/>
          <p:cNvSpPr/>
          <p:nvPr/>
        </p:nvSpPr>
        <p:spPr>
          <a:xfrm>
            <a:off x="4919472" y="3337560"/>
            <a:ext cx="100584" cy="0"/>
          </a:xfrm>
          <a:prstGeom prst="line">
            <a:avLst/>
          </a:prstGeom>
          <a:noFill/>
          <a:ln w="28575">
            <a:solidFill>
              <a:srgbClr val="248257"/>
            </a:solidFill>
            <a:prstDash val="solid"/>
            <a:tailEnd type="triangle"/>
          </a:ln>
        </p:spPr>
      </p:sp>
      <p:sp>
        <p:nvSpPr>
          <p:cNvPr id="16" name="Shape 12"/>
          <p:cNvSpPr/>
          <p:nvPr/>
        </p:nvSpPr>
        <p:spPr>
          <a:xfrm>
            <a:off x="5029200" y="1828800"/>
            <a:ext cx="2121408" cy="3017520"/>
          </a:xfrm>
          <a:prstGeom prst="roundRect">
            <a:avLst>
              <a:gd name="adj" fmla="val 3879"/>
            </a:avLst>
          </a:prstGeom>
          <a:solidFill>
            <a:srgbClr val="EDF6F1"/>
          </a:solidFill>
          <a:ln w="12700">
            <a:solidFill>
              <a:srgbClr val="CFE3D7"/>
            </a:solidFill>
            <a:prstDash val="solid"/>
          </a:ln>
        </p:spPr>
      </p:sp>
      <p:sp>
        <p:nvSpPr>
          <p:cNvPr id="17" name="Shape 13"/>
          <p:cNvSpPr/>
          <p:nvPr/>
        </p:nvSpPr>
        <p:spPr>
          <a:xfrm>
            <a:off x="5815584" y="2103120"/>
            <a:ext cx="548640" cy="54864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18" name="Image 2" descr="preencoded.png">    </p:cNvPr>
          <p:cNvPicPr>
            <a:picLocks noChangeAspect="1"/>
          </p:cNvPicPr>
          <p:nvPr/>
        </p:nvPicPr>
        <p:blipFill>
          <a:blip r:embed="rId3"/>
          <a:stretch>
            <a:fillRect/>
          </a:stretch>
        </p:blipFill>
        <p:spPr>
          <a:xfrm>
            <a:off x="5947258" y="2234794"/>
            <a:ext cx="285293" cy="285293"/>
          </a:xfrm>
          <a:prstGeom prst="rect">
            <a:avLst/>
          </a:prstGeom>
        </p:spPr>
      </p:pic>
      <p:sp>
        <p:nvSpPr>
          <p:cNvPr id="19" name="Text 14"/>
          <p:cNvSpPr txBox="1"/>
          <p:nvPr/>
        </p:nvSpPr>
        <p:spPr>
          <a:xfrm>
            <a:off x="5166360" y="2834640"/>
            <a:ext cx="1847088" cy="594360"/>
          </a:xfrm>
          <a:prstGeom prst="rect">
            <a:avLst/>
          </a:prstGeom>
          <a:noFill/>
          <a:ln/>
        </p:spPr>
        <p:txBody>
          <a:bodyPr wrap="square" lIns="0" tIns="0" rIns="0" bIns="0" rtlCol="0" anchor="ctr"/>
          <a:lstStyle/>
          <a:p>
            <a:pPr algn="ctr" indent="0" marL="0">
              <a:buNone/>
            </a:pPr>
            <a:r>
              <a:rPr lang="en-US" sz="1350" b="1" dirty="0">
                <a:solidFill>
                  <a:srgbClr val="1A2E24"/>
                </a:solidFill>
                <a:latin typeface="Calibri" pitchFamily="34" charset="0"/>
                <a:ea typeface="Calibri" pitchFamily="34" charset="-122"/>
                <a:cs typeface="Calibri" pitchFamily="34" charset="-120"/>
              </a:rPr>
              <a:t>CSRF verified</a:t>
            </a:r>
            <a:endParaRPr lang="en-US" sz="1350" dirty="0"/>
          </a:p>
        </p:txBody>
      </p:sp>
      <p:sp>
        <p:nvSpPr>
          <p:cNvPr id="20" name="Text 15"/>
          <p:cNvSpPr txBox="1"/>
          <p:nvPr/>
        </p:nvSpPr>
        <p:spPr>
          <a:xfrm>
            <a:off x="5193792" y="3474720"/>
            <a:ext cx="1792224" cy="1280160"/>
          </a:xfrm>
          <a:prstGeom prst="rect">
            <a:avLst/>
          </a:prstGeom>
          <a:noFill/>
          <a:ln/>
        </p:spPr>
        <p:txBody>
          <a:bodyPr wrap="square" lIns="0" tIns="0" rIns="0" bIns="0" rtlCol="0" anchor="ctr"/>
          <a:lstStyle/>
          <a:p>
            <a:pPr algn="ctr" indent="0" marL="0">
              <a:buNone/>
            </a:pPr>
            <a:r>
              <a:rPr lang="en-US" sz="1050" dirty="0">
                <a:solidFill>
                  <a:srgbClr val="5C6F66"/>
                </a:solidFill>
                <a:latin typeface="Calibri" pitchFamily="34" charset="0"/>
                <a:ea typeface="Calibri" pitchFamily="34" charset="-122"/>
                <a:cs typeface="Calibri" pitchFamily="34" charset="-120"/>
              </a:rPr>
              <a:t>Mutating requests must echo the XSRF-TOKEN cookie in the X-XSRF-TOKEN header.</a:t>
            </a:r>
            <a:endParaRPr lang="en-US" sz="1050" dirty="0"/>
          </a:p>
        </p:txBody>
      </p:sp>
      <p:sp>
        <p:nvSpPr>
          <p:cNvPr id="21" name="Shape 16"/>
          <p:cNvSpPr/>
          <p:nvPr/>
        </p:nvSpPr>
        <p:spPr>
          <a:xfrm>
            <a:off x="7159752" y="3337560"/>
            <a:ext cx="100584" cy="0"/>
          </a:xfrm>
          <a:prstGeom prst="line">
            <a:avLst/>
          </a:prstGeom>
          <a:noFill/>
          <a:ln w="28575">
            <a:solidFill>
              <a:srgbClr val="248257"/>
            </a:solidFill>
            <a:prstDash val="solid"/>
            <a:tailEnd type="triangle"/>
          </a:ln>
        </p:spPr>
      </p:sp>
      <p:sp>
        <p:nvSpPr>
          <p:cNvPr id="22" name="Shape 17"/>
          <p:cNvSpPr/>
          <p:nvPr/>
        </p:nvSpPr>
        <p:spPr>
          <a:xfrm>
            <a:off x="7269480" y="1828800"/>
            <a:ext cx="2121408" cy="3017520"/>
          </a:xfrm>
          <a:prstGeom prst="roundRect">
            <a:avLst>
              <a:gd name="adj" fmla="val 3879"/>
            </a:avLst>
          </a:prstGeom>
          <a:solidFill>
            <a:srgbClr val="EDF6F1"/>
          </a:solidFill>
          <a:ln w="12700">
            <a:solidFill>
              <a:srgbClr val="CFE3D7"/>
            </a:solidFill>
            <a:prstDash val="solid"/>
          </a:ln>
        </p:spPr>
      </p:sp>
      <p:sp>
        <p:nvSpPr>
          <p:cNvPr id="23" name="Shape 18"/>
          <p:cNvSpPr/>
          <p:nvPr/>
        </p:nvSpPr>
        <p:spPr>
          <a:xfrm>
            <a:off x="8055864" y="2103120"/>
            <a:ext cx="548640" cy="54864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24" name="Image 3" descr="preencoded.png">    </p:cNvPr>
          <p:cNvPicPr>
            <a:picLocks noChangeAspect="1"/>
          </p:cNvPicPr>
          <p:nvPr/>
        </p:nvPicPr>
        <p:blipFill>
          <a:blip r:embed="rId4"/>
          <a:stretch>
            <a:fillRect/>
          </a:stretch>
        </p:blipFill>
        <p:spPr>
          <a:xfrm>
            <a:off x="8187538" y="2234794"/>
            <a:ext cx="285293" cy="285293"/>
          </a:xfrm>
          <a:prstGeom prst="rect">
            <a:avLst/>
          </a:prstGeom>
        </p:spPr>
      </p:pic>
      <p:sp>
        <p:nvSpPr>
          <p:cNvPr id="25" name="Text 19"/>
          <p:cNvSpPr txBox="1"/>
          <p:nvPr/>
        </p:nvSpPr>
        <p:spPr>
          <a:xfrm>
            <a:off x="7406640" y="2834640"/>
            <a:ext cx="1847088" cy="594360"/>
          </a:xfrm>
          <a:prstGeom prst="rect">
            <a:avLst/>
          </a:prstGeom>
          <a:noFill/>
          <a:ln/>
        </p:spPr>
        <p:txBody>
          <a:bodyPr wrap="square" lIns="0" tIns="0" rIns="0" bIns="0" rtlCol="0" anchor="ctr"/>
          <a:lstStyle/>
          <a:p>
            <a:pPr algn="ctr" indent="0" marL="0">
              <a:buNone/>
            </a:pPr>
            <a:r>
              <a:rPr lang="en-US" sz="1350" b="1" dirty="0">
                <a:solidFill>
                  <a:srgbClr val="1A2E24"/>
                </a:solidFill>
                <a:latin typeface="Calibri" pitchFamily="34" charset="0"/>
                <a:ea typeface="Calibri" pitchFamily="34" charset="-122"/>
                <a:cs typeface="Calibri" pitchFamily="34" charset="-120"/>
              </a:rPr>
              <a:t>Roles enforced</a:t>
            </a:r>
            <a:endParaRPr lang="en-US" sz="1350" dirty="0"/>
          </a:p>
        </p:txBody>
      </p:sp>
      <p:sp>
        <p:nvSpPr>
          <p:cNvPr id="26" name="Text 20"/>
          <p:cNvSpPr txBox="1"/>
          <p:nvPr/>
        </p:nvSpPr>
        <p:spPr>
          <a:xfrm>
            <a:off x="7434072" y="3474720"/>
            <a:ext cx="1792224" cy="1280160"/>
          </a:xfrm>
          <a:prstGeom prst="rect">
            <a:avLst/>
          </a:prstGeom>
          <a:noFill/>
          <a:ln/>
        </p:spPr>
        <p:txBody>
          <a:bodyPr wrap="square" lIns="0" tIns="0" rIns="0" bIns="0" rtlCol="0" anchor="ctr"/>
          <a:lstStyle/>
          <a:p>
            <a:pPr algn="ctr" indent="0" marL="0">
              <a:buNone/>
            </a:pPr>
            <a:r>
              <a:rPr lang="en-US" sz="1050" dirty="0">
                <a:solidFill>
                  <a:srgbClr val="5C6F66"/>
                </a:solidFill>
                <a:latin typeface="Calibri" pitchFamily="34" charset="0"/>
                <a:ea typeface="Calibri" pitchFamily="34" charset="-122"/>
                <a:cs typeface="Calibri" pitchFamily="34" charset="-120"/>
              </a:rPr>
              <a:t>URL rules plus @PreAuthorize on each controller method decide if the call may proceed.</a:t>
            </a:r>
            <a:endParaRPr lang="en-US" sz="1050" dirty="0"/>
          </a:p>
        </p:txBody>
      </p:sp>
      <p:sp>
        <p:nvSpPr>
          <p:cNvPr id="27" name="Shape 21"/>
          <p:cNvSpPr/>
          <p:nvPr/>
        </p:nvSpPr>
        <p:spPr>
          <a:xfrm>
            <a:off x="9400032" y="3337560"/>
            <a:ext cx="100584" cy="0"/>
          </a:xfrm>
          <a:prstGeom prst="line">
            <a:avLst/>
          </a:prstGeom>
          <a:noFill/>
          <a:ln w="28575">
            <a:solidFill>
              <a:srgbClr val="248257"/>
            </a:solidFill>
            <a:prstDash val="solid"/>
            <a:tailEnd type="triangle"/>
          </a:ln>
        </p:spPr>
      </p:sp>
      <p:sp>
        <p:nvSpPr>
          <p:cNvPr id="28" name="Shape 22"/>
          <p:cNvSpPr/>
          <p:nvPr/>
        </p:nvSpPr>
        <p:spPr>
          <a:xfrm>
            <a:off x="9509760" y="1828800"/>
            <a:ext cx="2121408" cy="3017520"/>
          </a:xfrm>
          <a:prstGeom prst="roundRect">
            <a:avLst>
              <a:gd name="adj" fmla="val 3879"/>
            </a:avLst>
          </a:prstGeom>
          <a:solidFill>
            <a:srgbClr val="EDF6F1"/>
          </a:solidFill>
          <a:ln w="12700">
            <a:solidFill>
              <a:srgbClr val="CFE3D7"/>
            </a:solidFill>
            <a:prstDash val="solid"/>
          </a:ln>
        </p:spPr>
      </p:sp>
      <p:sp>
        <p:nvSpPr>
          <p:cNvPr id="29" name="Shape 23"/>
          <p:cNvSpPr/>
          <p:nvPr/>
        </p:nvSpPr>
        <p:spPr>
          <a:xfrm>
            <a:off x="10296144" y="2103120"/>
            <a:ext cx="548640" cy="54864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30" name="Image 4" descr="preencoded.png">    </p:cNvPr>
          <p:cNvPicPr>
            <a:picLocks noChangeAspect="1"/>
          </p:cNvPicPr>
          <p:nvPr/>
        </p:nvPicPr>
        <p:blipFill>
          <a:blip r:embed="rId5"/>
          <a:stretch>
            <a:fillRect/>
          </a:stretch>
        </p:blipFill>
        <p:spPr>
          <a:xfrm>
            <a:off x="10427818" y="2234794"/>
            <a:ext cx="285293" cy="285293"/>
          </a:xfrm>
          <a:prstGeom prst="rect">
            <a:avLst/>
          </a:prstGeom>
        </p:spPr>
      </p:pic>
      <p:sp>
        <p:nvSpPr>
          <p:cNvPr id="31" name="Text 24"/>
          <p:cNvSpPr txBox="1"/>
          <p:nvPr/>
        </p:nvSpPr>
        <p:spPr>
          <a:xfrm>
            <a:off x="9646920" y="2834640"/>
            <a:ext cx="1847088" cy="594360"/>
          </a:xfrm>
          <a:prstGeom prst="rect">
            <a:avLst/>
          </a:prstGeom>
          <a:noFill/>
          <a:ln/>
        </p:spPr>
        <p:txBody>
          <a:bodyPr wrap="square" lIns="0" tIns="0" rIns="0" bIns="0" rtlCol="0" anchor="ctr"/>
          <a:lstStyle/>
          <a:p>
            <a:pPr algn="ctr" indent="0" marL="0">
              <a:buNone/>
            </a:pPr>
            <a:r>
              <a:rPr lang="en-US" sz="1350" b="1" dirty="0">
                <a:solidFill>
                  <a:srgbClr val="1A2E24"/>
                </a:solidFill>
                <a:latin typeface="Calibri" pitchFamily="34" charset="0"/>
                <a:ea typeface="Calibri" pitchFamily="34" charset="-122"/>
                <a:cs typeface="Calibri" pitchFamily="34" charset="-120"/>
              </a:rPr>
              <a:t>Controller runs</a:t>
            </a:r>
            <a:endParaRPr lang="en-US" sz="1350" dirty="0"/>
          </a:p>
        </p:txBody>
      </p:sp>
      <p:sp>
        <p:nvSpPr>
          <p:cNvPr id="32" name="Text 25"/>
          <p:cNvSpPr txBox="1"/>
          <p:nvPr/>
        </p:nvSpPr>
        <p:spPr>
          <a:xfrm>
            <a:off x="9674352" y="3474720"/>
            <a:ext cx="1792224" cy="1280160"/>
          </a:xfrm>
          <a:prstGeom prst="rect">
            <a:avLst/>
          </a:prstGeom>
          <a:noFill/>
          <a:ln/>
        </p:spPr>
        <p:txBody>
          <a:bodyPr wrap="square" lIns="0" tIns="0" rIns="0" bIns="0" rtlCol="0" anchor="ctr"/>
          <a:lstStyle/>
          <a:p>
            <a:pPr algn="ctr" indent="0" marL="0">
              <a:buNone/>
            </a:pPr>
            <a:r>
              <a:rPr lang="en-US" sz="1050" dirty="0">
                <a:solidFill>
                  <a:srgbClr val="5C6F66"/>
                </a:solidFill>
                <a:latin typeface="Calibri" pitchFamily="34" charset="0"/>
                <a:ea typeface="Calibri" pitchFamily="34" charset="-122"/>
                <a:cs typeface="Calibri" pitchFamily="34" charset="-120"/>
              </a:rPr>
              <a:t>Plain Spring MVC from here - services, JPA, and a JSON response.</a:t>
            </a:r>
            <a:endParaRPr lang="en-US" sz="1050" dirty="0"/>
          </a:p>
        </p:txBody>
      </p:sp>
      <p:sp>
        <p:nvSpPr>
          <p:cNvPr id="33" name="Shape 26"/>
          <p:cNvSpPr/>
          <p:nvPr/>
        </p:nvSpPr>
        <p:spPr>
          <a:xfrm>
            <a:off x="548640" y="5257800"/>
            <a:ext cx="11091672" cy="960120"/>
          </a:xfrm>
          <a:prstGeom prst="roundRect">
            <a:avLst>
              <a:gd name="adj" fmla="val 8571"/>
            </a:avLst>
          </a:prstGeom>
          <a:solidFill>
            <a:srgbClr val="FFFFFF"/>
          </a:solidFill>
          <a:ln/>
          <a:effectLst>
            <a:outerShdw sx="100000" sy="100000" kx="0" ky="0" algn="bl" rotWithShape="0" blurRad="76200" dist="25400" dir="5400000">
              <a:srgbClr val="0B3D2E">
                <a:alpha val="18000"/>
              </a:srgbClr>
            </a:outerShdw>
          </a:effectLst>
        </p:spPr>
      </p:sp>
      <p:sp>
        <p:nvSpPr>
          <p:cNvPr id="34" name="Shape 27"/>
          <p:cNvSpPr/>
          <p:nvPr/>
        </p:nvSpPr>
        <p:spPr>
          <a:xfrm>
            <a:off x="822960" y="5440680"/>
            <a:ext cx="548640" cy="548640"/>
          </a:xfrm>
          <a:prstGeom prst="roundRect">
            <a:avLst>
              <a:gd name="adj" fmla="val 22000"/>
            </a:avLst>
          </a:prstGeom>
          <a:solidFill>
            <a:srgbClr val="2FA36B"/>
          </a:solidFill>
          <a:ln/>
          <a:effectLst>
            <a:outerShdw sx="100000" sy="100000" kx="0" ky="0" algn="bl" rotWithShape="0" blurRad="76200" dist="25400" dir="5400000">
              <a:srgbClr val="0B3D2E">
                <a:alpha val="18000"/>
              </a:srgbClr>
            </a:outerShdw>
          </a:effectLst>
        </p:spPr>
      </p:sp>
      <p:pic>
        <p:nvPicPr>
          <p:cNvPr id="35" name="Image 5" descr="preencoded.png">    </p:cNvPr>
          <p:cNvPicPr>
            <a:picLocks noChangeAspect="1"/>
          </p:cNvPicPr>
          <p:nvPr/>
        </p:nvPicPr>
        <p:blipFill>
          <a:blip r:embed="rId6"/>
          <a:stretch>
            <a:fillRect/>
          </a:stretch>
        </p:blipFill>
        <p:spPr>
          <a:xfrm>
            <a:off x="954634" y="5572354"/>
            <a:ext cx="285293" cy="285293"/>
          </a:xfrm>
          <a:prstGeom prst="rect">
            <a:avLst/>
          </a:prstGeom>
        </p:spPr>
      </p:pic>
      <p:sp>
        <p:nvSpPr>
          <p:cNvPr id="36" name="Text 28"/>
          <p:cNvSpPr txBox="1"/>
          <p:nvPr/>
        </p:nvSpPr>
        <p:spPr>
          <a:xfrm>
            <a:off x="1554480" y="5394960"/>
            <a:ext cx="9875520" cy="731520"/>
          </a:xfrm>
          <a:prstGeom prst="rect">
            <a:avLst/>
          </a:prstGeom>
          <a:noFill/>
          <a:ln/>
        </p:spPr>
        <p:txBody>
          <a:bodyPr wrap="square" lIns="0" tIns="0" rIns="0" bIns="0" rtlCol="0" anchor="ctr"/>
          <a:lstStyle/>
          <a:p>
            <a:pPr indent="0" marL="0">
              <a:buNone/>
            </a:pPr>
            <a:r>
              <a:rPr lang="en-US" sz="1300" b="1" dirty="0">
                <a:solidFill>
                  <a:srgbClr val="0F6A44"/>
                </a:solidFill>
                <a:latin typeface="Calibri" pitchFamily="34" charset="0"/>
                <a:ea typeface="Calibri" pitchFamily="34" charset="-122"/>
                <a:cs typeface="Calibri" pitchFamily="34" charset="-120"/>
              </a:rPr>
              <a:t>The SPA does nothing special. </a:t>
            </a:r>
            <a:pPr indent="0" marL="0">
              <a:buNone/>
            </a:pPr>
            <a:r>
              <a:rPr lang="en-US" sz="1300" dirty="0">
                <a:solidFill>
                  <a:srgbClr val="1A2E24"/>
                </a:solidFill>
                <a:latin typeface="Calibri" pitchFamily="34" charset="0"/>
                <a:ea typeface="Calibri" pitchFamily="34" charset="-122"/>
                <a:cs typeface="Calibri" pitchFamily="34" charset="-120"/>
              </a:rPr>
              <a:t>No Authorization header, no refresh timers, no token expiry handling. When the access token nears expiry, the BFF refreshes it server-side without the browser noticing.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ctr"/>
          <a:lstStyle/>
          <a:p>
            <a:pPr indent="0" marL="0">
              <a:buNone/>
            </a:pPr>
            <a:r>
              <a:rPr lang="en-US" sz="1200" b="1" spc="300" kern="0" dirty="0">
                <a:solidFill>
                  <a:srgbClr val="248257"/>
                </a:solidFill>
                <a:latin typeface="Calibri" pitchFamily="34" charset="0"/>
                <a:ea typeface="Calibri" pitchFamily="34" charset="-122"/>
                <a:cs typeface="Calibri" pitchFamily="34" charset="-120"/>
              </a:rPr>
              <a:t>THE TAX ON COOKIE AUTH</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A2E24"/>
                </a:solidFill>
                <a:latin typeface="Calibri" pitchFamily="34" charset="0"/>
                <a:ea typeface="Calibri" pitchFamily="34" charset="-122"/>
                <a:cs typeface="Calibri" pitchFamily="34" charset="-120"/>
              </a:rPr>
              <a:t>CSRF: why it’s needed and how it’s solved</a:t>
            </a:r>
            <a:endParaRPr lang="en-US" sz="3000" dirty="0"/>
          </a:p>
        </p:txBody>
      </p:sp>
      <p:sp>
        <p:nvSpPr>
          <p:cNvPr id="4" name="Shape 2"/>
          <p:cNvSpPr/>
          <p:nvPr/>
        </p:nvSpPr>
        <p:spPr>
          <a:xfrm>
            <a:off x="548640" y="1600200"/>
            <a:ext cx="5257800" cy="4480560"/>
          </a:xfrm>
          <a:prstGeom prst="roundRect">
            <a:avLst>
              <a:gd name="adj" fmla="val 1837"/>
            </a:avLst>
          </a:prstGeom>
          <a:solidFill>
            <a:srgbClr val="EDF6F1"/>
          </a:solidFill>
          <a:ln w="12700">
            <a:solidFill>
              <a:srgbClr val="CFE3D7"/>
            </a:solidFill>
            <a:prstDash val="solid"/>
          </a:ln>
        </p:spPr>
      </p:sp>
      <p:sp>
        <p:nvSpPr>
          <p:cNvPr id="5" name="Text 3"/>
          <p:cNvSpPr txBox="1"/>
          <p:nvPr/>
        </p:nvSpPr>
        <p:spPr>
          <a:xfrm>
            <a:off x="868680" y="1874520"/>
            <a:ext cx="4114800" cy="274320"/>
          </a:xfrm>
          <a:prstGeom prst="rect">
            <a:avLst/>
          </a:prstGeom>
          <a:noFill/>
          <a:ln/>
        </p:spPr>
        <p:txBody>
          <a:bodyPr wrap="square" lIns="0" tIns="0" rIns="0" bIns="0" rtlCol="0" anchor="ctr"/>
          <a:lstStyle/>
          <a:p>
            <a:pPr indent="0" marL="0">
              <a:buNone/>
            </a:pPr>
            <a:r>
              <a:rPr lang="en-US" sz="1100" b="1" spc="200" kern="0" dirty="0">
                <a:solidFill>
                  <a:srgbClr val="248257"/>
                </a:solidFill>
                <a:latin typeface="Calibri" pitchFamily="34" charset="0"/>
                <a:ea typeface="Calibri" pitchFamily="34" charset="-122"/>
                <a:cs typeface="Calibri" pitchFamily="34" charset="-120"/>
              </a:rPr>
              <a:t>WHY COOKIES NEED IT</a:t>
            </a:r>
            <a:endParaRPr lang="en-US" sz="1100" dirty="0"/>
          </a:p>
        </p:txBody>
      </p:sp>
      <p:sp>
        <p:nvSpPr>
          <p:cNvPr id="6" name="Text 4"/>
          <p:cNvSpPr txBox="1"/>
          <p:nvPr/>
        </p:nvSpPr>
        <p:spPr>
          <a:xfrm>
            <a:off x="868680" y="2240280"/>
            <a:ext cx="4617720" cy="2834640"/>
          </a:xfrm>
          <a:prstGeom prst="rect">
            <a:avLst/>
          </a:prstGeom>
          <a:noFill/>
          <a:ln/>
        </p:spPr>
        <p:txBody>
          <a:bodyPr wrap="square" lIns="0" tIns="0" rIns="0" bIns="0" rtlCol="0" anchor="ctr"/>
          <a:lstStyle/>
          <a:p>
            <a:pPr indent="0" marL="0">
              <a:buNone/>
            </a:pPr>
            <a:r>
              <a:rPr lang="en-US" sz="1350" b="1" dirty="0">
                <a:solidFill>
                  <a:srgbClr val="1A2E24"/>
                </a:solidFill>
                <a:latin typeface="Calibri" pitchFamily="34" charset="0"/>
                <a:ea typeface="Calibri" pitchFamily="34" charset="-122"/>
                <a:cs typeface="Calibri" pitchFamily="34" charset="-120"/>
              </a:rPr>
              <a:t>Cookies attach themselves. </a:t>
            </a:r>
            <a:pPr indent="0" marL="0">
              <a:buNone/>
            </a:pPr>
            <a:r>
              <a:rPr lang="en-US" sz="1350" dirty="0">
                <a:solidFill>
                  <a:srgbClr val="5C6F66"/>
                </a:solidFill>
                <a:latin typeface="Calibri" pitchFamily="34" charset="0"/>
                <a:ea typeface="Calibri" pitchFamily="34" charset="-122"/>
                <a:cs typeface="Calibri" pitchFamily="34" charset="-120"/>
              </a:rPr>
              <a:t>Any site can make the browser POST to our API, and the session cookie goes along for the ride. A bearer token never had this problem - a cookie always does.
</a:t>
            </a:r>
            <a:pPr indent="0" marL="0">
              <a:buNone/>
            </a:pPr>
            <a:r>
              <a:rPr lang="en-US" sz="1350" b="1" dirty="0">
                <a:solidFill>
                  <a:srgbClr val="1A2E24"/>
                </a:solidFill>
                <a:latin typeface="Calibri" pitchFamily="34" charset="0"/>
                <a:ea typeface="Calibri" pitchFamily="34" charset="-122"/>
                <a:cs typeface="Calibri" pitchFamily="34" charset="-120"/>
              </a:rPr>
              <a:t>The fix: prove the page, not just the browser. </a:t>
            </a:r>
            <a:pPr indent="0" marL="0">
              <a:buNone/>
            </a:pPr>
            <a:r>
              <a:rPr lang="en-US" sz="1350" dirty="0">
                <a:solidFill>
                  <a:srgbClr val="5C6F66"/>
                </a:solidFill>
                <a:latin typeface="Calibri" pitchFamily="34" charset="0"/>
                <a:ea typeface="Calibri" pitchFamily="34" charset="-122"/>
                <a:cs typeface="Calibri" pitchFamily="34" charset="-120"/>
              </a:rPr>
              <a:t>Require a value that only same-origin JavaScript could have read. A forged cross-site form can make the request, but it cannot read our cookie to copy it into a header.</a:t>
            </a:r>
            <a:endParaRPr lang="en-US" sz="1350" dirty="0"/>
          </a:p>
        </p:txBody>
      </p:sp>
      <p:sp>
        <p:nvSpPr>
          <p:cNvPr id="7" name="Text 5"/>
          <p:cNvSpPr txBox="1"/>
          <p:nvPr/>
        </p:nvSpPr>
        <p:spPr>
          <a:xfrm>
            <a:off x="868680" y="5166360"/>
            <a:ext cx="4617720" cy="777240"/>
          </a:xfrm>
          <a:prstGeom prst="rect">
            <a:avLst/>
          </a:prstGeom>
          <a:noFill/>
          <a:ln/>
        </p:spPr>
        <p:txBody>
          <a:bodyPr wrap="square" lIns="0" tIns="0" rIns="0" bIns="0" rtlCol="0" anchor="ctr"/>
          <a:lstStyle/>
          <a:p>
            <a:pPr indent="0" marL="0">
              <a:buNone/>
            </a:pPr>
            <a:r>
              <a:rPr lang="en-US" sz="1100" i="1" dirty="0">
                <a:solidFill>
                  <a:srgbClr val="248257"/>
                </a:solidFill>
                <a:latin typeface="Calibri" pitchFamily="34" charset="0"/>
                <a:ea typeface="Calibri" pitchFamily="34" charset="-122"/>
                <a:cs typeface="Calibri" pitchFamily="34" charset="-120"/>
              </a:rPr>
              <a:t>Bearer-token API clients (API_EXPOSED=true) skip CSRF - checked by the “Bearer ” scheme specifically, so a session request can’t sneak past with a decoy header.</a:t>
            </a:r>
            <a:endParaRPr lang="en-US" sz="1100" dirty="0"/>
          </a:p>
        </p:txBody>
      </p:sp>
      <p:sp>
        <p:nvSpPr>
          <p:cNvPr id="8" name="Shape 6"/>
          <p:cNvSpPr/>
          <p:nvPr/>
        </p:nvSpPr>
        <p:spPr>
          <a:xfrm>
            <a:off x="6172200" y="1783080"/>
            <a:ext cx="5440680" cy="1298448"/>
          </a:xfrm>
          <a:prstGeom prst="roundRect">
            <a:avLst>
              <a:gd name="adj" fmla="val 6338"/>
            </a:avLst>
          </a:prstGeom>
          <a:solidFill>
            <a:srgbClr val="FFFFFF"/>
          </a:solidFill>
          <a:ln/>
          <a:effectLst>
            <a:outerShdw sx="100000" sy="100000" kx="0" ky="0" algn="bl" rotWithShape="0" blurRad="76200" dist="25400" dir="5400000">
              <a:srgbClr val="0B3D2E">
                <a:alpha val="18000"/>
              </a:srgbClr>
            </a:outerShdw>
          </a:effectLst>
        </p:spPr>
      </p:sp>
      <p:sp>
        <p:nvSpPr>
          <p:cNvPr id="9" name="Shape 7"/>
          <p:cNvSpPr/>
          <p:nvPr/>
        </p:nvSpPr>
        <p:spPr>
          <a:xfrm>
            <a:off x="6400800" y="1984248"/>
            <a:ext cx="438912" cy="438912"/>
          </a:xfrm>
          <a:prstGeom prst="roundRect">
            <a:avLst>
              <a:gd name="adj" fmla="val 22000"/>
            </a:avLst>
          </a:prstGeom>
          <a:solidFill>
            <a:srgbClr val="0F6A44"/>
          </a:solidFill>
          <a:ln/>
        </p:spPr>
      </p:sp>
      <p:sp>
        <p:nvSpPr>
          <p:cNvPr id="10" name="Text 8"/>
          <p:cNvSpPr txBox="1"/>
          <p:nvPr/>
        </p:nvSpPr>
        <p:spPr>
          <a:xfrm>
            <a:off x="6400800" y="1965960"/>
            <a:ext cx="438912" cy="438912"/>
          </a:xfrm>
          <a:prstGeom prst="rect">
            <a:avLst/>
          </a:prstGeom>
          <a:noFill/>
          <a:ln/>
        </p:spPr>
        <p:txBody>
          <a:bodyPr wrap="square" lIns="0" tIns="0" rIns="0" bIns="0" rtlCol="0" anchor="ctr"/>
          <a:lstStyle/>
          <a:p>
            <a:pPr algn="ctr" indent="0" marL="0">
              <a:buNone/>
            </a:pPr>
            <a:r>
              <a:rPr lang="en-US" sz="1536" b="1" dirty="0">
                <a:solidFill>
                  <a:srgbClr val="FFFFFF"/>
                </a:solidFill>
                <a:latin typeface="Calibri" pitchFamily="34" charset="0"/>
                <a:ea typeface="Calibri" pitchFamily="34" charset="-122"/>
                <a:cs typeface="Calibri" pitchFamily="34" charset="-120"/>
              </a:rPr>
              <a:t>1</a:t>
            </a:r>
            <a:endParaRPr lang="en-US" sz="1536" dirty="0"/>
          </a:p>
        </p:txBody>
      </p:sp>
      <p:sp>
        <p:nvSpPr>
          <p:cNvPr id="11" name="Text 9"/>
          <p:cNvSpPr txBox="1"/>
          <p:nvPr/>
        </p:nvSpPr>
        <p:spPr>
          <a:xfrm>
            <a:off x="7040880" y="1965960"/>
            <a:ext cx="4389120" cy="320040"/>
          </a:xfrm>
          <a:prstGeom prst="rect">
            <a:avLst/>
          </a:prstGeom>
          <a:noFill/>
          <a:ln/>
        </p:spPr>
        <p:txBody>
          <a:bodyPr wrap="square" lIns="0" tIns="0" rIns="0" bIns="0" rtlCol="0" anchor="ctr"/>
          <a:lstStyle/>
          <a:p>
            <a:pPr indent="0" marL="0">
              <a:buNone/>
            </a:pPr>
            <a:r>
              <a:rPr lang="en-US" sz="1400" b="1" dirty="0">
                <a:solidFill>
                  <a:srgbClr val="1A2E24"/>
                </a:solidFill>
                <a:latin typeface="Calibri" pitchFamily="34" charset="0"/>
                <a:ea typeface="Calibri" pitchFamily="34" charset="-122"/>
                <a:cs typeface="Calibri" pitchFamily="34" charset="-120"/>
              </a:rPr>
              <a:t>Server sets XSRF-TOKEN cookie</a:t>
            </a:r>
            <a:endParaRPr lang="en-US" sz="1400" dirty="0"/>
          </a:p>
        </p:txBody>
      </p:sp>
      <p:sp>
        <p:nvSpPr>
          <p:cNvPr id="12" name="Text 10"/>
          <p:cNvSpPr txBox="1"/>
          <p:nvPr/>
        </p:nvSpPr>
        <p:spPr>
          <a:xfrm>
            <a:off x="7040880" y="2313432"/>
            <a:ext cx="4389120" cy="640080"/>
          </a:xfrm>
          <a:prstGeom prst="rect">
            <a:avLst/>
          </a:prstGeom>
          <a:noFill/>
          <a:ln/>
        </p:spPr>
        <p:txBody>
          <a:bodyPr wrap="square" lIns="0" tIns="0" rIns="0" bIns="0" rtlCol="0" anchor="ctr"/>
          <a:lstStyle/>
          <a:p>
            <a:pPr indent="0" marL="0">
              <a:buNone/>
            </a:pPr>
            <a:r>
              <a:rPr lang="en-US" sz="1150" dirty="0">
                <a:solidFill>
                  <a:srgbClr val="5C6F66"/>
                </a:solidFill>
                <a:latin typeface="Calibri" pitchFamily="34" charset="0"/>
                <a:ea typeface="Calibri" pitchFamily="34" charset="-122"/>
                <a:cs typeface="Calibri" pitchFamily="34" charset="-120"/>
              </a:rPr>
              <a:t>Readable by JS on purpose (httpOnly=false), path=/ so both the SPA and API paths can see it.</a:t>
            </a:r>
            <a:endParaRPr lang="en-US" sz="1150" dirty="0"/>
          </a:p>
        </p:txBody>
      </p:sp>
      <p:sp>
        <p:nvSpPr>
          <p:cNvPr id="13" name="Shape 11"/>
          <p:cNvSpPr/>
          <p:nvPr/>
        </p:nvSpPr>
        <p:spPr>
          <a:xfrm>
            <a:off x="6172200" y="3264408"/>
            <a:ext cx="5440680" cy="1298448"/>
          </a:xfrm>
          <a:prstGeom prst="roundRect">
            <a:avLst>
              <a:gd name="adj" fmla="val 6338"/>
            </a:avLst>
          </a:prstGeom>
          <a:solidFill>
            <a:srgbClr val="FFFFFF"/>
          </a:solidFill>
          <a:ln/>
          <a:effectLst>
            <a:outerShdw sx="100000" sy="100000" kx="0" ky="0" algn="bl" rotWithShape="0" blurRad="76200" dist="25400" dir="5400000">
              <a:srgbClr val="0B3D2E">
                <a:alpha val="18000"/>
              </a:srgbClr>
            </a:outerShdw>
          </a:effectLst>
        </p:spPr>
      </p:sp>
      <p:sp>
        <p:nvSpPr>
          <p:cNvPr id="14" name="Shape 12"/>
          <p:cNvSpPr/>
          <p:nvPr/>
        </p:nvSpPr>
        <p:spPr>
          <a:xfrm>
            <a:off x="6400800" y="3465576"/>
            <a:ext cx="438912" cy="438912"/>
          </a:xfrm>
          <a:prstGeom prst="roundRect">
            <a:avLst>
              <a:gd name="adj" fmla="val 22000"/>
            </a:avLst>
          </a:prstGeom>
          <a:solidFill>
            <a:srgbClr val="0F6A44"/>
          </a:solidFill>
          <a:ln/>
        </p:spPr>
      </p:sp>
      <p:sp>
        <p:nvSpPr>
          <p:cNvPr id="15" name="Text 13"/>
          <p:cNvSpPr txBox="1"/>
          <p:nvPr/>
        </p:nvSpPr>
        <p:spPr>
          <a:xfrm>
            <a:off x="6400800" y="3447288"/>
            <a:ext cx="438912" cy="438912"/>
          </a:xfrm>
          <a:prstGeom prst="rect">
            <a:avLst/>
          </a:prstGeom>
          <a:noFill/>
          <a:ln/>
        </p:spPr>
        <p:txBody>
          <a:bodyPr wrap="square" lIns="0" tIns="0" rIns="0" bIns="0" rtlCol="0" anchor="ctr"/>
          <a:lstStyle/>
          <a:p>
            <a:pPr algn="ctr" indent="0" marL="0">
              <a:buNone/>
            </a:pPr>
            <a:r>
              <a:rPr lang="en-US" sz="1536" b="1" dirty="0">
                <a:solidFill>
                  <a:srgbClr val="FFFFFF"/>
                </a:solidFill>
                <a:latin typeface="Calibri" pitchFamily="34" charset="0"/>
                <a:ea typeface="Calibri" pitchFamily="34" charset="-122"/>
                <a:cs typeface="Calibri" pitchFamily="34" charset="-120"/>
              </a:rPr>
              <a:t>2</a:t>
            </a:r>
            <a:endParaRPr lang="en-US" sz="1536" dirty="0"/>
          </a:p>
        </p:txBody>
      </p:sp>
      <p:sp>
        <p:nvSpPr>
          <p:cNvPr id="16" name="Text 14"/>
          <p:cNvSpPr txBox="1"/>
          <p:nvPr/>
        </p:nvSpPr>
        <p:spPr>
          <a:xfrm>
            <a:off x="7040880" y="3447288"/>
            <a:ext cx="4389120" cy="320040"/>
          </a:xfrm>
          <a:prstGeom prst="rect">
            <a:avLst/>
          </a:prstGeom>
          <a:noFill/>
          <a:ln/>
        </p:spPr>
        <p:txBody>
          <a:bodyPr wrap="square" lIns="0" tIns="0" rIns="0" bIns="0" rtlCol="0" anchor="ctr"/>
          <a:lstStyle/>
          <a:p>
            <a:pPr indent="0" marL="0">
              <a:buNone/>
            </a:pPr>
            <a:r>
              <a:rPr lang="en-US" sz="1400" b="1" dirty="0">
                <a:solidFill>
                  <a:srgbClr val="1A2E24"/>
                </a:solidFill>
                <a:latin typeface="Calibri" pitchFamily="34" charset="0"/>
                <a:ea typeface="Calibri" pitchFamily="34" charset="-122"/>
                <a:cs typeface="Calibri" pitchFamily="34" charset="-120"/>
              </a:rPr>
              <a:t>axios mirrors it into a header</a:t>
            </a:r>
            <a:endParaRPr lang="en-US" sz="1400" dirty="0"/>
          </a:p>
        </p:txBody>
      </p:sp>
      <p:sp>
        <p:nvSpPr>
          <p:cNvPr id="17" name="Text 15"/>
          <p:cNvSpPr txBox="1"/>
          <p:nvPr/>
        </p:nvSpPr>
        <p:spPr>
          <a:xfrm>
            <a:off x="7040880" y="3794760"/>
            <a:ext cx="4389120" cy="640080"/>
          </a:xfrm>
          <a:prstGeom prst="rect">
            <a:avLst/>
          </a:prstGeom>
          <a:noFill/>
          <a:ln/>
        </p:spPr>
        <p:txBody>
          <a:bodyPr wrap="square" lIns="0" tIns="0" rIns="0" bIns="0" rtlCol="0" anchor="ctr"/>
          <a:lstStyle/>
          <a:p>
            <a:pPr indent="0" marL="0">
              <a:buNone/>
            </a:pPr>
            <a:r>
              <a:rPr lang="en-US" sz="1150" dirty="0">
                <a:solidFill>
                  <a:srgbClr val="5C6F66"/>
                </a:solidFill>
                <a:latin typeface="Calibri" pitchFamily="34" charset="0"/>
                <a:ea typeface="Calibri" pitchFamily="34" charset="-122"/>
                <a:cs typeface="Calibri" pitchFamily="34" charset="-120"/>
              </a:rPr>
              <a:t>Its built-in xsrfCookieName support copies the cookie into X-XSRF-TOKEN on every mutating call.</a:t>
            </a:r>
            <a:endParaRPr lang="en-US" sz="1150" dirty="0"/>
          </a:p>
        </p:txBody>
      </p:sp>
      <p:sp>
        <p:nvSpPr>
          <p:cNvPr id="18" name="Shape 16"/>
          <p:cNvSpPr/>
          <p:nvPr/>
        </p:nvSpPr>
        <p:spPr>
          <a:xfrm>
            <a:off x="6172200" y="4745736"/>
            <a:ext cx="5440680" cy="1298448"/>
          </a:xfrm>
          <a:prstGeom prst="roundRect">
            <a:avLst>
              <a:gd name="adj" fmla="val 6338"/>
            </a:avLst>
          </a:prstGeom>
          <a:solidFill>
            <a:srgbClr val="FFFFFF"/>
          </a:solidFill>
          <a:ln/>
          <a:effectLst>
            <a:outerShdw sx="100000" sy="100000" kx="0" ky="0" algn="bl" rotWithShape="0" blurRad="76200" dist="25400" dir="5400000">
              <a:srgbClr val="0B3D2E">
                <a:alpha val="18000"/>
              </a:srgbClr>
            </a:outerShdw>
          </a:effectLst>
        </p:spPr>
      </p:sp>
      <p:sp>
        <p:nvSpPr>
          <p:cNvPr id="19" name="Shape 17"/>
          <p:cNvSpPr/>
          <p:nvPr/>
        </p:nvSpPr>
        <p:spPr>
          <a:xfrm>
            <a:off x="6400800" y="4946904"/>
            <a:ext cx="438912" cy="438912"/>
          </a:xfrm>
          <a:prstGeom prst="roundRect">
            <a:avLst>
              <a:gd name="adj" fmla="val 22000"/>
            </a:avLst>
          </a:prstGeom>
          <a:solidFill>
            <a:srgbClr val="0F6A44"/>
          </a:solidFill>
          <a:ln/>
        </p:spPr>
      </p:sp>
      <p:sp>
        <p:nvSpPr>
          <p:cNvPr id="20" name="Text 18"/>
          <p:cNvSpPr txBox="1"/>
          <p:nvPr/>
        </p:nvSpPr>
        <p:spPr>
          <a:xfrm>
            <a:off x="6400800" y="4928616"/>
            <a:ext cx="438912" cy="438912"/>
          </a:xfrm>
          <a:prstGeom prst="rect">
            <a:avLst/>
          </a:prstGeom>
          <a:noFill/>
          <a:ln/>
        </p:spPr>
        <p:txBody>
          <a:bodyPr wrap="square" lIns="0" tIns="0" rIns="0" bIns="0" rtlCol="0" anchor="ctr"/>
          <a:lstStyle/>
          <a:p>
            <a:pPr algn="ctr" indent="0" marL="0">
              <a:buNone/>
            </a:pPr>
            <a:r>
              <a:rPr lang="en-US" sz="1536" b="1" dirty="0">
                <a:solidFill>
                  <a:srgbClr val="FFFFFF"/>
                </a:solidFill>
                <a:latin typeface="Calibri" pitchFamily="34" charset="0"/>
                <a:ea typeface="Calibri" pitchFamily="34" charset="-122"/>
                <a:cs typeface="Calibri" pitchFamily="34" charset="-120"/>
              </a:rPr>
              <a:t>3</a:t>
            </a:r>
            <a:endParaRPr lang="en-US" sz="1536" dirty="0"/>
          </a:p>
        </p:txBody>
      </p:sp>
      <p:sp>
        <p:nvSpPr>
          <p:cNvPr id="21" name="Text 19"/>
          <p:cNvSpPr txBox="1"/>
          <p:nvPr/>
        </p:nvSpPr>
        <p:spPr>
          <a:xfrm>
            <a:off x="7040880" y="4928616"/>
            <a:ext cx="4389120" cy="320040"/>
          </a:xfrm>
          <a:prstGeom prst="rect">
            <a:avLst/>
          </a:prstGeom>
          <a:noFill/>
          <a:ln/>
        </p:spPr>
        <p:txBody>
          <a:bodyPr wrap="square" lIns="0" tIns="0" rIns="0" bIns="0" rtlCol="0" anchor="ctr"/>
          <a:lstStyle/>
          <a:p>
            <a:pPr indent="0" marL="0">
              <a:buNone/>
            </a:pPr>
            <a:r>
              <a:rPr lang="en-US" sz="1400" b="1" dirty="0">
                <a:solidFill>
                  <a:srgbClr val="1A2E24"/>
                </a:solidFill>
                <a:latin typeface="Calibri" pitchFamily="34" charset="0"/>
                <a:ea typeface="Calibri" pitchFamily="34" charset="-122"/>
                <a:cs typeface="Calibri" pitchFamily="34" charset="-120"/>
              </a:rPr>
              <a:t>Spring compares the two</a:t>
            </a:r>
            <a:endParaRPr lang="en-US" sz="1400" dirty="0"/>
          </a:p>
        </p:txBody>
      </p:sp>
      <p:sp>
        <p:nvSpPr>
          <p:cNvPr id="22" name="Text 20"/>
          <p:cNvSpPr txBox="1"/>
          <p:nvPr/>
        </p:nvSpPr>
        <p:spPr>
          <a:xfrm>
            <a:off x="7040880" y="5276088"/>
            <a:ext cx="4389120" cy="640080"/>
          </a:xfrm>
          <a:prstGeom prst="rect">
            <a:avLst/>
          </a:prstGeom>
          <a:noFill/>
          <a:ln/>
        </p:spPr>
        <p:txBody>
          <a:bodyPr wrap="square" lIns="0" tIns="0" rIns="0" bIns="0" rtlCol="0" anchor="ctr"/>
          <a:lstStyle/>
          <a:p>
            <a:pPr indent="0" marL="0">
              <a:buNone/>
            </a:pPr>
            <a:r>
              <a:rPr lang="en-US" sz="1150" dirty="0">
                <a:solidFill>
                  <a:srgbClr val="5C6F66"/>
                </a:solidFill>
                <a:latin typeface="Calibri" pitchFamily="34" charset="0"/>
                <a:ea typeface="Calibri" pitchFamily="34" charset="-122"/>
                <a:cs typeface="Calibri" pitchFamily="34" charset="-120"/>
              </a:rPr>
              <a:t>Cookie value and header value must match, or the request is rejected with a 403.</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ctr"/>
          <a:lstStyle/>
          <a:p>
            <a:pPr indent="0" marL="0">
              <a:buNone/>
            </a:pPr>
            <a:r>
              <a:rPr lang="en-US" sz="1200" b="1" spc="300" kern="0" dirty="0">
                <a:solidFill>
                  <a:srgbClr val="248257"/>
                </a:solidFill>
                <a:latin typeface="Calibri" pitchFamily="34" charset="0"/>
                <a:ea typeface="Calibri" pitchFamily="34" charset="-122"/>
                <a:cs typeface="Calibri" pitchFamily="34" charset="-120"/>
              </a:rPr>
              <a:t>WHO MAY DO WHAT</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A2E24"/>
                </a:solidFill>
                <a:latin typeface="Calibri" pitchFamily="34" charset="0"/>
                <a:ea typeface="Calibri" pitchFamily="34" charset="-122"/>
                <a:cs typeface="Calibri" pitchFamily="34" charset="-120"/>
              </a:rPr>
              <a:t>Keycloak roles become Spring authorities</a:t>
            </a:r>
            <a:endParaRPr lang="en-US" sz="3000" dirty="0"/>
          </a:p>
        </p:txBody>
      </p:sp>
      <p:sp>
        <p:nvSpPr>
          <p:cNvPr id="4" name="Shape 2"/>
          <p:cNvSpPr/>
          <p:nvPr/>
        </p:nvSpPr>
        <p:spPr>
          <a:xfrm>
            <a:off x="548640" y="1600200"/>
            <a:ext cx="2121408" cy="566928"/>
          </a:xfrm>
          <a:prstGeom prst="roundRect">
            <a:avLst>
              <a:gd name="adj" fmla="val 12903"/>
            </a:avLst>
          </a:prstGeom>
          <a:solidFill>
            <a:srgbClr val="EDF6F1"/>
          </a:solidFill>
          <a:ln w="12700">
            <a:solidFill>
              <a:srgbClr val="CFE3D7"/>
            </a:solidFill>
            <a:prstDash val="solid"/>
          </a:ln>
        </p:spPr>
      </p:sp>
      <p:sp>
        <p:nvSpPr>
          <p:cNvPr id="5" name="Text 3"/>
          <p:cNvSpPr txBox="1"/>
          <p:nvPr/>
        </p:nvSpPr>
        <p:spPr>
          <a:xfrm>
            <a:off x="548640" y="1600200"/>
            <a:ext cx="2121408" cy="566928"/>
          </a:xfrm>
          <a:prstGeom prst="rect">
            <a:avLst/>
          </a:prstGeom>
          <a:noFill/>
          <a:ln/>
        </p:spPr>
        <p:txBody>
          <a:bodyPr wrap="square" lIns="381" tIns="381" rIns="381" bIns="381" rtlCol="0" anchor="ctr"/>
          <a:lstStyle/>
          <a:p>
            <a:pPr algn="ctr" indent="0" marL="0">
              <a:buNone/>
            </a:pPr>
            <a:r>
              <a:rPr lang="en-US" sz="1150" b="1" dirty="0">
                <a:solidFill>
                  <a:srgbClr val="1A2E24"/>
                </a:solidFill>
                <a:latin typeface="Calibri" pitchFamily="34" charset="0"/>
                <a:ea typeface="Calibri" pitchFamily="34" charset="-122"/>
                <a:cs typeface="Calibri" pitchFamily="34" charset="-120"/>
              </a:rPr>
              <a:t>Keycloak client roles</a:t>
            </a:r>
            <a:endParaRPr lang="en-US" sz="1150" dirty="0"/>
          </a:p>
        </p:txBody>
      </p:sp>
      <p:sp>
        <p:nvSpPr>
          <p:cNvPr id="6" name="Shape 4"/>
          <p:cNvSpPr/>
          <p:nvPr/>
        </p:nvSpPr>
        <p:spPr>
          <a:xfrm>
            <a:off x="2679192" y="1883664"/>
            <a:ext cx="91440" cy="0"/>
          </a:xfrm>
          <a:prstGeom prst="line">
            <a:avLst/>
          </a:prstGeom>
          <a:noFill/>
          <a:ln w="28575">
            <a:solidFill>
              <a:srgbClr val="248257"/>
            </a:solidFill>
            <a:prstDash val="solid"/>
            <a:tailEnd type="triangle"/>
          </a:ln>
        </p:spPr>
      </p:sp>
      <p:sp>
        <p:nvSpPr>
          <p:cNvPr id="7" name="Shape 5"/>
          <p:cNvSpPr/>
          <p:nvPr/>
        </p:nvSpPr>
        <p:spPr>
          <a:xfrm>
            <a:off x="2788920" y="1600200"/>
            <a:ext cx="2121408" cy="566928"/>
          </a:xfrm>
          <a:prstGeom prst="roundRect">
            <a:avLst>
              <a:gd name="adj" fmla="val 12903"/>
            </a:avLst>
          </a:prstGeom>
          <a:solidFill>
            <a:srgbClr val="EDF6F1"/>
          </a:solidFill>
          <a:ln w="12700">
            <a:solidFill>
              <a:srgbClr val="CFE3D7"/>
            </a:solidFill>
            <a:prstDash val="solid"/>
          </a:ln>
        </p:spPr>
      </p:sp>
      <p:sp>
        <p:nvSpPr>
          <p:cNvPr id="8" name="Text 6"/>
          <p:cNvSpPr txBox="1"/>
          <p:nvPr/>
        </p:nvSpPr>
        <p:spPr>
          <a:xfrm>
            <a:off x="2788920" y="1600200"/>
            <a:ext cx="2121408" cy="566928"/>
          </a:xfrm>
          <a:prstGeom prst="rect">
            <a:avLst/>
          </a:prstGeom>
          <a:noFill/>
          <a:ln/>
        </p:spPr>
        <p:txBody>
          <a:bodyPr wrap="square" lIns="381" tIns="381" rIns="381" bIns="381" rtlCol="0" anchor="ctr"/>
          <a:lstStyle/>
          <a:p>
            <a:pPr algn="ctr" indent="0" marL="0">
              <a:buNone/>
            </a:pPr>
            <a:r>
              <a:rPr lang="en-US" sz="1150" b="1" dirty="0">
                <a:solidFill>
                  <a:srgbClr val="1A2E24"/>
                </a:solidFill>
                <a:latin typeface="Calibri" pitchFamily="34" charset="0"/>
                <a:ea typeface="Calibri" pitchFamily="34" charset="-122"/>
                <a:cs typeface="Calibri" pitchFamily="34" charset="-120"/>
              </a:rPr>
              <a:t>ID token claim</a:t>
            </a:r>
            <a:endParaRPr lang="en-US" sz="1150" dirty="0"/>
          </a:p>
        </p:txBody>
      </p:sp>
      <p:sp>
        <p:nvSpPr>
          <p:cNvPr id="9" name="Shape 7"/>
          <p:cNvSpPr/>
          <p:nvPr/>
        </p:nvSpPr>
        <p:spPr>
          <a:xfrm>
            <a:off x="4919472" y="1883664"/>
            <a:ext cx="91440" cy="0"/>
          </a:xfrm>
          <a:prstGeom prst="line">
            <a:avLst/>
          </a:prstGeom>
          <a:noFill/>
          <a:ln w="28575">
            <a:solidFill>
              <a:srgbClr val="248257"/>
            </a:solidFill>
            <a:prstDash val="solid"/>
            <a:tailEnd type="triangle"/>
          </a:ln>
        </p:spPr>
      </p:sp>
      <p:sp>
        <p:nvSpPr>
          <p:cNvPr id="10" name="Shape 8"/>
          <p:cNvSpPr/>
          <p:nvPr/>
        </p:nvSpPr>
        <p:spPr>
          <a:xfrm>
            <a:off x="5029200" y="1600200"/>
            <a:ext cx="2121408" cy="566928"/>
          </a:xfrm>
          <a:prstGeom prst="roundRect">
            <a:avLst>
              <a:gd name="adj" fmla="val 12903"/>
            </a:avLst>
          </a:prstGeom>
          <a:solidFill>
            <a:srgbClr val="EDF6F1"/>
          </a:solidFill>
          <a:ln w="12700">
            <a:solidFill>
              <a:srgbClr val="CFE3D7"/>
            </a:solidFill>
            <a:prstDash val="solid"/>
          </a:ln>
        </p:spPr>
      </p:sp>
      <p:sp>
        <p:nvSpPr>
          <p:cNvPr id="11" name="Text 9"/>
          <p:cNvSpPr txBox="1"/>
          <p:nvPr/>
        </p:nvSpPr>
        <p:spPr>
          <a:xfrm>
            <a:off x="5029200" y="1600200"/>
            <a:ext cx="2121408" cy="566928"/>
          </a:xfrm>
          <a:prstGeom prst="rect">
            <a:avLst/>
          </a:prstGeom>
          <a:noFill/>
          <a:ln/>
        </p:spPr>
        <p:txBody>
          <a:bodyPr wrap="square" lIns="381" tIns="381" rIns="381" bIns="381" rtlCol="0" anchor="ctr"/>
          <a:lstStyle/>
          <a:p>
            <a:pPr algn="ctr" indent="0" marL="0">
              <a:buNone/>
            </a:pPr>
            <a:r>
              <a:rPr lang="en-US" sz="1150" b="1" dirty="0">
                <a:solidFill>
                  <a:srgbClr val="1A2E24"/>
                </a:solidFill>
                <a:latin typeface="Calibri" pitchFamily="34" charset="0"/>
                <a:ea typeface="Calibri" pitchFamily="34" charset="-122"/>
                <a:cs typeface="Calibri" pitchFamily="34" charset="-120"/>
              </a:rPr>
              <a:t>GrantedAuthoritiesMapper</a:t>
            </a:r>
            <a:endParaRPr lang="en-US" sz="1150" dirty="0"/>
          </a:p>
        </p:txBody>
      </p:sp>
      <p:sp>
        <p:nvSpPr>
          <p:cNvPr id="12" name="Shape 10"/>
          <p:cNvSpPr/>
          <p:nvPr/>
        </p:nvSpPr>
        <p:spPr>
          <a:xfrm>
            <a:off x="7159752" y="1883664"/>
            <a:ext cx="91440" cy="0"/>
          </a:xfrm>
          <a:prstGeom prst="line">
            <a:avLst/>
          </a:prstGeom>
          <a:noFill/>
          <a:ln w="28575">
            <a:solidFill>
              <a:srgbClr val="248257"/>
            </a:solidFill>
            <a:prstDash val="solid"/>
            <a:tailEnd type="triangle"/>
          </a:ln>
        </p:spPr>
      </p:sp>
      <p:sp>
        <p:nvSpPr>
          <p:cNvPr id="13" name="Shape 11"/>
          <p:cNvSpPr/>
          <p:nvPr/>
        </p:nvSpPr>
        <p:spPr>
          <a:xfrm>
            <a:off x="7269480" y="1600200"/>
            <a:ext cx="2121408" cy="566928"/>
          </a:xfrm>
          <a:prstGeom prst="roundRect">
            <a:avLst>
              <a:gd name="adj" fmla="val 12903"/>
            </a:avLst>
          </a:prstGeom>
          <a:solidFill>
            <a:srgbClr val="EDF6F1"/>
          </a:solidFill>
          <a:ln w="12700">
            <a:solidFill>
              <a:srgbClr val="CFE3D7"/>
            </a:solidFill>
            <a:prstDash val="solid"/>
          </a:ln>
        </p:spPr>
      </p:sp>
      <p:sp>
        <p:nvSpPr>
          <p:cNvPr id="14" name="Text 12"/>
          <p:cNvSpPr txBox="1"/>
          <p:nvPr/>
        </p:nvSpPr>
        <p:spPr>
          <a:xfrm>
            <a:off x="7269480" y="1600200"/>
            <a:ext cx="2121408" cy="566928"/>
          </a:xfrm>
          <a:prstGeom prst="rect">
            <a:avLst/>
          </a:prstGeom>
          <a:noFill/>
          <a:ln/>
        </p:spPr>
        <p:txBody>
          <a:bodyPr wrap="square" lIns="381" tIns="381" rIns="381" bIns="381" rtlCol="0" anchor="ctr"/>
          <a:lstStyle/>
          <a:p>
            <a:pPr algn="ctr" indent="0" marL="0">
              <a:buNone/>
            </a:pPr>
            <a:r>
              <a:rPr lang="en-US" sz="1150" b="1" dirty="0">
                <a:solidFill>
                  <a:srgbClr val="1A2E24"/>
                </a:solidFill>
                <a:latin typeface="Calibri" pitchFamily="34" charset="0"/>
                <a:ea typeface="Calibri" pitchFamily="34" charset="-122"/>
                <a:cs typeface="Calibri" pitchFamily="34" charset="-120"/>
              </a:rPr>
              <a:t>ROLE_* authorities</a:t>
            </a:r>
            <a:endParaRPr lang="en-US" sz="1150" dirty="0"/>
          </a:p>
        </p:txBody>
      </p:sp>
      <p:sp>
        <p:nvSpPr>
          <p:cNvPr id="15" name="Shape 13"/>
          <p:cNvSpPr/>
          <p:nvPr/>
        </p:nvSpPr>
        <p:spPr>
          <a:xfrm>
            <a:off x="9400032" y="1883664"/>
            <a:ext cx="91440" cy="0"/>
          </a:xfrm>
          <a:prstGeom prst="line">
            <a:avLst/>
          </a:prstGeom>
          <a:noFill/>
          <a:ln w="28575">
            <a:solidFill>
              <a:srgbClr val="248257"/>
            </a:solidFill>
            <a:prstDash val="solid"/>
            <a:tailEnd type="triangle"/>
          </a:ln>
        </p:spPr>
      </p:sp>
      <p:sp>
        <p:nvSpPr>
          <p:cNvPr id="16" name="Shape 14"/>
          <p:cNvSpPr/>
          <p:nvPr/>
        </p:nvSpPr>
        <p:spPr>
          <a:xfrm>
            <a:off x="9509760" y="1600200"/>
            <a:ext cx="2121408" cy="566928"/>
          </a:xfrm>
          <a:prstGeom prst="roundRect">
            <a:avLst>
              <a:gd name="adj" fmla="val 12903"/>
            </a:avLst>
          </a:prstGeom>
          <a:solidFill>
            <a:srgbClr val="0F6A44"/>
          </a:solidFill>
          <a:ln/>
        </p:spPr>
      </p:sp>
      <p:sp>
        <p:nvSpPr>
          <p:cNvPr id="17" name="Text 15"/>
          <p:cNvSpPr txBox="1"/>
          <p:nvPr/>
        </p:nvSpPr>
        <p:spPr>
          <a:xfrm>
            <a:off x="9509760" y="1600200"/>
            <a:ext cx="2121408" cy="566928"/>
          </a:xfrm>
          <a:prstGeom prst="rect">
            <a:avLst/>
          </a:prstGeom>
          <a:noFill/>
          <a:ln/>
        </p:spPr>
        <p:txBody>
          <a:bodyPr wrap="square" lIns="381" tIns="381" rIns="381" bIns="381"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@PreAuthorize</a:t>
            </a:r>
            <a:endParaRPr lang="en-US" sz="1150" dirty="0"/>
          </a:p>
        </p:txBody>
      </p:sp>
      <p:sp>
        <p:nvSpPr>
          <p:cNvPr id="18" name="Text 16"/>
          <p:cNvSpPr txBox="1"/>
          <p:nvPr/>
        </p:nvSpPr>
        <p:spPr>
          <a:xfrm>
            <a:off x="868680" y="2514600"/>
            <a:ext cx="2194560" cy="274320"/>
          </a:xfrm>
          <a:prstGeom prst="rect">
            <a:avLst/>
          </a:prstGeom>
          <a:noFill/>
          <a:ln/>
        </p:spPr>
        <p:txBody>
          <a:bodyPr wrap="square" lIns="0" tIns="0" rIns="0" bIns="0" rtlCol="0" anchor="ctr"/>
          <a:lstStyle/>
          <a:p>
            <a:pPr indent="0" marL="0">
              <a:buNone/>
            </a:pPr>
            <a:r>
              <a:rPr lang="en-US" sz="1100" b="1" spc="200" kern="0" dirty="0">
                <a:solidFill>
                  <a:srgbClr val="248257"/>
                </a:solidFill>
                <a:latin typeface="Calibri" pitchFamily="34" charset="0"/>
                <a:ea typeface="Calibri" pitchFamily="34" charset="-122"/>
                <a:cs typeface="Calibri" pitchFamily="34" charset="-120"/>
              </a:rPr>
              <a:t>ROLE</a:t>
            </a:r>
            <a:endParaRPr lang="en-US" sz="1100" dirty="0"/>
          </a:p>
        </p:txBody>
      </p:sp>
      <p:sp>
        <p:nvSpPr>
          <p:cNvPr id="19" name="Text 17"/>
          <p:cNvSpPr txBox="1"/>
          <p:nvPr/>
        </p:nvSpPr>
        <p:spPr>
          <a:xfrm>
            <a:off x="3291840" y="2514600"/>
            <a:ext cx="4754880" cy="274320"/>
          </a:xfrm>
          <a:prstGeom prst="rect">
            <a:avLst/>
          </a:prstGeom>
          <a:noFill/>
          <a:ln/>
        </p:spPr>
        <p:txBody>
          <a:bodyPr wrap="square" lIns="0" tIns="0" rIns="0" bIns="0" rtlCol="0" anchor="ctr"/>
          <a:lstStyle/>
          <a:p>
            <a:pPr indent="0" marL="0">
              <a:buNone/>
            </a:pPr>
            <a:r>
              <a:rPr lang="en-US" sz="1100" b="1" spc="200" kern="0" dirty="0">
                <a:solidFill>
                  <a:srgbClr val="248257"/>
                </a:solidFill>
                <a:latin typeface="Calibri" pitchFamily="34" charset="0"/>
                <a:ea typeface="Calibri" pitchFamily="34" charset="-122"/>
                <a:cs typeface="Calibri" pitchFamily="34" charset="-120"/>
              </a:rPr>
              <a:t>GRANTS</a:t>
            </a:r>
            <a:endParaRPr lang="en-US" sz="1100" dirty="0"/>
          </a:p>
        </p:txBody>
      </p:sp>
      <p:sp>
        <p:nvSpPr>
          <p:cNvPr id="20" name="Text 18"/>
          <p:cNvSpPr txBox="1"/>
          <p:nvPr/>
        </p:nvSpPr>
        <p:spPr>
          <a:xfrm>
            <a:off x="8229600" y="2514600"/>
            <a:ext cx="1463040" cy="274320"/>
          </a:xfrm>
          <a:prstGeom prst="rect">
            <a:avLst/>
          </a:prstGeom>
          <a:noFill/>
          <a:ln/>
        </p:spPr>
        <p:txBody>
          <a:bodyPr wrap="square" lIns="0" tIns="0" rIns="0" bIns="0" rtlCol="0" anchor="ctr"/>
          <a:lstStyle/>
          <a:p>
            <a:pPr indent="0" marL="0">
              <a:buNone/>
            </a:pPr>
            <a:r>
              <a:rPr lang="en-US" sz="1100" b="1" spc="200" kern="0" dirty="0">
                <a:solidFill>
                  <a:srgbClr val="248257"/>
                </a:solidFill>
                <a:latin typeface="Calibri" pitchFamily="34" charset="0"/>
                <a:ea typeface="Calibri" pitchFamily="34" charset="-122"/>
                <a:cs typeface="Calibri" pitchFamily="34" charset="-120"/>
              </a:rPr>
              <a:t>TIER</a:t>
            </a:r>
            <a:endParaRPr lang="en-US" sz="1100" dirty="0"/>
          </a:p>
        </p:txBody>
      </p:sp>
      <p:sp>
        <p:nvSpPr>
          <p:cNvPr id="21" name="Shape 19"/>
          <p:cNvSpPr/>
          <p:nvPr/>
        </p:nvSpPr>
        <p:spPr>
          <a:xfrm>
            <a:off x="548640" y="2862072"/>
            <a:ext cx="9464040" cy="475488"/>
          </a:xfrm>
          <a:prstGeom prst="roundRect">
            <a:avLst>
              <a:gd name="adj" fmla="val 17308"/>
            </a:avLst>
          </a:prstGeom>
          <a:solidFill>
            <a:srgbClr val="EDF6F1"/>
          </a:solidFill>
          <a:ln w="12700">
            <a:solidFill>
              <a:srgbClr val="CFE3D7"/>
            </a:solidFill>
            <a:prstDash val="solid"/>
          </a:ln>
        </p:spPr>
      </p:sp>
      <p:sp>
        <p:nvSpPr>
          <p:cNvPr id="22" name="Text 20"/>
          <p:cNvSpPr txBox="1"/>
          <p:nvPr/>
        </p:nvSpPr>
        <p:spPr>
          <a:xfrm>
            <a:off x="868680" y="2880360"/>
            <a:ext cx="2286000" cy="438912"/>
          </a:xfrm>
          <a:prstGeom prst="rect">
            <a:avLst/>
          </a:prstGeom>
          <a:noFill/>
          <a:ln/>
        </p:spPr>
        <p:txBody>
          <a:bodyPr wrap="square" lIns="0" tIns="0" rIns="0" bIns="0" rtlCol="0" anchor="ctr"/>
          <a:lstStyle/>
          <a:p>
            <a:pPr indent="0" marL="0">
              <a:buNone/>
            </a:pPr>
            <a:r>
              <a:rPr lang="en-US" sz="1250" b="1" dirty="0">
                <a:solidFill>
                  <a:srgbClr val="1A2E24"/>
                </a:solidFill>
                <a:latin typeface="Calibri" pitchFamily="34" charset="0"/>
                <a:ea typeface="Calibri" pitchFamily="34" charset="-122"/>
                <a:cs typeface="Calibri" pitchFamily="34" charset="-120"/>
              </a:rPr>
              <a:t>Viewer</a:t>
            </a:r>
            <a:endParaRPr lang="en-US" sz="1250" dirty="0"/>
          </a:p>
        </p:txBody>
      </p:sp>
      <p:sp>
        <p:nvSpPr>
          <p:cNvPr id="23" name="Text 21"/>
          <p:cNvSpPr txBox="1"/>
          <p:nvPr/>
        </p:nvSpPr>
        <p:spPr>
          <a:xfrm>
            <a:off x="3291840" y="2880360"/>
            <a:ext cx="4846320" cy="438912"/>
          </a:xfrm>
          <a:prstGeom prst="rect">
            <a:avLst/>
          </a:prstGeom>
          <a:noFill/>
          <a:ln/>
        </p:spPr>
        <p:txBody>
          <a:bodyPr wrap="square" lIns="0" tIns="0" rIns="0" bIns="0" rtlCol="0" anchor="ctr"/>
          <a:lstStyle/>
          <a:p>
            <a:pPr indent="0" marL="0">
              <a:buNone/>
            </a:pPr>
            <a:r>
              <a:rPr lang="en-US" sz="1200" dirty="0">
                <a:solidFill>
                  <a:srgbClr val="5C6F66"/>
                </a:solidFill>
                <a:latin typeface="Calibri" pitchFamily="34" charset="0"/>
                <a:ea typeface="Calibri" pitchFamily="34" charset="-122"/>
                <a:cs typeface="Calibri" pitchFamily="34" charset="-120"/>
              </a:rPr>
              <a:t>Read every list and record</a:t>
            </a:r>
            <a:endParaRPr lang="en-US" sz="1200" dirty="0"/>
          </a:p>
        </p:txBody>
      </p:sp>
      <p:sp>
        <p:nvSpPr>
          <p:cNvPr id="24" name="Text 22"/>
          <p:cNvSpPr txBox="1"/>
          <p:nvPr/>
        </p:nvSpPr>
        <p:spPr>
          <a:xfrm>
            <a:off x="8229600" y="2880360"/>
            <a:ext cx="1645920" cy="438912"/>
          </a:xfrm>
          <a:prstGeom prst="rect">
            <a:avLst/>
          </a:prstGeom>
          <a:noFill/>
          <a:ln/>
        </p:spPr>
        <p:txBody>
          <a:bodyPr wrap="square" lIns="0" tIns="0" rIns="0" bIns="0" rtlCol="0" anchor="ctr"/>
          <a:lstStyle/>
          <a:p>
            <a:pPr indent="0" marL="0">
              <a:buNone/>
            </a:pPr>
            <a:r>
              <a:rPr lang="en-US" sz="1150" b="1" dirty="0">
                <a:solidFill>
                  <a:srgbClr val="248257"/>
                </a:solidFill>
                <a:latin typeface="Calibri" pitchFamily="34" charset="0"/>
                <a:ea typeface="Calibri" pitchFamily="34" charset="-122"/>
                <a:cs typeface="Calibri" pitchFamily="34" charset="-120"/>
              </a:rPr>
              <a:t>CRUD tier</a:t>
            </a:r>
            <a:endParaRPr lang="en-US" sz="1150" dirty="0"/>
          </a:p>
        </p:txBody>
      </p:sp>
      <p:sp>
        <p:nvSpPr>
          <p:cNvPr id="25" name="Shape 23"/>
          <p:cNvSpPr/>
          <p:nvPr/>
        </p:nvSpPr>
        <p:spPr>
          <a:xfrm>
            <a:off x="548640" y="3429000"/>
            <a:ext cx="9464040" cy="475488"/>
          </a:xfrm>
          <a:prstGeom prst="roundRect">
            <a:avLst>
              <a:gd name="adj" fmla="val 17308"/>
            </a:avLst>
          </a:prstGeom>
          <a:solidFill>
            <a:srgbClr val="EDF6F1"/>
          </a:solidFill>
          <a:ln w="12700">
            <a:solidFill>
              <a:srgbClr val="CFE3D7"/>
            </a:solidFill>
            <a:prstDash val="solid"/>
          </a:ln>
        </p:spPr>
      </p:sp>
      <p:sp>
        <p:nvSpPr>
          <p:cNvPr id="26" name="Text 24"/>
          <p:cNvSpPr txBox="1"/>
          <p:nvPr/>
        </p:nvSpPr>
        <p:spPr>
          <a:xfrm>
            <a:off x="868680" y="3447288"/>
            <a:ext cx="2286000" cy="438912"/>
          </a:xfrm>
          <a:prstGeom prst="rect">
            <a:avLst/>
          </a:prstGeom>
          <a:noFill/>
          <a:ln/>
        </p:spPr>
        <p:txBody>
          <a:bodyPr wrap="square" lIns="0" tIns="0" rIns="0" bIns="0" rtlCol="0" anchor="ctr"/>
          <a:lstStyle/>
          <a:p>
            <a:pPr indent="0" marL="0">
              <a:buNone/>
            </a:pPr>
            <a:r>
              <a:rPr lang="en-US" sz="1250" b="1" dirty="0">
                <a:solidFill>
                  <a:srgbClr val="1A2E24"/>
                </a:solidFill>
                <a:latin typeface="Calibri" pitchFamily="34" charset="0"/>
                <a:ea typeface="Calibri" pitchFamily="34" charset="-122"/>
                <a:cs typeface="Calibri" pitchFamily="34" charset="-120"/>
              </a:rPr>
              <a:t>Inspector</a:t>
            </a:r>
            <a:endParaRPr lang="en-US" sz="1250" dirty="0"/>
          </a:p>
        </p:txBody>
      </p:sp>
      <p:sp>
        <p:nvSpPr>
          <p:cNvPr id="27" name="Text 25"/>
          <p:cNvSpPr txBox="1"/>
          <p:nvPr/>
        </p:nvSpPr>
        <p:spPr>
          <a:xfrm>
            <a:off x="3291840" y="3447288"/>
            <a:ext cx="4846320" cy="438912"/>
          </a:xfrm>
          <a:prstGeom prst="rect">
            <a:avLst/>
          </a:prstGeom>
          <a:noFill/>
          <a:ln/>
        </p:spPr>
        <p:txBody>
          <a:bodyPr wrap="square" lIns="0" tIns="0" rIns="0" bIns="0" rtlCol="0" anchor="ctr"/>
          <a:lstStyle/>
          <a:p>
            <a:pPr indent="0" marL="0">
              <a:buNone/>
            </a:pPr>
            <a:r>
              <a:rPr lang="en-US" sz="1200" dirty="0">
                <a:solidFill>
                  <a:srgbClr val="5C6F66"/>
                </a:solidFill>
                <a:latin typeface="Calibri" pitchFamily="34" charset="0"/>
                <a:ea typeface="Calibri" pitchFamily="34" charset="-122"/>
                <a:cs typeface="Calibri" pitchFamily="34" charset="-120"/>
              </a:rPr>
              <a:t>Create and complete inspections</a:t>
            </a:r>
            <a:endParaRPr lang="en-US" sz="1200" dirty="0"/>
          </a:p>
        </p:txBody>
      </p:sp>
      <p:sp>
        <p:nvSpPr>
          <p:cNvPr id="28" name="Text 26"/>
          <p:cNvSpPr txBox="1"/>
          <p:nvPr/>
        </p:nvSpPr>
        <p:spPr>
          <a:xfrm>
            <a:off x="8229600" y="3447288"/>
            <a:ext cx="1645920" cy="438912"/>
          </a:xfrm>
          <a:prstGeom prst="rect">
            <a:avLst/>
          </a:prstGeom>
          <a:noFill/>
          <a:ln/>
        </p:spPr>
        <p:txBody>
          <a:bodyPr wrap="square" lIns="0" tIns="0" rIns="0" bIns="0" rtlCol="0" anchor="ctr"/>
          <a:lstStyle/>
          <a:p>
            <a:pPr indent="0" marL="0">
              <a:buNone/>
            </a:pPr>
            <a:r>
              <a:rPr lang="en-US" sz="1150" b="1" dirty="0">
                <a:solidFill>
                  <a:srgbClr val="248257"/>
                </a:solidFill>
                <a:latin typeface="Calibri" pitchFamily="34" charset="0"/>
                <a:ea typeface="Calibri" pitchFamily="34" charset="-122"/>
                <a:cs typeface="Calibri" pitchFamily="34" charset="-120"/>
              </a:rPr>
              <a:t>CRUD tier</a:t>
            </a:r>
            <a:endParaRPr lang="en-US" sz="1150" dirty="0"/>
          </a:p>
        </p:txBody>
      </p:sp>
      <p:sp>
        <p:nvSpPr>
          <p:cNvPr id="29" name="Shape 27"/>
          <p:cNvSpPr/>
          <p:nvPr/>
        </p:nvSpPr>
        <p:spPr>
          <a:xfrm>
            <a:off x="548640" y="3995928"/>
            <a:ext cx="9464040" cy="475488"/>
          </a:xfrm>
          <a:prstGeom prst="roundRect">
            <a:avLst>
              <a:gd name="adj" fmla="val 17308"/>
            </a:avLst>
          </a:prstGeom>
          <a:solidFill>
            <a:srgbClr val="EDF6F1"/>
          </a:solidFill>
          <a:ln w="12700">
            <a:solidFill>
              <a:srgbClr val="CFE3D7"/>
            </a:solidFill>
            <a:prstDash val="solid"/>
          </a:ln>
        </p:spPr>
      </p:sp>
      <p:sp>
        <p:nvSpPr>
          <p:cNvPr id="30" name="Text 28"/>
          <p:cNvSpPr txBox="1"/>
          <p:nvPr/>
        </p:nvSpPr>
        <p:spPr>
          <a:xfrm>
            <a:off x="868680" y="4014216"/>
            <a:ext cx="2286000" cy="438912"/>
          </a:xfrm>
          <a:prstGeom prst="rect">
            <a:avLst/>
          </a:prstGeom>
          <a:noFill/>
          <a:ln/>
        </p:spPr>
        <p:txBody>
          <a:bodyPr wrap="square" lIns="0" tIns="0" rIns="0" bIns="0" rtlCol="0" anchor="ctr"/>
          <a:lstStyle/>
          <a:p>
            <a:pPr indent="0" marL="0">
              <a:buNone/>
            </a:pPr>
            <a:r>
              <a:rPr lang="en-US" sz="1250" b="1" dirty="0">
                <a:solidFill>
                  <a:srgbClr val="1A2E24"/>
                </a:solidFill>
                <a:latin typeface="Calibri" pitchFamily="34" charset="0"/>
                <a:ea typeface="Calibri" pitchFamily="34" charset="-122"/>
                <a:cs typeface="Calibri" pitchFamily="34" charset="-120"/>
              </a:rPr>
              <a:t>Data Manager</a:t>
            </a:r>
            <a:endParaRPr lang="en-US" sz="1250" dirty="0"/>
          </a:p>
        </p:txBody>
      </p:sp>
      <p:sp>
        <p:nvSpPr>
          <p:cNvPr id="31" name="Text 29"/>
          <p:cNvSpPr txBox="1"/>
          <p:nvPr/>
        </p:nvSpPr>
        <p:spPr>
          <a:xfrm>
            <a:off x="3291840" y="4014216"/>
            <a:ext cx="4846320" cy="438912"/>
          </a:xfrm>
          <a:prstGeom prst="rect">
            <a:avLst/>
          </a:prstGeom>
          <a:noFill/>
          <a:ln/>
        </p:spPr>
        <p:txBody>
          <a:bodyPr wrap="square" lIns="0" tIns="0" rIns="0" bIns="0" rtlCol="0" anchor="ctr"/>
          <a:lstStyle/>
          <a:p>
            <a:pPr indent="0" marL="0">
              <a:buNone/>
            </a:pPr>
            <a:r>
              <a:rPr lang="en-US" sz="1200" dirty="0">
                <a:solidFill>
                  <a:srgbClr val="5C6F66"/>
                </a:solidFill>
                <a:latin typeface="Calibri" pitchFamily="34" charset="0"/>
                <a:ea typeface="Calibri" pitchFamily="34" charset="-122"/>
                <a:cs typeface="Calibri" pitchFamily="34" charset="-120"/>
              </a:rPr>
              <a:t>Import data, manage facilities &amp; permits</a:t>
            </a:r>
            <a:endParaRPr lang="en-US" sz="1200" dirty="0"/>
          </a:p>
        </p:txBody>
      </p:sp>
      <p:sp>
        <p:nvSpPr>
          <p:cNvPr id="32" name="Text 30"/>
          <p:cNvSpPr txBox="1"/>
          <p:nvPr/>
        </p:nvSpPr>
        <p:spPr>
          <a:xfrm>
            <a:off x="8229600" y="4014216"/>
            <a:ext cx="1645920" cy="438912"/>
          </a:xfrm>
          <a:prstGeom prst="rect">
            <a:avLst/>
          </a:prstGeom>
          <a:noFill/>
          <a:ln/>
        </p:spPr>
        <p:txBody>
          <a:bodyPr wrap="square" lIns="0" tIns="0" rIns="0" bIns="0" rtlCol="0" anchor="ctr"/>
          <a:lstStyle/>
          <a:p>
            <a:pPr indent="0" marL="0">
              <a:buNone/>
            </a:pPr>
            <a:r>
              <a:rPr lang="en-US" sz="1150" b="1" dirty="0">
                <a:solidFill>
                  <a:srgbClr val="248257"/>
                </a:solidFill>
                <a:latin typeface="Calibri" pitchFamily="34" charset="0"/>
                <a:ea typeface="Calibri" pitchFamily="34" charset="-122"/>
                <a:cs typeface="Calibri" pitchFamily="34" charset="-120"/>
              </a:rPr>
              <a:t>CRUD tier</a:t>
            </a:r>
            <a:endParaRPr lang="en-US" sz="1150" dirty="0"/>
          </a:p>
        </p:txBody>
      </p:sp>
      <p:sp>
        <p:nvSpPr>
          <p:cNvPr id="33" name="Shape 31"/>
          <p:cNvSpPr/>
          <p:nvPr/>
        </p:nvSpPr>
        <p:spPr>
          <a:xfrm>
            <a:off x="548640" y="4562856"/>
            <a:ext cx="9464040" cy="475488"/>
          </a:xfrm>
          <a:prstGeom prst="roundRect">
            <a:avLst>
              <a:gd name="adj" fmla="val 17308"/>
            </a:avLst>
          </a:prstGeom>
          <a:solidFill>
            <a:srgbClr val="EDF6F1"/>
          </a:solidFill>
          <a:ln w="12700">
            <a:solidFill>
              <a:srgbClr val="CFE3D7"/>
            </a:solidFill>
            <a:prstDash val="solid"/>
          </a:ln>
        </p:spPr>
      </p:sp>
      <p:sp>
        <p:nvSpPr>
          <p:cNvPr id="34" name="Text 32"/>
          <p:cNvSpPr txBox="1"/>
          <p:nvPr/>
        </p:nvSpPr>
        <p:spPr>
          <a:xfrm>
            <a:off x="868680" y="4581144"/>
            <a:ext cx="2286000" cy="438912"/>
          </a:xfrm>
          <a:prstGeom prst="rect">
            <a:avLst/>
          </a:prstGeom>
          <a:noFill/>
          <a:ln/>
        </p:spPr>
        <p:txBody>
          <a:bodyPr wrap="square" lIns="0" tIns="0" rIns="0" bIns="0" rtlCol="0" anchor="ctr"/>
          <a:lstStyle/>
          <a:p>
            <a:pPr indent="0" marL="0">
              <a:buNone/>
            </a:pPr>
            <a:r>
              <a:rPr lang="en-US" sz="1250" b="1" dirty="0">
                <a:solidFill>
                  <a:srgbClr val="1A2E24"/>
                </a:solidFill>
                <a:latin typeface="Calibri" pitchFamily="34" charset="0"/>
                <a:ea typeface="Calibri" pitchFamily="34" charset="-122"/>
                <a:cs typeface="Calibri" pitchFamily="34" charset="-120"/>
              </a:rPr>
              <a:t>Admin</a:t>
            </a:r>
            <a:endParaRPr lang="en-US" sz="1250" dirty="0"/>
          </a:p>
        </p:txBody>
      </p:sp>
      <p:sp>
        <p:nvSpPr>
          <p:cNvPr id="35" name="Text 33"/>
          <p:cNvSpPr txBox="1"/>
          <p:nvPr/>
        </p:nvSpPr>
        <p:spPr>
          <a:xfrm>
            <a:off x="3291840" y="4581144"/>
            <a:ext cx="4846320" cy="438912"/>
          </a:xfrm>
          <a:prstGeom prst="rect">
            <a:avLst/>
          </a:prstGeom>
          <a:noFill/>
          <a:ln/>
        </p:spPr>
        <p:txBody>
          <a:bodyPr wrap="square" lIns="0" tIns="0" rIns="0" bIns="0" rtlCol="0" anchor="ctr"/>
          <a:lstStyle/>
          <a:p>
            <a:pPr indent="0" marL="0">
              <a:buNone/>
            </a:pPr>
            <a:r>
              <a:rPr lang="en-US" sz="1200" dirty="0">
                <a:solidFill>
                  <a:srgbClr val="5C6F66"/>
                </a:solidFill>
                <a:latin typeface="Calibri" pitchFamily="34" charset="0"/>
                <a:ea typeface="Calibri" pitchFamily="34" charset="-122"/>
                <a:cs typeface="Calibri" pitchFamily="34" charset="-120"/>
              </a:rPr>
              <a:t>Everything in the app UI</a:t>
            </a:r>
            <a:endParaRPr lang="en-US" sz="1200" dirty="0"/>
          </a:p>
        </p:txBody>
      </p:sp>
      <p:sp>
        <p:nvSpPr>
          <p:cNvPr id="36" name="Text 34"/>
          <p:cNvSpPr txBox="1"/>
          <p:nvPr/>
        </p:nvSpPr>
        <p:spPr>
          <a:xfrm>
            <a:off x="8229600" y="4581144"/>
            <a:ext cx="1645920" cy="438912"/>
          </a:xfrm>
          <a:prstGeom prst="rect">
            <a:avLst/>
          </a:prstGeom>
          <a:noFill/>
          <a:ln/>
        </p:spPr>
        <p:txBody>
          <a:bodyPr wrap="square" lIns="0" tIns="0" rIns="0" bIns="0" rtlCol="0" anchor="ctr"/>
          <a:lstStyle/>
          <a:p>
            <a:pPr indent="0" marL="0">
              <a:buNone/>
            </a:pPr>
            <a:r>
              <a:rPr lang="en-US" sz="1150" b="1" dirty="0">
                <a:solidFill>
                  <a:srgbClr val="248257"/>
                </a:solidFill>
                <a:latin typeface="Calibri" pitchFamily="34" charset="0"/>
                <a:ea typeface="Calibri" pitchFamily="34" charset="-122"/>
                <a:cs typeface="Calibri" pitchFamily="34" charset="-120"/>
              </a:rPr>
              <a:t>CRUD tier</a:t>
            </a:r>
            <a:endParaRPr lang="en-US" sz="1150" dirty="0"/>
          </a:p>
        </p:txBody>
      </p:sp>
      <p:sp>
        <p:nvSpPr>
          <p:cNvPr id="37" name="Shape 35"/>
          <p:cNvSpPr/>
          <p:nvPr/>
        </p:nvSpPr>
        <p:spPr>
          <a:xfrm>
            <a:off x="548640" y="5129784"/>
            <a:ext cx="9464040" cy="475488"/>
          </a:xfrm>
          <a:prstGeom prst="roundRect">
            <a:avLst>
              <a:gd name="adj" fmla="val 17308"/>
            </a:avLst>
          </a:prstGeom>
          <a:solidFill>
            <a:srgbClr val="EDF6F1"/>
          </a:solidFill>
          <a:ln w="12700">
            <a:solidFill>
              <a:srgbClr val="CFE3D7"/>
            </a:solidFill>
            <a:prstDash val="solid"/>
          </a:ln>
        </p:spPr>
      </p:sp>
      <p:sp>
        <p:nvSpPr>
          <p:cNvPr id="38" name="Text 36"/>
          <p:cNvSpPr txBox="1"/>
          <p:nvPr/>
        </p:nvSpPr>
        <p:spPr>
          <a:xfrm>
            <a:off x="868680" y="5148072"/>
            <a:ext cx="2286000" cy="438912"/>
          </a:xfrm>
          <a:prstGeom prst="rect">
            <a:avLst/>
          </a:prstGeom>
          <a:noFill/>
          <a:ln/>
        </p:spPr>
        <p:txBody>
          <a:bodyPr wrap="square" lIns="0" tIns="0" rIns="0" bIns="0" rtlCol="0" anchor="ctr"/>
          <a:lstStyle/>
          <a:p>
            <a:pPr indent="0" marL="0">
              <a:buNone/>
            </a:pPr>
            <a:r>
              <a:rPr lang="en-US" sz="1250" b="1" dirty="0">
                <a:solidFill>
                  <a:srgbClr val="1A2E24"/>
                </a:solidFill>
                <a:latin typeface="Calibri" pitchFamily="34" charset="0"/>
                <a:ea typeface="Calibri" pitchFamily="34" charset="-122"/>
                <a:cs typeface="Calibri" pitchFamily="34" charset="-120"/>
              </a:rPr>
              <a:t>API Developer</a:t>
            </a:r>
            <a:endParaRPr lang="en-US" sz="1250" dirty="0"/>
          </a:p>
        </p:txBody>
      </p:sp>
      <p:sp>
        <p:nvSpPr>
          <p:cNvPr id="39" name="Text 37"/>
          <p:cNvSpPr txBox="1"/>
          <p:nvPr/>
        </p:nvSpPr>
        <p:spPr>
          <a:xfrm>
            <a:off x="3291840" y="5148072"/>
            <a:ext cx="4846320" cy="438912"/>
          </a:xfrm>
          <a:prstGeom prst="rect">
            <a:avLst/>
          </a:prstGeom>
          <a:noFill/>
          <a:ln/>
        </p:spPr>
        <p:txBody>
          <a:bodyPr wrap="square" lIns="0" tIns="0" rIns="0" bIns="0" rtlCol="0" anchor="ctr"/>
          <a:lstStyle/>
          <a:p>
            <a:pPr indent="0" marL="0">
              <a:buNone/>
            </a:pPr>
            <a:r>
              <a:rPr lang="en-US" sz="1200" dirty="0">
                <a:solidFill>
                  <a:srgbClr val="5C6F66"/>
                </a:solidFill>
                <a:latin typeface="Calibri" pitchFamily="34" charset="0"/>
                <a:ea typeface="Calibri" pitchFamily="34" charset="-122"/>
                <a:cs typeface="Calibri" pitchFamily="34" charset="-120"/>
              </a:rPr>
              <a:t>Open Swagger UI and the OpenAPI docs</a:t>
            </a:r>
            <a:endParaRPr lang="en-US" sz="1200" dirty="0"/>
          </a:p>
        </p:txBody>
      </p:sp>
      <p:sp>
        <p:nvSpPr>
          <p:cNvPr id="40" name="Text 38"/>
          <p:cNvSpPr txBox="1"/>
          <p:nvPr/>
        </p:nvSpPr>
        <p:spPr>
          <a:xfrm>
            <a:off x="8229600" y="5148072"/>
            <a:ext cx="1645920" cy="438912"/>
          </a:xfrm>
          <a:prstGeom prst="rect">
            <a:avLst/>
          </a:prstGeom>
          <a:noFill/>
          <a:ln/>
        </p:spPr>
        <p:txBody>
          <a:bodyPr wrap="square" lIns="0" tIns="0" rIns="0" bIns="0" rtlCol="0" anchor="ctr"/>
          <a:lstStyle/>
          <a:p>
            <a:pPr indent="0" marL="0">
              <a:buNone/>
            </a:pPr>
            <a:r>
              <a:rPr lang="en-US" sz="1150" b="1" dirty="0">
                <a:solidFill>
                  <a:srgbClr val="248257"/>
                </a:solidFill>
                <a:latin typeface="Calibri" pitchFamily="34" charset="0"/>
                <a:ea typeface="Calibri" pitchFamily="34" charset="-122"/>
                <a:cs typeface="Calibri" pitchFamily="34" charset="-120"/>
              </a:rPr>
              <a:t>Docs tier</a:t>
            </a:r>
            <a:endParaRPr lang="en-US" sz="1150" dirty="0"/>
          </a:p>
        </p:txBody>
      </p:sp>
      <p:sp>
        <p:nvSpPr>
          <p:cNvPr id="41" name="Shape 39"/>
          <p:cNvSpPr/>
          <p:nvPr/>
        </p:nvSpPr>
        <p:spPr>
          <a:xfrm>
            <a:off x="548640" y="5696712"/>
            <a:ext cx="9464040" cy="475488"/>
          </a:xfrm>
          <a:prstGeom prst="roundRect">
            <a:avLst>
              <a:gd name="adj" fmla="val 17308"/>
            </a:avLst>
          </a:prstGeom>
          <a:solidFill>
            <a:srgbClr val="EDF6F1"/>
          </a:solidFill>
          <a:ln w="12700">
            <a:solidFill>
              <a:srgbClr val="CFE3D7"/>
            </a:solidFill>
            <a:prstDash val="solid"/>
          </a:ln>
        </p:spPr>
      </p:sp>
      <p:sp>
        <p:nvSpPr>
          <p:cNvPr id="42" name="Text 40"/>
          <p:cNvSpPr txBox="1"/>
          <p:nvPr/>
        </p:nvSpPr>
        <p:spPr>
          <a:xfrm>
            <a:off x="868680" y="5715000"/>
            <a:ext cx="2286000" cy="438912"/>
          </a:xfrm>
          <a:prstGeom prst="rect">
            <a:avLst/>
          </a:prstGeom>
          <a:noFill/>
          <a:ln/>
        </p:spPr>
        <p:txBody>
          <a:bodyPr wrap="square" lIns="0" tIns="0" rIns="0" bIns="0" rtlCol="0" anchor="ctr"/>
          <a:lstStyle/>
          <a:p>
            <a:pPr indent="0" marL="0">
              <a:buNone/>
            </a:pPr>
            <a:r>
              <a:rPr lang="en-US" sz="1250" b="1" dirty="0">
                <a:solidFill>
                  <a:srgbClr val="1A2E24"/>
                </a:solidFill>
                <a:latin typeface="Calibri" pitchFamily="34" charset="0"/>
                <a:ea typeface="Calibri" pitchFamily="34" charset="-122"/>
                <a:cs typeface="Calibri" pitchFamily="34" charset="-120"/>
              </a:rPr>
              <a:t>API Owner</a:t>
            </a:r>
            <a:endParaRPr lang="en-US" sz="1250" dirty="0"/>
          </a:p>
        </p:txBody>
      </p:sp>
      <p:sp>
        <p:nvSpPr>
          <p:cNvPr id="43" name="Text 41"/>
          <p:cNvSpPr txBox="1"/>
          <p:nvPr/>
        </p:nvSpPr>
        <p:spPr>
          <a:xfrm>
            <a:off x="3291840" y="5715000"/>
            <a:ext cx="4846320" cy="438912"/>
          </a:xfrm>
          <a:prstGeom prst="rect">
            <a:avLst/>
          </a:prstGeom>
          <a:noFill/>
          <a:ln/>
        </p:spPr>
        <p:txBody>
          <a:bodyPr wrap="square" lIns="0" tIns="0" rIns="0" bIns="0" rtlCol="0" anchor="ctr"/>
          <a:lstStyle/>
          <a:p>
            <a:pPr indent="0" marL="0">
              <a:buNone/>
            </a:pPr>
            <a:r>
              <a:rPr lang="en-US" sz="1200" dirty="0">
                <a:solidFill>
                  <a:srgbClr val="5C6F66"/>
                </a:solidFill>
                <a:latin typeface="Calibri" pitchFamily="34" charset="0"/>
                <a:ea typeface="Calibri" pitchFamily="34" charset="-122"/>
                <a:cs typeface="Calibri" pitchFamily="34" charset="-120"/>
              </a:rPr>
              <a:t>Composite: all CRUD roles + API Developer</a:t>
            </a:r>
            <a:endParaRPr lang="en-US" sz="1200" dirty="0"/>
          </a:p>
        </p:txBody>
      </p:sp>
      <p:sp>
        <p:nvSpPr>
          <p:cNvPr id="44" name="Text 42"/>
          <p:cNvSpPr txBox="1"/>
          <p:nvPr/>
        </p:nvSpPr>
        <p:spPr>
          <a:xfrm>
            <a:off x="8229600" y="5715000"/>
            <a:ext cx="1645920" cy="438912"/>
          </a:xfrm>
          <a:prstGeom prst="rect">
            <a:avLst/>
          </a:prstGeom>
          <a:noFill/>
          <a:ln/>
        </p:spPr>
        <p:txBody>
          <a:bodyPr wrap="square" lIns="0" tIns="0" rIns="0" bIns="0" rtlCol="0" anchor="ctr"/>
          <a:lstStyle/>
          <a:p>
            <a:pPr indent="0" marL="0">
              <a:buNone/>
            </a:pPr>
            <a:r>
              <a:rPr lang="en-US" sz="1150" b="1" dirty="0">
                <a:solidFill>
                  <a:srgbClr val="248257"/>
                </a:solidFill>
                <a:latin typeface="Calibri" pitchFamily="34" charset="0"/>
                <a:ea typeface="Calibri" pitchFamily="34" charset="-122"/>
                <a:cs typeface="Calibri" pitchFamily="34" charset="-120"/>
              </a:rPr>
              <a:t>Both tiers</a:t>
            </a:r>
            <a:endParaRPr lang="en-US" sz="1150" dirty="0"/>
          </a:p>
        </p:txBody>
      </p:sp>
      <p:sp>
        <p:nvSpPr>
          <p:cNvPr id="45" name="Shape 43"/>
          <p:cNvSpPr/>
          <p:nvPr/>
        </p:nvSpPr>
        <p:spPr>
          <a:xfrm>
            <a:off x="10287000" y="2862072"/>
            <a:ext cx="1353312" cy="3200400"/>
          </a:xfrm>
          <a:prstGeom prst="roundRect">
            <a:avLst>
              <a:gd name="adj" fmla="val 6081"/>
            </a:avLst>
          </a:prstGeom>
          <a:solidFill>
            <a:srgbClr val="0F6A44"/>
          </a:solidFill>
          <a:ln/>
        </p:spPr>
      </p:sp>
      <p:sp>
        <p:nvSpPr>
          <p:cNvPr id="46" name="Text 44"/>
          <p:cNvSpPr txBox="1"/>
          <p:nvPr/>
        </p:nvSpPr>
        <p:spPr>
          <a:xfrm>
            <a:off x="10424160" y="3063240"/>
            <a:ext cx="1097280" cy="14630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Docs access and data access are orthogonal</a:t>
            </a:r>
            <a:endParaRPr lang="en-US" sz="1150" dirty="0"/>
          </a:p>
        </p:txBody>
      </p:sp>
      <p:sp>
        <p:nvSpPr>
          <p:cNvPr id="47" name="Text 45"/>
          <p:cNvSpPr txBox="1"/>
          <p:nvPr/>
        </p:nvSpPr>
        <p:spPr>
          <a:xfrm>
            <a:off x="10424160" y="4572000"/>
            <a:ext cx="1097280" cy="1371600"/>
          </a:xfrm>
          <a:prstGeom prst="rect">
            <a:avLst/>
          </a:prstGeom>
          <a:noFill/>
          <a:ln/>
        </p:spPr>
        <p:txBody>
          <a:bodyPr wrap="square" lIns="0" tIns="0" rIns="0" bIns="0" rtlCol="0" anchor="ctr"/>
          <a:lstStyle/>
          <a:p>
            <a:pPr indent="0" marL="0">
              <a:buNone/>
            </a:pPr>
            <a:r>
              <a:rPr lang="en-US" sz="1000" dirty="0">
                <a:solidFill>
                  <a:srgbClr val="CBEAD9"/>
                </a:solidFill>
                <a:latin typeface="Calibri" pitchFamily="34" charset="0"/>
                <a:ea typeface="Calibri" pitchFamily="34" charset="-122"/>
                <a:cs typeface="Calibri" pitchFamily="34" charset="-120"/>
              </a:rPr>
              <a:t>Swagger’s “Try it out” still hits the same @PreAuthorize checks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ctr"/>
          <a:lstStyle/>
          <a:p>
            <a:pPr indent="0" marL="0">
              <a:buNone/>
            </a:pPr>
            <a:r>
              <a:rPr lang="en-US" sz="1200" b="1" spc="300" kern="0" dirty="0">
                <a:solidFill>
                  <a:srgbClr val="248257"/>
                </a:solidFill>
                <a:latin typeface="Calibri" pitchFamily="34" charset="0"/>
                <a:ea typeface="Calibri" pitchFamily="34" charset="-122"/>
                <a:cs typeface="Calibri" pitchFamily="34" charset="-120"/>
              </a:rPr>
              <a:t>DESIGN SPOTLIGHT</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A2E24"/>
                </a:solidFill>
                <a:latin typeface="Calibri" pitchFamily="34" charset="0"/>
                <a:ea typeface="Calibri" pitchFamily="34" charset="-122"/>
                <a:cs typeface="Calibri" pitchFamily="34" charset="-120"/>
              </a:rPr>
              <a:t>Killing a session that Keycloak revoked</a:t>
            </a:r>
            <a:endParaRPr lang="en-US" sz="3000" dirty="0"/>
          </a:p>
        </p:txBody>
      </p:sp>
      <p:sp>
        <p:nvSpPr>
          <p:cNvPr id="4" name="Shape 2"/>
          <p:cNvSpPr/>
          <p:nvPr/>
        </p:nvSpPr>
        <p:spPr>
          <a:xfrm>
            <a:off x="548640" y="1600200"/>
            <a:ext cx="5440680" cy="2377440"/>
          </a:xfrm>
          <a:prstGeom prst="roundRect">
            <a:avLst>
              <a:gd name="adj" fmla="val 3462"/>
            </a:avLst>
          </a:prstGeom>
          <a:solidFill>
            <a:srgbClr val="EDF6F1"/>
          </a:solidFill>
          <a:ln w="12700">
            <a:solidFill>
              <a:srgbClr val="CFE3D7"/>
            </a:solidFill>
            <a:prstDash val="solid"/>
          </a:ln>
        </p:spPr>
      </p:sp>
      <p:sp>
        <p:nvSpPr>
          <p:cNvPr id="5" name="Shape 3"/>
          <p:cNvSpPr/>
          <p:nvPr/>
        </p:nvSpPr>
        <p:spPr>
          <a:xfrm>
            <a:off x="822960" y="1828800"/>
            <a:ext cx="502920" cy="50292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6" name="Image 0" descr="preencoded.png">    </p:cNvPr>
          <p:cNvPicPr>
            <a:picLocks noChangeAspect="1"/>
          </p:cNvPicPr>
          <p:nvPr/>
        </p:nvPicPr>
        <p:blipFill>
          <a:blip r:embed="rId1"/>
          <a:stretch>
            <a:fillRect/>
          </a:stretch>
        </p:blipFill>
        <p:spPr>
          <a:xfrm>
            <a:off x="943661" y="1949501"/>
            <a:ext cx="261518" cy="261518"/>
          </a:xfrm>
          <a:prstGeom prst="rect">
            <a:avLst/>
          </a:prstGeom>
        </p:spPr>
      </p:pic>
      <p:sp>
        <p:nvSpPr>
          <p:cNvPr id="7" name="Text 4"/>
          <p:cNvSpPr txBox="1"/>
          <p:nvPr/>
        </p:nvSpPr>
        <p:spPr>
          <a:xfrm>
            <a:off x="1508760" y="1901952"/>
            <a:ext cx="4206240" cy="320040"/>
          </a:xfrm>
          <a:prstGeom prst="rect">
            <a:avLst/>
          </a:prstGeom>
          <a:noFill/>
          <a:ln/>
        </p:spPr>
        <p:txBody>
          <a:bodyPr wrap="square" lIns="0" tIns="0" rIns="0" bIns="0" rtlCol="0" anchor="ctr"/>
          <a:lstStyle/>
          <a:p>
            <a:pPr indent="0" marL="0">
              <a:buNone/>
            </a:pPr>
            <a:r>
              <a:rPr lang="en-US" sz="1600" b="1" dirty="0">
                <a:solidFill>
                  <a:srgbClr val="1A2E24"/>
                </a:solidFill>
                <a:latin typeface="Calibri" pitchFamily="34" charset="0"/>
                <a:ea typeface="Calibri" pitchFamily="34" charset="-122"/>
                <a:cs typeface="Calibri" pitchFamily="34" charset="-120"/>
              </a:rPr>
              <a:t>Push: backchannel logout</a:t>
            </a:r>
            <a:endParaRPr lang="en-US" sz="1600" dirty="0"/>
          </a:p>
        </p:txBody>
      </p:sp>
      <p:sp>
        <p:nvSpPr>
          <p:cNvPr id="8" name="Text 5"/>
          <p:cNvSpPr txBox="1"/>
          <p:nvPr/>
        </p:nvSpPr>
        <p:spPr>
          <a:xfrm>
            <a:off x="822960" y="2423160"/>
            <a:ext cx="4892040" cy="1417320"/>
          </a:xfrm>
          <a:prstGeom prst="rect">
            <a:avLst/>
          </a:prstGeom>
          <a:noFill/>
          <a:ln/>
        </p:spPr>
        <p:txBody>
          <a:bodyPr wrap="square" lIns="0" tIns="0" rIns="0" bIns="0" rtlCol="0" anchor="ctr"/>
          <a:lstStyle/>
          <a:p>
            <a:pPr indent="0" marL="0">
              <a:buNone/>
            </a:pPr>
            <a:r>
              <a:rPr lang="en-US" sz="1250" dirty="0">
                <a:solidFill>
                  <a:srgbClr val="5C6F66"/>
                </a:solidFill>
                <a:latin typeface="Calibri" pitchFamily="34" charset="0"/>
                <a:ea typeface="Calibri" pitchFamily="34" charset="-122"/>
                <a:cs typeface="Calibri" pitchFamily="34" charset="-120"/>
              </a:rPr>
              <a:t>Keycloak calls the BFF server-to-server the moment a session is revoked - admin-forced logout, or logout from another SSO app. Spring’s OIDC backchannel support matches the logout token to the local session and kills it instantly.</a:t>
            </a:r>
            <a:endParaRPr lang="en-US" sz="1250" dirty="0"/>
          </a:p>
        </p:txBody>
      </p:sp>
      <p:sp>
        <p:nvSpPr>
          <p:cNvPr id="9" name="Shape 6"/>
          <p:cNvSpPr/>
          <p:nvPr/>
        </p:nvSpPr>
        <p:spPr>
          <a:xfrm>
            <a:off x="6199632" y="1600200"/>
            <a:ext cx="5440680" cy="2377440"/>
          </a:xfrm>
          <a:prstGeom prst="roundRect">
            <a:avLst>
              <a:gd name="adj" fmla="val 3462"/>
            </a:avLst>
          </a:prstGeom>
          <a:solidFill>
            <a:srgbClr val="EDF6F1"/>
          </a:solidFill>
          <a:ln w="12700">
            <a:solidFill>
              <a:srgbClr val="CFE3D7"/>
            </a:solidFill>
            <a:prstDash val="solid"/>
          </a:ln>
        </p:spPr>
      </p:sp>
      <p:sp>
        <p:nvSpPr>
          <p:cNvPr id="10" name="Shape 7"/>
          <p:cNvSpPr/>
          <p:nvPr/>
        </p:nvSpPr>
        <p:spPr>
          <a:xfrm>
            <a:off x="6473952" y="1828800"/>
            <a:ext cx="502920" cy="50292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11" name="Image 1" descr="preencoded.png">    </p:cNvPr>
          <p:cNvPicPr>
            <a:picLocks noChangeAspect="1"/>
          </p:cNvPicPr>
          <p:nvPr/>
        </p:nvPicPr>
        <p:blipFill>
          <a:blip r:embed="rId2"/>
          <a:stretch>
            <a:fillRect/>
          </a:stretch>
        </p:blipFill>
        <p:spPr>
          <a:xfrm>
            <a:off x="6594653" y="1949501"/>
            <a:ext cx="261518" cy="261518"/>
          </a:xfrm>
          <a:prstGeom prst="rect">
            <a:avLst/>
          </a:prstGeom>
        </p:spPr>
      </p:pic>
      <p:sp>
        <p:nvSpPr>
          <p:cNvPr id="12" name="Text 8"/>
          <p:cNvSpPr txBox="1"/>
          <p:nvPr/>
        </p:nvSpPr>
        <p:spPr>
          <a:xfrm>
            <a:off x="7159752" y="1901952"/>
            <a:ext cx="4206240" cy="320040"/>
          </a:xfrm>
          <a:prstGeom prst="rect">
            <a:avLst/>
          </a:prstGeom>
          <a:noFill/>
          <a:ln/>
        </p:spPr>
        <p:txBody>
          <a:bodyPr wrap="square" lIns="0" tIns="0" rIns="0" bIns="0" rtlCol="0" anchor="ctr"/>
          <a:lstStyle/>
          <a:p>
            <a:pPr indent="0" marL="0">
              <a:buNone/>
            </a:pPr>
            <a:r>
              <a:rPr lang="en-US" sz="1600" b="1" dirty="0">
                <a:solidFill>
                  <a:srgbClr val="1A2E24"/>
                </a:solidFill>
                <a:latin typeface="Calibri" pitchFamily="34" charset="0"/>
                <a:ea typeface="Calibri" pitchFamily="34" charset="-122"/>
                <a:cs typeface="Calibri" pitchFamily="34" charset="-120"/>
              </a:rPr>
              <a:t>Pull: introspection on /me</a:t>
            </a:r>
            <a:endParaRPr lang="en-US" sz="1600" dirty="0"/>
          </a:p>
        </p:txBody>
      </p:sp>
      <p:sp>
        <p:nvSpPr>
          <p:cNvPr id="13" name="Text 9"/>
          <p:cNvSpPr txBox="1"/>
          <p:nvPr/>
        </p:nvSpPr>
        <p:spPr>
          <a:xfrm>
            <a:off x="6473952" y="2423160"/>
            <a:ext cx="4892040" cy="1417320"/>
          </a:xfrm>
          <a:prstGeom prst="rect">
            <a:avLst/>
          </a:prstGeom>
          <a:noFill/>
          <a:ln/>
        </p:spPr>
        <p:txBody>
          <a:bodyPr wrap="square" lIns="0" tIns="0" rIns="0" bIns="0" rtlCol="0" anchor="ctr"/>
          <a:lstStyle/>
          <a:p>
            <a:pPr indent="0" marL="0">
              <a:buNone/>
            </a:pPr>
            <a:r>
              <a:rPr lang="en-US" sz="1250" dirty="0">
                <a:solidFill>
                  <a:srgbClr val="5C6F66"/>
                </a:solidFill>
                <a:latin typeface="Calibri" pitchFamily="34" charset="0"/>
                <a:ea typeface="Calibri" pitchFamily="34" charset="-122"/>
                <a:cs typeface="Calibri" pitchFamily="34" charset="-120"/>
              </a:rPr>
              <a:t>Every /api/v1/me call - page load plus the SPA’s periodic poll - also asks Keycloak via RFC 7662 introspection whether the token is still active, and invalidates the session if not. Fails open on outages: a Keycloak blip shouldn’t log everyone out.</a:t>
            </a:r>
            <a:endParaRPr lang="en-US" sz="1250" dirty="0"/>
          </a:p>
        </p:txBody>
      </p:sp>
      <p:sp>
        <p:nvSpPr>
          <p:cNvPr id="14" name="Shape 10"/>
          <p:cNvSpPr/>
          <p:nvPr/>
        </p:nvSpPr>
        <p:spPr>
          <a:xfrm>
            <a:off x="548640" y="4251960"/>
            <a:ext cx="11091672" cy="1965960"/>
          </a:xfrm>
          <a:prstGeom prst="roundRect">
            <a:avLst>
              <a:gd name="adj" fmla="val 4186"/>
            </a:avLst>
          </a:prstGeom>
          <a:solidFill>
            <a:srgbClr val="0F6A44"/>
          </a:solidFill>
          <a:ln/>
        </p:spPr>
      </p:sp>
      <p:sp>
        <p:nvSpPr>
          <p:cNvPr id="15" name="Text 11"/>
          <p:cNvSpPr txBox="1"/>
          <p:nvPr/>
        </p:nvSpPr>
        <p:spPr>
          <a:xfrm>
            <a:off x="914400" y="4480560"/>
            <a:ext cx="103327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“Why not introspect on every request, in a filter?”</a:t>
            </a:r>
            <a:endParaRPr lang="en-US" sz="1600" dirty="0"/>
          </a:p>
        </p:txBody>
      </p:sp>
      <p:sp>
        <p:nvSpPr>
          <p:cNvPr id="16" name="Text 12"/>
          <p:cNvSpPr txBox="1"/>
          <p:nvPr/>
        </p:nvSpPr>
        <p:spPr>
          <a:xfrm>
            <a:off x="914400" y="4892040"/>
            <a:ext cx="10332720" cy="1188720"/>
          </a:xfrm>
          <a:prstGeom prst="rect">
            <a:avLst/>
          </a:prstGeom>
          <a:noFill/>
          <a:ln/>
        </p:spPr>
        <p:txBody>
          <a:bodyPr wrap="square" lIns="0" tIns="0" rIns="0" bIns="0" rtlCol="0" anchor="ctr"/>
          <a:lstStyle/>
          <a:p>
            <a:pPr indent="0" marL="0">
              <a:buNone/>
            </a:pPr>
            <a:r>
              <a:rPr lang="en-US" sz="1250" b="1" dirty="0">
                <a:solidFill>
                  <a:srgbClr val="CBEAD9"/>
                </a:solidFill>
                <a:latin typeface="Calibri" pitchFamily="34" charset="0"/>
                <a:ea typeface="Calibri" pitchFamily="34" charset="-122"/>
                <a:cs typeface="Calibri" pitchFamily="34" charset="-120"/>
              </a:rPr>
              <a:t>Because that buys a Keycloak round-trip on every API call to close a window the design already bounds. </a:t>
            </a:r>
            <a:pPr indent="0" marL="0">
              <a:buNone/>
            </a:pPr>
            <a:r>
              <a:rPr lang="en-US" sz="1250" dirty="0">
                <a:solidFill>
                  <a:srgbClr val="CBEAD9"/>
                </a:solidFill>
                <a:latin typeface="Calibri" pitchFamily="34" charset="0"/>
                <a:ea typeface="Calibri" pitchFamily="34" charset="-122"/>
                <a:cs typeface="Calibri" pitchFamily="34" charset="-120"/>
              </a:rPr>
              <a:t>Push is the primary mechanism and is instant; the pull check is the safety net for a missed delivery, and the poll cadence caps how stale a revoked session can be. A per-request filter trades that bounded window for latency and a hard runtime dependency on the IdP’s response time - the wrong trade for this pattern.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ctr"/>
          <a:lstStyle/>
          <a:p>
            <a:pPr indent="0" marL="0">
              <a:buNone/>
            </a:pPr>
            <a:r>
              <a:rPr lang="en-US" sz="1200" b="1" spc="300" kern="0" dirty="0">
                <a:solidFill>
                  <a:srgbClr val="248257"/>
                </a:solidFill>
                <a:latin typeface="Calibri" pitchFamily="34" charset="0"/>
                <a:ea typeface="Calibri" pitchFamily="34" charset="-122"/>
                <a:cs typeface="Calibri" pitchFamily="34" charset="-120"/>
              </a:rPr>
              <a:t>TOPOLOGY</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A2E24"/>
                </a:solidFill>
                <a:latin typeface="Calibri" pitchFamily="34" charset="0"/>
                <a:ea typeface="Calibri" pitchFamily="34" charset="-122"/>
                <a:cs typeface="Calibri" pitchFamily="34" charset="-120"/>
              </a:rPr>
              <a:t>Everything through the frontend’s proxy</a:t>
            </a:r>
            <a:endParaRPr lang="en-US" sz="3000" dirty="0"/>
          </a:p>
        </p:txBody>
      </p:sp>
      <p:sp>
        <p:nvSpPr>
          <p:cNvPr id="4" name="Shape 2"/>
          <p:cNvSpPr/>
          <p:nvPr/>
        </p:nvSpPr>
        <p:spPr>
          <a:xfrm>
            <a:off x="548640" y="1691640"/>
            <a:ext cx="11091672" cy="685800"/>
          </a:xfrm>
          <a:prstGeom prst="roundRect">
            <a:avLst>
              <a:gd name="adj" fmla="val 12000"/>
            </a:avLst>
          </a:prstGeom>
          <a:solidFill>
            <a:srgbClr val="EDF6F1"/>
          </a:solidFill>
          <a:ln w="12700">
            <a:solidFill>
              <a:srgbClr val="CFE3D7"/>
            </a:solidFill>
            <a:prstDash val="solid"/>
          </a:ln>
        </p:spPr>
      </p:sp>
      <p:sp>
        <p:nvSpPr>
          <p:cNvPr id="5" name="Text 3"/>
          <p:cNvSpPr txBox="1"/>
          <p:nvPr/>
        </p:nvSpPr>
        <p:spPr>
          <a:xfrm>
            <a:off x="868680" y="1737360"/>
            <a:ext cx="4023360" cy="594360"/>
          </a:xfrm>
          <a:prstGeom prst="rect">
            <a:avLst/>
          </a:prstGeom>
          <a:noFill/>
          <a:ln/>
        </p:spPr>
        <p:txBody>
          <a:bodyPr wrap="square" lIns="0" tIns="0" rIns="0" bIns="0" rtlCol="0" anchor="ctr"/>
          <a:lstStyle/>
          <a:p>
            <a:pPr indent="0" marL="0">
              <a:buNone/>
            </a:pPr>
            <a:r>
              <a:rPr lang="en-US" sz="1300" b="1" dirty="0">
                <a:solidFill>
                  <a:srgbClr val="0F6A44"/>
                </a:solidFill>
                <a:latin typeface="Courier New" pitchFamily="34" charset="0"/>
                <a:ea typeface="Courier New" pitchFamily="34" charset="-122"/>
                <a:cs typeface="Courier New" pitchFamily="34" charset="-120"/>
              </a:rPr>
              <a:t>/bff-kickstart/**</a:t>
            </a:r>
            <a:endParaRPr lang="en-US" sz="1300" dirty="0"/>
          </a:p>
        </p:txBody>
      </p:sp>
      <p:sp>
        <p:nvSpPr>
          <p:cNvPr id="6" name="Text 4"/>
          <p:cNvSpPr txBox="1"/>
          <p:nvPr/>
        </p:nvSpPr>
        <p:spPr>
          <a:xfrm>
            <a:off x="5029200" y="1737360"/>
            <a:ext cx="6400800" cy="594360"/>
          </a:xfrm>
          <a:prstGeom prst="rect">
            <a:avLst/>
          </a:prstGeom>
          <a:noFill/>
          <a:ln/>
        </p:spPr>
        <p:txBody>
          <a:bodyPr wrap="square" lIns="0" tIns="0" rIns="0" bIns="0" rtlCol="0" anchor="ctr"/>
          <a:lstStyle/>
          <a:p>
            <a:pPr indent="0" marL="0">
              <a:buNone/>
            </a:pPr>
            <a:r>
              <a:rPr lang="en-US" sz="1250" dirty="0">
                <a:solidFill>
                  <a:srgbClr val="5C6F66"/>
                </a:solidFill>
                <a:latin typeface="Calibri" pitchFamily="34" charset="0"/>
                <a:ea typeface="Calibri" pitchFamily="34" charset="-122"/>
                <a:cs typeface="Calibri" pitchFamily="34" charset="-120"/>
              </a:rPr>
              <a:t>React SPA - static assets from nginx (prod) or Vite (dev)</a:t>
            </a:r>
            <a:endParaRPr lang="en-US" sz="1250" dirty="0"/>
          </a:p>
        </p:txBody>
      </p:sp>
      <p:sp>
        <p:nvSpPr>
          <p:cNvPr id="7" name="Shape 5"/>
          <p:cNvSpPr/>
          <p:nvPr/>
        </p:nvSpPr>
        <p:spPr>
          <a:xfrm>
            <a:off x="548640" y="2532888"/>
            <a:ext cx="11091672" cy="685800"/>
          </a:xfrm>
          <a:prstGeom prst="roundRect">
            <a:avLst>
              <a:gd name="adj" fmla="val 12000"/>
            </a:avLst>
          </a:prstGeom>
          <a:solidFill>
            <a:srgbClr val="EDF6F1"/>
          </a:solidFill>
          <a:ln w="12700">
            <a:solidFill>
              <a:srgbClr val="CFE3D7"/>
            </a:solidFill>
            <a:prstDash val="solid"/>
          </a:ln>
        </p:spPr>
      </p:sp>
      <p:sp>
        <p:nvSpPr>
          <p:cNvPr id="8" name="Text 6"/>
          <p:cNvSpPr txBox="1"/>
          <p:nvPr/>
        </p:nvSpPr>
        <p:spPr>
          <a:xfrm>
            <a:off x="868680" y="2578608"/>
            <a:ext cx="4023360" cy="594360"/>
          </a:xfrm>
          <a:prstGeom prst="rect">
            <a:avLst/>
          </a:prstGeom>
          <a:noFill/>
          <a:ln/>
        </p:spPr>
        <p:txBody>
          <a:bodyPr wrap="square" lIns="0" tIns="0" rIns="0" bIns="0" rtlCol="0" anchor="ctr"/>
          <a:lstStyle/>
          <a:p>
            <a:pPr indent="0" marL="0">
              <a:buNone/>
            </a:pPr>
            <a:r>
              <a:rPr lang="en-US" sz="1300" b="1" dirty="0">
                <a:solidFill>
                  <a:srgbClr val="0F6A44"/>
                </a:solidFill>
                <a:latin typeface="Courier New" pitchFamily="34" charset="0"/>
                <a:ea typeface="Courier New" pitchFamily="34" charset="-122"/>
                <a:cs typeface="Courier New" pitchFamily="34" charset="-120"/>
              </a:rPr>
              <a:t>/bff-kickstart-api/api/**</a:t>
            </a:r>
            <a:endParaRPr lang="en-US" sz="1300" dirty="0"/>
          </a:p>
        </p:txBody>
      </p:sp>
      <p:sp>
        <p:nvSpPr>
          <p:cNvPr id="9" name="Text 7"/>
          <p:cNvSpPr txBox="1"/>
          <p:nvPr/>
        </p:nvSpPr>
        <p:spPr>
          <a:xfrm>
            <a:off x="5029200" y="2578608"/>
            <a:ext cx="6400800" cy="594360"/>
          </a:xfrm>
          <a:prstGeom prst="rect">
            <a:avLst/>
          </a:prstGeom>
          <a:noFill/>
          <a:ln/>
        </p:spPr>
        <p:txBody>
          <a:bodyPr wrap="square" lIns="0" tIns="0" rIns="0" bIns="0" rtlCol="0" anchor="ctr"/>
          <a:lstStyle/>
          <a:p>
            <a:pPr indent="0" marL="0">
              <a:buNone/>
            </a:pPr>
            <a:r>
              <a:rPr lang="en-US" sz="1250" dirty="0">
                <a:solidFill>
                  <a:srgbClr val="5C6F66"/>
                </a:solidFill>
                <a:latin typeface="Calibri" pitchFamily="34" charset="0"/>
                <a:ea typeface="Calibri" pitchFamily="34" charset="-122"/>
                <a:cs typeface="Calibri" pitchFamily="34" charset="-120"/>
              </a:rPr>
              <a:t>Proxied to the Spring Boot BFF</a:t>
            </a:r>
            <a:endParaRPr lang="en-US" sz="1250" dirty="0"/>
          </a:p>
        </p:txBody>
      </p:sp>
      <p:sp>
        <p:nvSpPr>
          <p:cNvPr id="10" name="Shape 8"/>
          <p:cNvSpPr/>
          <p:nvPr/>
        </p:nvSpPr>
        <p:spPr>
          <a:xfrm>
            <a:off x="548640" y="3374136"/>
            <a:ext cx="11091672" cy="685800"/>
          </a:xfrm>
          <a:prstGeom prst="roundRect">
            <a:avLst>
              <a:gd name="adj" fmla="val 12000"/>
            </a:avLst>
          </a:prstGeom>
          <a:solidFill>
            <a:srgbClr val="EDF6F1"/>
          </a:solidFill>
          <a:ln w="12700">
            <a:solidFill>
              <a:srgbClr val="CFE3D7"/>
            </a:solidFill>
            <a:prstDash val="solid"/>
          </a:ln>
        </p:spPr>
      </p:sp>
      <p:sp>
        <p:nvSpPr>
          <p:cNvPr id="11" name="Text 9"/>
          <p:cNvSpPr txBox="1"/>
          <p:nvPr/>
        </p:nvSpPr>
        <p:spPr>
          <a:xfrm>
            <a:off x="868680" y="3419856"/>
            <a:ext cx="4023360" cy="594360"/>
          </a:xfrm>
          <a:prstGeom prst="rect">
            <a:avLst/>
          </a:prstGeom>
          <a:noFill/>
          <a:ln/>
        </p:spPr>
        <p:txBody>
          <a:bodyPr wrap="square" lIns="0" tIns="0" rIns="0" bIns="0" rtlCol="0" anchor="ctr"/>
          <a:lstStyle/>
          <a:p>
            <a:pPr indent="0" marL="0">
              <a:buNone/>
            </a:pPr>
            <a:r>
              <a:rPr lang="en-US" sz="1300" b="1" dirty="0">
                <a:solidFill>
                  <a:srgbClr val="0F6A44"/>
                </a:solidFill>
                <a:latin typeface="Courier New" pitchFamily="34" charset="0"/>
                <a:ea typeface="Courier New" pitchFamily="34" charset="-122"/>
                <a:cs typeface="Courier New" pitchFamily="34" charset="-120"/>
              </a:rPr>
              <a:t>/bff-kickstart-api/swagger-ui/**</a:t>
            </a:r>
            <a:endParaRPr lang="en-US" sz="1300" dirty="0"/>
          </a:p>
        </p:txBody>
      </p:sp>
      <p:sp>
        <p:nvSpPr>
          <p:cNvPr id="12" name="Text 10"/>
          <p:cNvSpPr txBox="1"/>
          <p:nvPr/>
        </p:nvSpPr>
        <p:spPr>
          <a:xfrm>
            <a:off x="5029200" y="3419856"/>
            <a:ext cx="6400800" cy="594360"/>
          </a:xfrm>
          <a:prstGeom prst="rect">
            <a:avLst/>
          </a:prstGeom>
          <a:noFill/>
          <a:ln/>
        </p:spPr>
        <p:txBody>
          <a:bodyPr wrap="square" lIns="0" tIns="0" rIns="0" bIns="0" rtlCol="0" anchor="ctr"/>
          <a:lstStyle/>
          <a:p>
            <a:pPr indent="0" marL="0">
              <a:buNone/>
            </a:pPr>
            <a:r>
              <a:rPr lang="en-US" sz="1250" dirty="0">
                <a:solidFill>
                  <a:srgbClr val="5C6F66"/>
                </a:solidFill>
                <a:latin typeface="Calibri" pitchFamily="34" charset="0"/>
                <a:ea typeface="Calibri" pitchFamily="34" charset="-122"/>
                <a:cs typeface="Calibri" pitchFamily="34" charset="-120"/>
              </a:rPr>
              <a:t>Swagger UI, served by the BFF, role-gated, same proxy</a:t>
            </a:r>
            <a:endParaRPr lang="en-US" sz="1250" dirty="0"/>
          </a:p>
        </p:txBody>
      </p:sp>
      <p:sp>
        <p:nvSpPr>
          <p:cNvPr id="13" name="Shape 11"/>
          <p:cNvSpPr/>
          <p:nvPr/>
        </p:nvSpPr>
        <p:spPr>
          <a:xfrm>
            <a:off x="548640" y="4434840"/>
            <a:ext cx="3566160" cy="1783080"/>
          </a:xfrm>
          <a:prstGeom prst="roundRect">
            <a:avLst>
              <a:gd name="adj" fmla="val 4615"/>
            </a:avLst>
          </a:prstGeom>
          <a:solidFill>
            <a:srgbClr val="FFFFFF"/>
          </a:solidFill>
          <a:ln/>
          <a:effectLst>
            <a:outerShdw sx="100000" sy="100000" kx="0" ky="0" algn="bl" rotWithShape="0" blurRad="76200" dist="25400" dir="5400000">
              <a:srgbClr val="0B3D2E">
                <a:alpha val="18000"/>
              </a:srgbClr>
            </a:outerShdw>
          </a:effectLst>
        </p:spPr>
      </p:sp>
      <p:sp>
        <p:nvSpPr>
          <p:cNvPr id="14" name="Shape 12"/>
          <p:cNvSpPr/>
          <p:nvPr/>
        </p:nvSpPr>
        <p:spPr>
          <a:xfrm>
            <a:off x="804672" y="4663440"/>
            <a:ext cx="502920" cy="502920"/>
          </a:xfrm>
          <a:prstGeom prst="roundRect">
            <a:avLst>
              <a:gd name="adj" fmla="val 22000"/>
            </a:avLst>
          </a:prstGeom>
          <a:solidFill>
            <a:srgbClr val="2FA36B"/>
          </a:solidFill>
          <a:ln/>
          <a:effectLst>
            <a:outerShdw sx="100000" sy="100000" kx="0" ky="0" algn="bl" rotWithShape="0" blurRad="76200" dist="25400" dir="5400000">
              <a:srgbClr val="0B3D2E">
                <a:alpha val="18000"/>
              </a:srgbClr>
            </a:outerShdw>
          </a:effectLst>
        </p:spPr>
      </p:sp>
      <p:pic>
        <p:nvPicPr>
          <p:cNvPr id="15" name="Image 0" descr="preencoded.png">    </p:cNvPr>
          <p:cNvPicPr>
            <a:picLocks noChangeAspect="1"/>
          </p:cNvPicPr>
          <p:nvPr/>
        </p:nvPicPr>
        <p:blipFill>
          <a:blip r:embed="rId1"/>
          <a:stretch>
            <a:fillRect/>
          </a:stretch>
        </p:blipFill>
        <p:spPr>
          <a:xfrm>
            <a:off x="925373" y="4784141"/>
            <a:ext cx="261518" cy="261518"/>
          </a:xfrm>
          <a:prstGeom prst="rect">
            <a:avLst/>
          </a:prstGeom>
        </p:spPr>
      </p:pic>
      <p:sp>
        <p:nvSpPr>
          <p:cNvPr id="16" name="Text 13"/>
          <p:cNvSpPr txBox="1"/>
          <p:nvPr/>
        </p:nvSpPr>
        <p:spPr>
          <a:xfrm>
            <a:off x="1463040" y="4736592"/>
            <a:ext cx="2514600" cy="365760"/>
          </a:xfrm>
          <a:prstGeom prst="rect">
            <a:avLst/>
          </a:prstGeom>
          <a:noFill/>
          <a:ln/>
        </p:spPr>
        <p:txBody>
          <a:bodyPr wrap="square" lIns="0" tIns="0" rIns="0" bIns="0" rtlCol="0" anchor="ctr"/>
          <a:lstStyle/>
          <a:p>
            <a:pPr indent="0" marL="0">
              <a:buNone/>
            </a:pPr>
            <a:r>
              <a:rPr lang="en-US" sz="1400" b="1" dirty="0">
                <a:solidFill>
                  <a:srgbClr val="1A2E24"/>
                </a:solidFill>
                <a:latin typeface="Calibri" pitchFamily="34" charset="0"/>
                <a:ea typeface="Calibri" pitchFamily="34" charset="-122"/>
                <a:cs typeface="Calibri" pitchFamily="34" charset="-120"/>
              </a:rPr>
              <a:t>No CORS in production</a:t>
            </a:r>
            <a:endParaRPr lang="en-US" sz="1400" dirty="0"/>
          </a:p>
        </p:txBody>
      </p:sp>
      <p:sp>
        <p:nvSpPr>
          <p:cNvPr id="17" name="Text 14"/>
          <p:cNvSpPr txBox="1"/>
          <p:nvPr/>
        </p:nvSpPr>
        <p:spPr>
          <a:xfrm>
            <a:off x="804672" y="5349240"/>
            <a:ext cx="3063240" cy="777240"/>
          </a:xfrm>
          <a:prstGeom prst="rect">
            <a:avLst/>
          </a:prstGeom>
          <a:noFill/>
          <a:ln/>
        </p:spPr>
        <p:txBody>
          <a:bodyPr wrap="square" lIns="0" tIns="0" rIns="0" bIns="0" rtlCol="0" anchor="ctr"/>
          <a:lstStyle/>
          <a:p>
            <a:pPr indent="0" marL="0">
              <a:buNone/>
            </a:pPr>
            <a:r>
              <a:rPr lang="en-US" sz="1150" dirty="0">
                <a:solidFill>
                  <a:srgbClr val="5C6F66"/>
                </a:solidFill>
                <a:latin typeface="Calibri" pitchFamily="34" charset="0"/>
                <a:ea typeface="Calibri" pitchFamily="34" charset="-122"/>
                <a:cs typeface="Calibri" pitchFamily="34" charset="-120"/>
              </a:rPr>
              <a:t>One origin means the browser never needs cross-origin permission to call the API.</a:t>
            </a:r>
            <a:endParaRPr lang="en-US" sz="1150" dirty="0"/>
          </a:p>
        </p:txBody>
      </p:sp>
      <p:sp>
        <p:nvSpPr>
          <p:cNvPr id="18" name="Shape 15"/>
          <p:cNvSpPr/>
          <p:nvPr/>
        </p:nvSpPr>
        <p:spPr>
          <a:xfrm>
            <a:off x="4315968" y="4434840"/>
            <a:ext cx="3566160" cy="1783080"/>
          </a:xfrm>
          <a:prstGeom prst="roundRect">
            <a:avLst>
              <a:gd name="adj" fmla="val 4615"/>
            </a:avLst>
          </a:prstGeom>
          <a:solidFill>
            <a:srgbClr val="FFFFFF"/>
          </a:solidFill>
          <a:ln/>
          <a:effectLst>
            <a:outerShdw sx="100000" sy="100000" kx="0" ky="0" algn="bl" rotWithShape="0" blurRad="76200" dist="25400" dir="5400000">
              <a:srgbClr val="0B3D2E">
                <a:alpha val="18000"/>
              </a:srgbClr>
            </a:outerShdw>
          </a:effectLst>
        </p:spPr>
      </p:sp>
      <p:sp>
        <p:nvSpPr>
          <p:cNvPr id="19" name="Shape 16"/>
          <p:cNvSpPr/>
          <p:nvPr/>
        </p:nvSpPr>
        <p:spPr>
          <a:xfrm>
            <a:off x="4572000" y="4663440"/>
            <a:ext cx="502920" cy="502920"/>
          </a:xfrm>
          <a:prstGeom prst="roundRect">
            <a:avLst>
              <a:gd name="adj" fmla="val 22000"/>
            </a:avLst>
          </a:prstGeom>
          <a:solidFill>
            <a:srgbClr val="2FA36B"/>
          </a:solidFill>
          <a:ln/>
          <a:effectLst>
            <a:outerShdw sx="100000" sy="100000" kx="0" ky="0" algn="bl" rotWithShape="0" blurRad="76200" dist="25400" dir="5400000">
              <a:srgbClr val="0B3D2E">
                <a:alpha val="18000"/>
              </a:srgbClr>
            </a:outerShdw>
          </a:effectLst>
        </p:spPr>
      </p:sp>
      <p:pic>
        <p:nvPicPr>
          <p:cNvPr id="20" name="Image 1" descr="preencoded.png">    </p:cNvPr>
          <p:cNvPicPr>
            <a:picLocks noChangeAspect="1"/>
          </p:cNvPicPr>
          <p:nvPr/>
        </p:nvPicPr>
        <p:blipFill>
          <a:blip r:embed="rId2"/>
          <a:stretch>
            <a:fillRect/>
          </a:stretch>
        </p:blipFill>
        <p:spPr>
          <a:xfrm>
            <a:off x="4692701" y="4784141"/>
            <a:ext cx="261518" cy="261518"/>
          </a:xfrm>
          <a:prstGeom prst="rect">
            <a:avLst/>
          </a:prstGeom>
        </p:spPr>
      </p:pic>
      <p:sp>
        <p:nvSpPr>
          <p:cNvPr id="21" name="Text 17"/>
          <p:cNvSpPr txBox="1"/>
          <p:nvPr/>
        </p:nvSpPr>
        <p:spPr>
          <a:xfrm>
            <a:off x="5230368" y="4736592"/>
            <a:ext cx="2514600" cy="365760"/>
          </a:xfrm>
          <a:prstGeom prst="rect">
            <a:avLst/>
          </a:prstGeom>
          <a:noFill/>
          <a:ln/>
        </p:spPr>
        <p:txBody>
          <a:bodyPr wrap="square" lIns="0" tIns="0" rIns="0" bIns="0" rtlCol="0" anchor="ctr"/>
          <a:lstStyle/>
          <a:p>
            <a:pPr indent="0" marL="0">
              <a:buNone/>
            </a:pPr>
            <a:r>
              <a:rPr lang="en-US" sz="1400" b="1" dirty="0">
                <a:solidFill>
                  <a:srgbClr val="1A2E24"/>
                </a:solidFill>
                <a:latin typeface="Calibri" pitchFamily="34" charset="0"/>
                <a:ea typeface="Calibri" pitchFamily="34" charset="-122"/>
                <a:cs typeface="Calibri" pitchFamily="34" charset="-120"/>
              </a:rPr>
              <a:t>SameSite just works</a:t>
            </a:r>
            <a:endParaRPr lang="en-US" sz="1400" dirty="0"/>
          </a:p>
        </p:txBody>
      </p:sp>
      <p:sp>
        <p:nvSpPr>
          <p:cNvPr id="22" name="Text 18"/>
          <p:cNvSpPr txBox="1"/>
          <p:nvPr/>
        </p:nvSpPr>
        <p:spPr>
          <a:xfrm>
            <a:off x="4572000" y="5349240"/>
            <a:ext cx="3063240" cy="777240"/>
          </a:xfrm>
          <a:prstGeom prst="rect">
            <a:avLst/>
          </a:prstGeom>
          <a:noFill/>
          <a:ln/>
        </p:spPr>
        <p:txBody>
          <a:bodyPr wrap="square" lIns="0" tIns="0" rIns="0" bIns="0" rtlCol="0" anchor="ctr"/>
          <a:lstStyle/>
          <a:p>
            <a:pPr indent="0" marL="0">
              <a:buNone/>
            </a:pPr>
            <a:r>
              <a:rPr lang="en-US" sz="1150" dirty="0">
                <a:solidFill>
                  <a:srgbClr val="5C6F66"/>
                </a:solidFill>
                <a:latin typeface="Calibri" pitchFamily="34" charset="0"/>
                <a:ea typeface="Calibri" pitchFamily="34" charset="-122"/>
                <a:cs typeface="Calibri" pitchFamily="34" charset="-120"/>
              </a:rPr>
              <a:t>Cookies flow first-party by definition - no third-party-cookie fights, ever.</a:t>
            </a:r>
            <a:endParaRPr lang="en-US" sz="1150" dirty="0"/>
          </a:p>
        </p:txBody>
      </p:sp>
      <p:sp>
        <p:nvSpPr>
          <p:cNvPr id="23" name="Shape 19"/>
          <p:cNvSpPr/>
          <p:nvPr/>
        </p:nvSpPr>
        <p:spPr>
          <a:xfrm>
            <a:off x="8083296" y="4434840"/>
            <a:ext cx="3566160" cy="1783080"/>
          </a:xfrm>
          <a:prstGeom prst="roundRect">
            <a:avLst>
              <a:gd name="adj" fmla="val 4615"/>
            </a:avLst>
          </a:prstGeom>
          <a:solidFill>
            <a:srgbClr val="FFFFFF"/>
          </a:solidFill>
          <a:ln/>
          <a:effectLst>
            <a:outerShdw sx="100000" sy="100000" kx="0" ky="0" algn="bl" rotWithShape="0" blurRad="76200" dist="25400" dir="5400000">
              <a:srgbClr val="0B3D2E">
                <a:alpha val="18000"/>
              </a:srgbClr>
            </a:outerShdw>
          </a:effectLst>
        </p:spPr>
      </p:sp>
      <p:sp>
        <p:nvSpPr>
          <p:cNvPr id="24" name="Shape 20"/>
          <p:cNvSpPr/>
          <p:nvPr/>
        </p:nvSpPr>
        <p:spPr>
          <a:xfrm>
            <a:off x="8339328" y="4663440"/>
            <a:ext cx="502920" cy="502920"/>
          </a:xfrm>
          <a:prstGeom prst="roundRect">
            <a:avLst>
              <a:gd name="adj" fmla="val 22000"/>
            </a:avLst>
          </a:prstGeom>
          <a:solidFill>
            <a:srgbClr val="2FA36B"/>
          </a:solidFill>
          <a:ln/>
          <a:effectLst>
            <a:outerShdw sx="100000" sy="100000" kx="0" ky="0" algn="bl" rotWithShape="0" blurRad="76200" dist="25400" dir="5400000">
              <a:srgbClr val="0B3D2E">
                <a:alpha val="18000"/>
              </a:srgbClr>
            </a:outerShdw>
          </a:effectLst>
        </p:spPr>
      </p:sp>
      <p:pic>
        <p:nvPicPr>
          <p:cNvPr id="25" name="Image 2" descr="preencoded.png">    </p:cNvPr>
          <p:cNvPicPr>
            <a:picLocks noChangeAspect="1"/>
          </p:cNvPicPr>
          <p:nvPr/>
        </p:nvPicPr>
        <p:blipFill>
          <a:blip r:embed="rId3"/>
          <a:stretch>
            <a:fillRect/>
          </a:stretch>
        </p:blipFill>
        <p:spPr>
          <a:xfrm>
            <a:off x="8460029" y="4784141"/>
            <a:ext cx="261518" cy="261518"/>
          </a:xfrm>
          <a:prstGeom prst="rect">
            <a:avLst/>
          </a:prstGeom>
        </p:spPr>
      </p:pic>
      <p:sp>
        <p:nvSpPr>
          <p:cNvPr id="26" name="Text 21"/>
          <p:cNvSpPr txBox="1"/>
          <p:nvPr/>
        </p:nvSpPr>
        <p:spPr>
          <a:xfrm>
            <a:off x="8997696" y="4736592"/>
            <a:ext cx="2514600" cy="365760"/>
          </a:xfrm>
          <a:prstGeom prst="rect">
            <a:avLst/>
          </a:prstGeom>
          <a:noFill/>
          <a:ln/>
        </p:spPr>
        <p:txBody>
          <a:bodyPr wrap="square" lIns="0" tIns="0" rIns="0" bIns="0" rtlCol="0" anchor="ctr"/>
          <a:lstStyle/>
          <a:p>
            <a:pPr indent="0" marL="0">
              <a:buNone/>
            </a:pPr>
            <a:r>
              <a:rPr lang="en-US" sz="1400" b="1" dirty="0">
                <a:solidFill>
                  <a:srgbClr val="1A2E24"/>
                </a:solidFill>
                <a:latin typeface="Calibri" pitchFamily="34" charset="0"/>
                <a:ea typeface="Calibri" pitchFamily="34" charset="-122"/>
                <a:cs typeface="Calibri" pitchFamily="34" charset="-120"/>
              </a:rPr>
              <a:t>Backend unroutable</a:t>
            </a:r>
            <a:endParaRPr lang="en-US" sz="1400" dirty="0"/>
          </a:p>
        </p:txBody>
      </p:sp>
      <p:sp>
        <p:nvSpPr>
          <p:cNvPr id="27" name="Text 22"/>
          <p:cNvSpPr txBox="1"/>
          <p:nvPr/>
        </p:nvSpPr>
        <p:spPr>
          <a:xfrm>
            <a:off x="8339328" y="5349240"/>
            <a:ext cx="3063240" cy="777240"/>
          </a:xfrm>
          <a:prstGeom prst="rect">
            <a:avLst/>
          </a:prstGeom>
          <a:noFill/>
          <a:ln/>
        </p:spPr>
        <p:txBody>
          <a:bodyPr wrap="square" lIns="0" tIns="0" rIns="0" bIns="0" rtlCol="0" anchor="ctr"/>
          <a:lstStyle/>
          <a:p>
            <a:pPr indent="0" marL="0">
              <a:buNone/>
            </a:pPr>
            <a:r>
              <a:rPr lang="en-US" sz="1150" dirty="0">
                <a:solidFill>
                  <a:srgbClr val="5C6F66"/>
                </a:solidFill>
                <a:latin typeface="Calibri" pitchFamily="34" charset="0"/>
                <a:ea typeface="Calibri" pitchFamily="34" charset="-122"/>
                <a:cs typeface="Calibri" pitchFamily="34" charset="-120"/>
              </a:rPr>
              <a:t>The BFF has no published port. Its only caller is the proxy in front of it.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ctr"/>
          <a:lstStyle/>
          <a:p>
            <a:pPr indent="0" marL="0">
              <a:buNone/>
            </a:pPr>
            <a:r>
              <a:rPr lang="en-US" sz="1200" b="1" spc="300" kern="0" dirty="0">
                <a:solidFill>
                  <a:srgbClr val="248257"/>
                </a:solidFill>
                <a:latin typeface="Calibri" pitchFamily="34" charset="0"/>
                <a:ea typeface="Calibri" pitchFamily="34" charset="-122"/>
                <a:cs typeface="Calibri" pitchFamily="34" charset="-120"/>
              </a:rPr>
              <a:t>MACHINE CLIENTS</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A2E24"/>
                </a:solidFill>
                <a:latin typeface="Calibri" pitchFamily="34" charset="0"/>
                <a:ea typeface="Calibri" pitchFamily="34" charset="-122"/>
                <a:cs typeface="Calibri" pitchFamily="34" charset="-120"/>
              </a:rPr>
              <a:t>Two front doors, one security chain</a:t>
            </a:r>
            <a:endParaRPr lang="en-US" sz="3000" dirty="0"/>
          </a:p>
        </p:txBody>
      </p:sp>
      <p:sp>
        <p:nvSpPr>
          <p:cNvPr id="4" name="Shape 2"/>
          <p:cNvSpPr/>
          <p:nvPr/>
        </p:nvSpPr>
        <p:spPr>
          <a:xfrm>
            <a:off x="548640" y="1645920"/>
            <a:ext cx="5120640" cy="2651760"/>
          </a:xfrm>
          <a:prstGeom prst="roundRect">
            <a:avLst>
              <a:gd name="adj" fmla="val 3103"/>
            </a:avLst>
          </a:prstGeom>
          <a:solidFill>
            <a:srgbClr val="EDF6F1"/>
          </a:solidFill>
          <a:ln w="12700">
            <a:solidFill>
              <a:srgbClr val="CFE3D7"/>
            </a:solidFill>
            <a:prstDash val="solid"/>
          </a:ln>
        </p:spPr>
      </p:sp>
      <p:sp>
        <p:nvSpPr>
          <p:cNvPr id="5" name="Shape 3"/>
          <p:cNvSpPr/>
          <p:nvPr/>
        </p:nvSpPr>
        <p:spPr>
          <a:xfrm>
            <a:off x="822960" y="1874520"/>
            <a:ext cx="502920" cy="50292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6" name="Image 0" descr="preencoded.png">    </p:cNvPr>
          <p:cNvPicPr>
            <a:picLocks noChangeAspect="1"/>
          </p:cNvPicPr>
          <p:nvPr/>
        </p:nvPicPr>
        <p:blipFill>
          <a:blip r:embed="rId1"/>
          <a:stretch>
            <a:fillRect/>
          </a:stretch>
        </p:blipFill>
        <p:spPr>
          <a:xfrm>
            <a:off x="943661" y="1995221"/>
            <a:ext cx="261518" cy="261518"/>
          </a:xfrm>
          <a:prstGeom prst="rect">
            <a:avLst/>
          </a:prstGeom>
        </p:spPr>
      </p:pic>
      <p:sp>
        <p:nvSpPr>
          <p:cNvPr id="7" name="Text 4"/>
          <p:cNvSpPr txBox="1"/>
          <p:nvPr/>
        </p:nvSpPr>
        <p:spPr>
          <a:xfrm>
            <a:off x="1508760" y="1947672"/>
            <a:ext cx="3291840" cy="320040"/>
          </a:xfrm>
          <a:prstGeom prst="rect">
            <a:avLst/>
          </a:prstGeom>
          <a:noFill/>
          <a:ln/>
        </p:spPr>
        <p:txBody>
          <a:bodyPr wrap="square" lIns="0" tIns="0" rIns="0" bIns="0" rtlCol="0" anchor="ctr"/>
          <a:lstStyle/>
          <a:p>
            <a:pPr indent="0" marL="0">
              <a:buNone/>
            </a:pPr>
            <a:r>
              <a:rPr lang="en-US" sz="1600" b="1" dirty="0">
                <a:solidFill>
                  <a:srgbClr val="1A2E24"/>
                </a:solidFill>
                <a:latin typeface="Calibri" pitchFamily="34" charset="0"/>
                <a:ea typeface="Calibri" pitchFamily="34" charset="-122"/>
                <a:cs typeface="Calibri" pitchFamily="34" charset="-120"/>
              </a:rPr>
              <a:t>Session cookie</a:t>
            </a:r>
            <a:endParaRPr lang="en-US" sz="1600" dirty="0"/>
          </a:p>
        </p:txBody>
      </p:sp>
      <p:sp>
        <p:nvSpPr>
          <p:cNvPr id="8" name="Text 5"/>
          <p:cNvSpPr txBox="1"/>
          <p:nvPr/>
        </p:nvSpPr>
        <p:spPr>
          <a:xfrm>
            <a:off x="4160520" y="1947672"/>
            <a:ext cx="1371600" cy="320040"/>
          </a:xfrm>
          <a:prstGeom prst="rect">
            <a:avLst/>
          </a:prstGeom>
          <a:noFill/>
          <a:ln/>
        </p:spPr>
        <p:txBody>
          <a:bodyPr wrap="square" lIns="0" tIns="0" rIns="0" bIns="0" rtlCol="0" anchor="ctr"/>
          <a:lstStyle/>
          <a:p>
            <a:pPr algn="r" indent="0" marL="0">
              <a:buNone/>
            </a:pPr>
            <a:r>
              <a:rPr lang="en-US" sz="1100" b="1" dirty="0">
                <a:solidFill>
                  <a:srgbClr val="248257"/>
                </a:solidFill>
                <a:latin typeface="Calibri" pitchFamily="34" charset="0"/>
                <a:ea typeface="Calibri" pitchFamily="34" charset="-122"/>
                <a:cs typeface="Calibri" pitchFamily="34" charset="-120"/>
              </a:rPr>
              <a:t>Always on</a:t>
            </a:r>
            <a:endParaRPr lang="en-US" sz="1100" dirty="0"/>
          </a:p>
        </p:txBody>
      </p:sp>
      <p:sp>
        <p:nvSpPr>
          <p:cNvPr id="9" name="Text 6"/>
          <p:cNvSpPr txBox="1"/>
          <p:nvPr/>
        </p:nvSpPr>
        <p:spPr>
          <a:xfrm>
            <a:off x="822960" y="2514600"/>
            <a:ext cx="4572000" cy="1097280"/>
          </a:xfrm>
          <a:prstGeom prst="rect">
            <a:avLst/>
          </a:prstGeom>
          <a:noFill/>
          <a:ln/>
        </p:spPr>
        <p:txBody>
          <a:bodyPr wrap="square" lIns="0" tIns="0" rIns="0" bIns="0" rtlCol="0" anchor="ctr"/>
          <a:lstStyle/>
          <a:p>
            <a:pPr indent="0" marL="0">
              <a:buNone/>
            </a:pPr>
            <a:r>
              <a:rPr lang="en-US" sz="1250" dirty="0">
                <a:solidFill>
                  <a:srgbClr val="5C6F66"/>
                </a:solidFill>
                <a:latin typeface="Calibri" pitchFamily="34" charset="0"/>
                <a:ea typeface="Calibri" pitchFamily="34" charset="-122"/>
                <a:cs typeface="Calibri" pitchFamily="34" charset="-120"/>
              </a:rPr>
              <a:t>The browser path described so far: oauth2Login, sessions, CSRF, roles mapped from the ID token. This is the BFF being an OAuth2 Client.</a:t>
            </a:r>
            <a:endParaRPr lang="en-US" sz="1250" dirty="0"/>
          </a:p>
        </p:txBody>
      </p:sp>
      <p:sp>
        <p:nvSpPr>
          <p:cNvPr id="10" name="Text 7"/>
          <p:cNvSpPr txBox="1"/>
          <p:nvPr/>
        </p:nvSpPr>
        <p:spPr>
          <a:xfrm>
            <a:off x="822960" y="3794760"/>
            <a:ext cx="4572000" cy="320040"/>
          </a:xfrm>
          <a:prstGeom prst="rect">
            <a:avLst/>
          </a:prstGeom>
          <a:noFill/>
          <a:ln/>
        </p:spPr>
        <p:txBody>
          <a:bodyPr wrap="square" lIns="0" tIns="0" rIns="0" bIns="0" rtlCol="0" anchor="ctr"/>
          <a:lstStyle/>
          <a:p>
            <a:pPr indent="0" marL="0">
              <a:buNone/>
            </a:pPr>
            <a:r>
              <a:rPr lang="en-US" sz="1150" i="1" dirty="0">
                <a:solidFill>
                  <a:srgbClr val="248257"/>
                </a:solidFill>
                <a:latin typeface="Calibri" pitchFamily="34" charset="0"/>
                <a:ea typeface="Calibri" pitchFamily="34" charset="-122"/>
                <a:cs typeface="Calibri" pitchFamily="34" charset="-120"/>
              </a:rPr>
              <a:t>Used by: the React SPA, Swagger UI</a:t>
            </a:r>
            <a:endParaRPr lang="en-US" sz="1150" dirty="0"/>
          </a:p>
        </p:txBody>
      </p:sp>
      <p:sp>
        <p:nvSpPr>
          <p:cNvPr id="11" name="Shape 8"/>
          <p:cNvSpPr/>
          <p:nvPr/>
        </p:nvSpPr>
        <p:spPr>
          <a:xfrm>
            <a:off x="6492240" y="1645920"/>
            <a:ext cx="5120640" cy="2651760"/>
          </a:xfrm>
          <a:prstGeom prst="roundRect">
            <a:avLst>
              <a:gd name="adj" fmla="val 3103"/>
            </a:avLst>
          </a:prstGeom>
          <a:solidFill>
            <a:srgbClr val="EDF6F1"/>
          </a:solidFill>
          <a:ln w="12700">
            <a:solidFill>
              <a:srgbClr val="CFE3D7"/>
            </a:solidFill>
            <a:prstDash val="solid"/>
          </a:ln>
        </p:spPr>
      </p:sp>
      <p:sp>
        <p:nvSpPr>
          <p:cNvPr id="12" name="Shape 9"/>
          <p:cNvSpPr/>
          <p:nvPr/>
        </p:nvSpPr>
        <p:spPr>
          <a:xfrm>
            <a:off x="6766560" y="1874520"/>
            <a:ext cx="502920" cy="50292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13" name="Image 1" descr="preencoded.png">    </p:cNvPr>
          <p:cNvPicPr>
            <a:picLocks noChangeAspect="1"/>
          </p:cNvPicPr>
          <p:nvPr/>
        </p:nvPicPr>
        <p:blipFill>
          <a:blip r:embed="rId2"/>
          <a:stretch>
            <a:fillRect/>
          </a:stretch>
        </p:blipFill>
        <p:spPr>
          <a:xfrm>
            <a:off x="6887261" y="1995221"/>
            <a:ext cx="261518" cy="261518"/>
          </a:xfrm>
          <a:prstGeom prst="rect">
            <a:avLst/>
          </a:prstGeom>
        </p:spPr>
      </p:pic>
      <p:sp>
        <p:nvSpPr>
          <p:cNvPr id="14" name="Text 10"/>
          <p:cNvSpPr txBox="1"/>
          <p:nvPr/>
        </p:nvSpPr>
        <p:spPr>
          <a:xfrm>
            <a:off x="7452360" y="1947672"/>
            <a:ext cx="2926080" cy="320040"/>
          </a:xfrm>
          <a:prstGeom prst="rect">
            <a:avLst/>
          </a:prstGeom>
          <a:noFill/>
          <a:ln/>
        </p:spPr>
        <p:txBody>
          <a:bodyPr wrap="square" lIns="0" tIns="0" rIns="0" bIns="0" rtlCol="0" anchor="ctr"/>
          <a:lstStyle/>
          <a:p>
            <a:pPr indent="0" marL="0">
              <a:buNone/>
            </a:pPr>
            <a:r>
              <a:rPr lang="en-US" sz="1600" b="1" dirty="0">
                <a:solidFill>
                  <a:srgbClr val="1A2E24"/>
                </a:solidFill>
                <a:latin typeface="Calibri" pitchFamily="34" charset="0"/>
                <a:ea typeface="Calibri" pitchFamily="34" charset="-122"/>
                <a:cs typeface="Calibri" pitchFamily="34" charset="-120"/>
              </a:rPr>
              <a:t>Bearer JWT</a:t>
            </a:r>
            <a:endParaRPr lang="en-US" sz="1600" dirty="0"/>
          </a:p>
        </p:txBody>
      </p:sp>
      <p:sp>
        <p:nvSpPr>
          <p:cNvPr id="15" name="Text 11"/>
          <p:cNvSpPr txBox="1"/>
          <p:nvPr/>
        </p:nvSpPr>
        <p:spPr>
          <a:xfrm>
            <a:off x="9464040" y="1947672"/>
            <a:ext cx="1920240" cy="320040"/>
          </a:xfrm>
          <a:prstGeom prst="rect">
            <a:avLst/>
          </a:prstGeom>
          <a:noFill/>
          <a:ln/>
        </p:spPr>
        <p:txBody>
          <a:bodyPr wrap="square" lIns="0" tIns="0" rIns="0" bIns="0" rtlCol="0" anchor="ctr"/>
          <a:lstStyle/>
          <a:p>
            <a:pPr algn="r" indent="0" marL="0">
              <a:buNone/>
            </a:pPr>
            <a:r>
              <a:rPr lang="en-US" sz="1000" b="1" dirty="0">
                <a:solidFill>
                  <a:srgbClr val="248257"/>
                </a:solidFill>
                <a:latin typeface="Courier New" pitchFamily="34" charset="0"/>
                <a:ea typeface="Courier New" pitchFamily="34" charset="-122"/>
                <a:cs typeface="Courier New" pitchFamily="34" charset="-120"/>
              </a:rPr>
              <a:t>API_EXPOSED=true</a:t>
            </a:r>
            <a:endParaRPr lang="en-US" sz="1000" dirty="0"/>
          </a:p>
        </p:txBody>
      </p:sp>
      <p:sp>
        <p:nvSpPr>
          <p:cNvPr id="16" name="Text 12"/>
          <p:cNvSpPr txBox="1"/>
          <p:nvPr/>
        </p:nvSpPr>
        <p:spPr>
          <a:xfrm>
            <a:off x="6766560" y="2514600"/>
            <a:ext cx="4572000" cy="1097280"/>
          </a:xfrm>
          <a:prstGeom prst="rect">
            <a:avLst/>
          </a:prstGeom>
          <a:noFill/>
          <a:ln/>
        </p:spPr>
        <p:txBody>
          <a:bodyPr wrap="square" lIns="0" tIns="0" rIns="0" bIns="0" rtlCol="0" anchor="ctr"/>
          <a:lstStyle/>
          <a:p>
            <a:pPr indent="0" marL="0">
              <a:buNone/>
            </a:pPr>
            <a:r>
              <a:rPr lang="en-US" sz="1250" dirty="0">
                <a:solidFill>
                  <a:srgbClr val="5C6F66"/>
                </a:solidFill>
                <a:latin typeface="Calibri" pitchFamily="34" charset="0"/>
                <a:ea typeface="Calibri" pitchFamily="34" charset="-122"/>
                <a:cs typeface="Calibri" pitchFamily="34" charset="-120"/>
              </a:rPr>
              <a:t>Opt-in Resource Server support: service accounts get tokens from Keycloak via client_credentials and call the same API with Authorization: Bearer. Same role model, read from the JWT.</a:t>
            </a:r>
            <a:endParaRPr lang="en-US" sz="1250" dirty="0"/>
          </a:p>
        </p:txBody>
      </p:sp>
      <p:sp>
        <p:nvSpPr>
          <p:cNvPr id="17" name="Text 13"/>
          <p:cNvSpPr txBox="1"/>
          <p:nvPr/>
        </p:nvSpPr>
        <p:spPr>
          <a:xfrm>
            <a:off x="6766560" y="3794760"/>
            <a:ext cx="4572000" cy="320040"/>
          </a:xfrm>
          <a:prstGeom prst="rect">
            <a:avLst/>
          </a:prstGeom>
          <a:noFill/>
          <a:ln/>
        </p:spPr>
        <p:txBody>
          <a:bodyPr wrap="square" lIns="0" tIns="0" rIns="0" bIns="0" rtlCol="0" anchor="ctr"/>
          <a:lstStyle/>
          <a:p>
            <a:pPr indent="0" marL="0">
              <a:buNone/>
            </a:pPr>
            <a:r>
              <a:rPr lang="en-US" sz="1150" i="1" dirty="0">
                <a:solidFill>
                  <a:srgbClr val="248257"/>
                </a:solidFill>
                <a:latin typeface="Calibri" pitchFamily="34" charset="0"/>
                <a:ea typeface="Calibri" pitchFamily="34" charset="-122"/>
                <a:cs typeface="Calibri" pitchFamily="34" charset="-120"/>
              </a:rPr>
              <a:t>Used by: batch jobs, sibling services, integrations</a:t>
            </a:r>
            <a:endParaRPr lang="en-US" sz="1150" dirty="0"/>
          </a:p>
        </p:txBody>
      </p:sp>
      <p:sp>
        <p:nvSpPr>
          <p:cNvPr id="18" name="Shape 14"/>
          <p:cNvSpPr/>
          <p:nvPr/>
        </p:nvSpPr>
        <p:spPr>
          <a:xfrm>
            <a:off x="3108960" y="4297680"/>
            <a:ext cx="2194560" cy="685800"/>
          </a:xfrm>
          <a:prstGeom prst="line">
            <a:avLst/>
          </a:prstGeom>
          <a:noFill/>
          <a:ln w="28575">
            <a:solidFill>
              <a:srgbClr val="248257"/>
            </a:solidFill>
            <a:prstDash val="solid"/>
            <a:tailEnd type="triangle"/>
          </a:ln>
        </p:spPr>
      </p:sp>
      <p:sp>
        <p:nvSpPr>
          <p:cNvPr id="19" name="Shape 15"/>
          <p:cNvSpPr/>
          <p:nvPr/>
        </p:nvSpPr>
        <p:spPr>
          <a:xfrm>
            <a:off x="9052560" y="4297680"/>
            <a:ext cx="-2194560" cy="685800"/>
          </a:xfrm>
          <a:prstGeom prst="line">
            <a:avLst/>
          </a:prstGeom>
          <a:noFill/>
          <a:ln w="28575">
            <a:solidFill>
              <a:srgbClr val="248257"/>
            </a:solidFill>
            <a:prstDash val="solid"/>
            <a:tailEnd type="triangle"/>
          </a:ln>
        </p:spPr>
      </p:sp>
      <p:sp>
        <p:nvSpPr>
          <p:cNvPr id="20" name="Shape 16"/>
          <p:cNvSpPr/>
          <p:nvPr/>
        </p:nvSpPr>
        <p:spPr>
          <a:xfrm>
            <a:off x="3566160" y="5029200"/>
            <a:ext cx="5029200" cy="1188720"/>
          </a:xfrm>
          <a:prstGeom prst="roundRect">
            <a:avLst>
              <a:gd name="adj" fmla="val 6923"/>
            </a:avLst>
          </a:prstGeom>
          <a:solidFill>
            <a:srgbClr val="0F6A44"/>
          </a:solidFill>
          <a:ln/>
        </p:spPr>
      </p:sp>
      <p:sp>
        <p:nvSpPr>
          <p:cNvPr id="21" name="Text 17"/>
          <p:cNvSpPr txBox="1"/>
          <p:nvPr/>
        </p:nvSpPr>
        <p:spPr>
          <a:xfrm>
            <a:off x="3566160" y="5193792"/>
            <a:ext cx="50292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One SecurityFilterChain</a:t>
            </a:r>
            <a:endParaRPr lang="en-US" sz="1600" dirty="0"/>
          </a:p>
        </p:txBody>
      </p:sp>
      <p:sp>
        <p:nvSpPr>
          <p:cNvPr id="22" name="Text 18"/>
          <p:cNvSpPr txBox="1"/>
          <p:nvPr/>
        </p:nvSpPr>
        <p:spPr>
          <a:xfrm>
            <a:off x="3566160" y="5559552"/>
            <a:ext cx="5029200" cy="594360"/>
          </a:xfrm>
          <a:prstGeom prst="rect">
            <a:avLst/>
          </a:prstGeom>
          <a:noFill/>
          <a:ln/>
        </p:spPr>
        <p:txBody>
          <a:bodyPr wrap="square" lIns="0" tIns="0" rIns="0" bIns="0" rtlCol="0" anchor="ctr"/>
          <a:lstStyle/>
          <a:p>
            <a:pPr algn="ctr" indent="0" marL="0">
              <a:buNone/>
            </a:pPr>
            <a:r>
              <a:rPr lang="en-US" sz="1150" dirty="0">
                <a:solidFill>
                  <a:srgbClr val="CBEAD9"/>
                </a:solidFill>
                <a:latin typeface="Calibri" pitchFamily="34" charset="0"/>
                <a:ea typeface="Calibri" pitchFamily="34" charset="-122"/>
                <a:cs typeface="Calibri" pitchFamily="34" charset="-120"/>
              </a:rPr>
              <a:t>Bearer filter engages only on a “Bearer ” header;</a:t>
            </a:r>
            <a:endParaRPr lang="en-US" sz="1150" dirty="0"/>
          </a:p>
          <a:p>
            <a:pPr algn="ctr" indent="0" marL="0">
              <a:buNone/>
            </a:pPr>
            <a:r>
              <a:rPr lang="en-US" sz="1150" dirty="0">
                <a:solidFill>
                  <a:srgbClr val="CBEAD9"/>
                </a:solidFill>
                <a:latin typeface="Calibri" pitchFamily="34" charset="0"/>
                <a:ea typeface="Calibri" pitchFamily="34" charset="-122"/>
                <a:cs typeface="Calibri" pitchFamily="34" charset="-120"/>
              </a:rPr>
              <a:t>everything else falls through to session auth.</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ctr"/>
          <a:lstStyle/>
          <a:p>
            <a:pPr indent="0" marL="0">
              <a:buNone/>
            </a:pPr>
            <a:r>
              <a:rPr lang="en-US" sz="1200" b="1" spc="300" kern="0" dirty="0">
                <a:solidFill>
                  <a:srgbClr val="248257"/>
                </a:solidFill>
                <a:latin typeface="Calibri" pitchFamily="34" charset="0"/>
                <a:ea typeface="Calibri" pitchFamily="34" charset="-122"/>
                <a:cs typeface="Calibri" pitchFamily="34" charset="-120"/>
              </a:rPr>
              <a:t>DEVELOPER EXPERIENCE</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A2E24"/>
                </a:solidFill>
                <a:latin typeface="Calibri" pitchFamily="34" charset="0"/>
                <a:ea typeface="Calibri" pitchFamily="34" charset="-122"/>
                <a:cs typeface="Calibri" pitchFamily="34" charset="-120"/>
              </a:rPr>
              <a:t>Same stack, with or without Docker</a:t>
            </a:r>
            <a:endParaRPr lang="en-US" sz="3000" dirty="0"/>
          </a:p>
        </p:txBody>
      </p:sp>
      <p:sp>
        <p:nvSpPr>
          <p:cNvPr id="4" name="Shape 2"/>
          <p:cNvSpPr/>
          <p:nvPr/>
        </p:nvSpPr>
        <p:spPr>
          <a:xfrm>
            <a:off x="4023360" y="1645920"/>
            <a:ext cx="3703320" cy="548640"/>
          </a:xfrm>
          <a:prstGeom prst="roundRect">
            <a:avLst>
              <a:gd name="adj" fmla="val 15000"/>
            </a:avLst>
          </a:prstGeom>
          <a:solidFill>
            <a:srgbClr val="0F6A44"/>
          </a:solidFill>
          <a:ln/>
        </p:spPr>
      </p:sp>
      <p:sp>
        <p:nvSpPr>
          <p:cNvPr id="5" name="Shape 3"/>
          <p:cNvSpPr/>
          <p:nvPr/>
        </p:nvSpPr>
        <p:spPr>
          <a:xfrm>
            <a:off x="4206240" y="1700784"/>
            <a:ext cx="438912" cy="438912"/>
          </a:xfrm>
          <a:prstGeom prst="roundRect">
            <a:avLst>
              <a:gd name="adj" fmla="val 22000"/>
            </a:avLst>
          </a:prstGeom>
          <a:solidFill>
            <a:srgbClr val="2FA36B"/>
          </a:solidFill>
          <a:ln/>
          <a:effectLst>
            <a:outerShdw sx="100000" sy="100000" kx="0" ky="0" algn="bl" rotWithShape="0" blurRad="76200" dist="25400" dir="5400000">
              <a:srgbClr val="0B3D2E">
                <a:alpha val="18000"/>
              </a:srgbClr>
            </a:outerShdw>
          </a:effectLst>
        </p:spPr>
      </p:sp>
      <p:pic>
        <p:nvPicPr>
          <p:cNvPr id="6" name="Image 0" descr="preencoded.png">    </p:cNvPr>
          <p:cNvPicPr>
            <a:picLocks noChangeAspect="1"/>
          </p:cNvPicPr>
          <p:nvPr/>
        </p:nvPicPr>
        <p:blipFill>
          <a:blip r:embed="rId1"/>
          <a:stretch>
            <a:fillRect/>
          </a:stretch>
        </p:blipFill>
        <p:spPr>
          <a:xfrm>
            <a:off x="4311579" y="1806123"/>
            <a:ext cx="228234" cy="228234"/>
          </a:xfrm>
          <a:prstGeom prst="rect">
            <a:avLst/>
          </a:prstGeom>
        </p:spPr>
      </p:pic>
      <p:sp>
        <p:nvSpPr>
          <p:cNvPr id="7" name="Text 4"/>
          <p:cNvSpPr txBox="1"/>
          <p:nvPr/>
        </p:nvSpPr>
        <p:spPr>
          <a:xfrm>
            <a:off x="4800600" y="1645920"/>
            <a:ext cx="283464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Docker Compose</a:t>
            </a:r>
            <a:endParaRPr lang="en-US" sz="1400" dirty="0"/>
          </a:p>
        </p:txBody>
      </p:sp>
      <p:sp>
        <p:nvSpPr>
          <p:cNvPr id="8" name="Shape 5"/>
          <p:cNvSpPr/>
          <p:nvPr/>
        </p:nvSpPr>
        <p:spPr>
          <a:xfrm>
            <a:off x="7909560" y="1645920"/>
            <a:ext cx="3703320" cy="548640"/>
          </a:xfrm>
          <a:prstGeom prst="roundRect">
            <a:avLst>
              <a:gd name="adj" fmla="val 15000"/>
            </a:avLst>
          </a:prstGeom>
          <a:solidFill>
            <a:srgbClr val="0F6A44"/>
          </a:solidFill>
          <a:ln/>
        </p:spPr>
      </p:sp>
      <p:sp>
        <p:nvSpPr>
          <p:cNvPr id="9" name="Shape 6"/>
          <p:cNvSpPr/>
          <p:nvPr/>
        </p:nvSpPr>
        <p:spPr>
          <a:xfrm>
            <a:off x="8092440" y="1700784"/>
            <a:ext cx="438912" cy="438912"/>
          </a:xfrm>
          <a:prstGeom prst="roundRect">
            <a:avLst>
              <a:gd name="adj" fmla="val 22000"/>
            </a:avLst>
          </a:prstGeom>
          <a:solidFill>
            <a:srgbClr val="2FA36B"/>
          </a:solidFill>
          <a:ln/>
          <a:effectLst>
            <a:outerShdw sx="100000" sy="100000" kx="0" ky="0" algn="bl" rotWithShape="0" blurRad="76200" dist="25400" dir="5400000">
              <a:srgbClr val="0B3D2E">
                <a:alpha val="18000"/>
              </a:srgbClr>
            </a:outerShdw>
          </a:effectLst>
        </p:spPr>
      </p:sp>
      <p:pic>
        <p:nvPicPr>
          <p:cNvPr id="10" name="Image 1" descr="preencoded.png">    </p:cNvPr>
          <p:cNvPicPr>
            <a:picLocks noChangeAspect="1"/>
          </p:cNvPicPr>
          <p:nvPr/>
        </p:nvPicPr>
        <p:blipFill>
          <a:blip r:embed="rId2"/>
          <a:stretch>
            <a:fillRect/>
          </a:stretch>
        </p:blipFill>
        <p:spPr>
          <a:xfrm>
            <a:off x="8197779" y="1806123"/>
            <a:ext cx="228234" cy="228234"/>
          </a:xfrm>
          <a:prstGeom prst="rect">
            <a:avLst/>
          </a:prstGeom>
        </p:spPr>
      </p:pic>
      <p:sp>
        <p:nvSpPr>
          <p:cNvPr id="11" name="Text 7"/>
          <p:cNvSpPr txBox="1"/>
          <p:nvPr/>
        </p:nvSpPr>
        <p:spPr>
          <a:xfrm>
            <a:off x="8686800" y="1645920"/>
            <a:ext cx="283464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Native (no Docker)</a:t>
            </a:r>
            <a:endParaRPr lang="en-US" sz="1400" dirty="0"/>
          </a:p>
        </p:txBody>
      </p:sp>
      <p:sp>
        <p:nvSpPr>
          <p:cNvPr id="12" name="Shape 8"/>
          <p:cNvSpPr/>
          <p:nvPr/>
        </p:nvSpPr>
        <p:spPr>
          <a:xfrm>
            <a:off x="548640" y="2331720"/>
            <a:ext cx="11064240" cy="621792"/>
          </a:xfrm>
          <a:prstGeom prst="roundRect">
            <a:avLst>
              <a:gd name="adj" fmla="val 13235"/>
            </a:avLst>
          </a:prstGeom>
          <a:solidFill>
            <a:srgbClr val="EDF6F1"/>
          </a:solidFill>
          <a:ln w="12700">
            <a:solidFill>
              <a:srgbClr val="CFE3D7"/>
            </a:solidFill>
            <a:prstDash val="solid"/>
          </a:ln>
        </p:spPr>
      </p:sp>
      <p:sp>
        <p:nvSpPr>
          <p:cNvPr id="13" name="Text 9"/>
          <p:cNvSpPr txBox="1"/>
          <p:nvPr/>
        </p:nvSpPr>
        <p:spPr>
          <a:xfrm>
            <a:off x="868680" y="2350008"/>
            <a:ext cx="3017520" cy="585216"/>
          </a:xfrm>
          <a:prstGeom prst="rect">
            <a:avLst/>
          </a:prstGeom>
          <a:noFill/>
          <a:ln/>
        </p:spPr>
        <p:txBody>
          <a:bodyPr wrap="square" lIns="0" tIns="0" rIns="0" bIns="0" rtlCol="0" anchor="ctr"/>
          <a:lstStyle/>
          <a:p>
            <a:pPr indent="0" marL="0">
              <a:buNone/>
            </a:pPr>
            <a:r>
              <a:rPr lang="en-US" sz="1250" b="1" dirty="0">
                <a:solidFill>
                  <a:srgbClr val="1A2E24"/>
                </a:solidFill>
                <a:latin typeface="Calibri" pitchFamily="34" charset="0"/>
                <a:ea typeface="Calibri" pitchFamily="34" charset="-122"/>
                <a:cs typeface="Calibri" pitchFamily="34" charset="-120"/>
              </a:rPr>
              <a:t>Identity</a:t>
            </a:r>
            <a:endParaRPr lang="en-US" sz="1250" dirty="0"/>
          </a:p>
        </p:txBody>
      </p:sp>
      <p:sp>
        <p:nvSpPr>
          <p:cNvPr id="14" name="Text 10"/>
          <p:cNvSpPr txBox="1"/>
          <p:nvPr/>
        </p:nvSpPr>
        <p:spPr>
          <a:xfrm>
            <a:off x="4206240" y="2350008"/>
            <a:ext cx="3474720" cy="585216"/>
          </a:xfrm>
          <a:prstGeom prst="rect">
            <a:avLst/>
          </a:prstGeom>
          <a:noFill/>
          <a:ln/>
        </p:spPr>
        <p:txBody>
          <a:bodyPr wrap="square" lIns="0" tIns="0" rIns="0" bIns="0" rtlCol="0" anchor="ctr"/>
          <a:lstStyle/>
          <a:p>
            <a:pPr indent="0" marL="0">
              <a:buNone/>
            </a:pPr>
            <a:r>
              <a:rPr lang="en-US" sz="1100" dirty="0">
                <a:solidFill>
                  <a:srgbClr val="5C6F66"/>
                </a:solidFill>
                <a:latin typeface="Courier New" pitchFamily="34" charset="0"/>
                <a:ea typeface="Courier New" pitchFamily="34" charset="-122"/>
                <a:cs typeface="Courier New" pitchFamily="34" charset="-120"/>
              </a:rPr>
              <a:t>keycloak service</a:t>
            </a:r>
            <a:endParaRPr lang="en-US" sz="1100" dirty="0"/>
          </a:p>
        </p:txBody>
      </p:sp>
      <p:sp>
        <p:nvSpPr>
          <p:cNvPr id="15" name="Text 11"/>
          <p:cNvSpPr txBox="1"/>
          <p:nvPr/>
        </p:nvSpPr>
        <p:spPr>
          <a:xfrm>
            <a:off x="8092440" y="2350008"/>
            <a:ext cx="3383280" cy="585216"/>
          </a:xfrm>
          <a:prstGeom prst="rect">
            <a:avLst/>
          </a:prstGeom>
          <a:noFill/>
          <a:ln/>
        </p:spPr>
        <p:txBody>
          <a:bodyPr wrap="square" lIns="0" tIns="0" rIns="0" bIns="0" rtlCol="0" anchor="ctr"/>
          <a:lstStyle/>
          <a:p>
            <a:pPr indent="0" marL="0">
              <a:buNone/>
            </a:pPr>
            <a:r>
              <a:rPr lang="en-US" sz="1100" dirty="0">
                <a:solidFill>
                  <a:srgbClr val="5C6F66"/>
                </a:solidFill>
                <a:latin typeface="Courier New" pitchFamily="34" charset="0"/>
                <a:ea typeface="Courier New" pitchFamily="34" charset="-122"/>
                <a:cs typeface="Courier New" pitchFamily="34" charset="-120"/>
              </a:rPr>
              <a:t>scripts/run-keycloak-native.sh</a:t>
            </a:r>
            <a:endParaRPr lang="en-US" sz="1100" dirty="0"/>
          </a:p>
        </p:txBody>
      </p:sp>
      <p:sp>
        <p:nvSpPr>
          <p:cNvPr id="16" name="Shape 12"/>
          <p:cNvSpPr/>
          <p:nvPr/>
        </p:nvSpPr>
        <p:spPr>
          <a:xfrm>
            <a:off x="548640" y="3081528"/>
            <a:ext cx="11064240" cy="621792"/>
          </a:xfrm>
          <a:prstGeom prst="roundRect">
            <a:avLst>
              <a:gd name="adj" fmla="val 13235"/>
            </a:avLst>
          </a:prstGeom>
          <a:solidFill>
            <a:srgbClr val="EDF6F1"/>
          </a:solidFill>
          <a:ln w="12700">
            <a:solidFill>
              <a:srgbClr val="CFE3D7"/>
            </a:solidFill>
            <a:prstDash val="solid"/>
          </a:ln>
        </p:spPr>
      </p:sp>
      <p:sp>
        <p:nvSpPr>
          <p:cNvPr id="17" name="Text 13"/>
          <p:cNvSpPr txBox="1"/>
          <p:nvPr/>
        </p:nvSpPr>
        <p:spPr>
          <a:xfrm>
            <a:off x="868680" y="3099816"/>
            <a:ext cx="3017520" cy="585216"/>
          </a:xfrm>
          <a:prstGeom prst="rect">
            <a:avLst/>
          </a:prstGeom>
          <a:noFill/>
          <a:ln/>
        </p:spPr>
        <p:txBody>
          <a:bodyPr wrap="square" lIns="0" tIns="0" rIns="0" bIns="0" rtlCol="0" anchor="ctr"/>
          <a:lstStyle/>
          <a:p>
            <a:pPr indent="0" marL="0">
              <a:buNone/>
            </a:pPr>
            <a:r>
              <a:rPr lang="en-US" sz="1250" b="1" dirty="0">
                <a:solidFill>
                  <a:srgbClr val="1A2E24"/>
                </a:solidFill>
                <a:latin typeface="Calibri" pitchFamily="34" charset="0"/>
                <a:ea typeface="Calibri" pitchFamily="34" charset="-122"/>
                <a:cs typeface="Calibri" pitchFamily="34" charset="-120"/>
              </a:rPr>
              <a:t>Mail catcher</a:t>
            </a:r>
            <a:endParaRPr lang="en-US" sz="1250" dirty="0"/>
          </a:p>
        </p:txBody>
      </p:sp>
      <p:sp>
        <p:nvSpPr>
          <p:cNvPr id="18" name="Text 14"/>
          <p:cNvSpPr txBox="1"/>
          <p:nvPr/>
        </p:nvSpPr>
        <p:spPr>
          <a:xfrm>
            <a:off x="4206240" y="3099816"/>
            <a:ext cx="3474720" cy="585216"/>
          </a:xfrm>
          <a:prstGeom prst="rect">
            <a:avLst/>
          </a:prstGeom>
          <a:noFill/>
          <a:ln/>
        </p:spPr>
        <p:txBody>
          <a:bodyPr wrap="square" lIns="0" tIns="0" rIns="0" bIns="0" rtlCol="0" anchor="ctr"/>
          <a:lstStyle/>
          <a:p>
            <a:pPr indent="0" marL="0">
              <a:buNone/>
            </a:pPr>
            <a:r>
              <a:rPr lang="en-US" sz="1100" dirty="0">
                <a:solidFill>
                  <a:srgbClr val="5C6F66"/>
                </a:solidFill>
                <a:latin typeface="Courier New" pitchFamily="34" charset="0"/>
                <a:ea typeface="Courier New" pitchFamily="34" charset="-122"/>
                <a:cs typeface="Courier New" pitchFamily="34" charset="-120"/>
              </a:rPr>
              <a:t>mailhog service</a:t>
            </a:r>
            <a:endParaRPr lang="en-US" sz="1100" dirty="0"/>
          </a:p>
        </p:txBody>
      </p:sp>
      <p:sp>
        <p:nvSpPr>
          <p:cNvPr id="19" name="Text 15"/>
          <p:cNvSpPr txBox="1"/>
          <p:nvPr/>
        </p:nvSpPr>
        <p:spPr>
          <a:xfrm>
            <a:off x="8092440" y="3099816"/>
            <a:ext cx="3383280" cy="585216"/>
          </a:xfrm>
          <a:prstGeom prst="rect">
            <a:avLst/>
          </a:prstGeom>
          <a:noFill/>
          <a:ln/>
        </p:spPr>
        <p:txBody>
          <a:bodyPr wrap="square" lIns="0" tIns="0" rIns="0" bIns="0" rtlCol="0" anchor="ctr"/>
          <a:lstStyle/>
          <a:p>
            <a:pPr indent="0" marL="0">
              <a:buNone/>
            </a:pPr>
            <a:r>
              <a:rPr lang="en-US" sz="1100" dirty="0">
                <a:solidFill>
                  <a:srgbClr val="5C6F66"/>
                </a:solidFill>
                <a:latin typeface="Courier New" pitchFamily="34" charset="0"/>
                <a:ea typeface="Courier New" pitchFamily="34" charset="-122"/>
                <a:cs typeface="Courier New" pitchFamily="34" charset="-120"/>
              </a:rPr>
              <a:t>Mailpit via Homebrew</a:t>
            </a:r>
            <a:endParaRPr lang="en-US" sz="1100" dirty="0"/>
          </a:p>
        </p:txBody>
      </p:sp>
      <p:sp>
        <p:nvSpPr>
          <p:cNvPr id="20" name="Shape 16"/>
          <p:cNvSpPr/>
          <p:nvPr/>
        </p:nvSpPr>
        <p:spPr>
          <a:xfrm>
            <a:off x="548640" y="3831336"/>
            <a:ext cx="11064240" cy="621792"/>
          </a:xfrm>
          <a:prstGeom prst="roundRect">
            <a:avLst>
              <a:gd name="adj" fmla="val 13235"/>
            </a:avLst>
          </a:prstGeom>
          <a:solidFill>
            <a:srgbClr val="EDF6F1"/>
          </a:solidFill>
          <a:ln w="12700">
            <a:solidFill>
              <a:srgbClr val="CFE3D7"/>
            </a:solidFill>
            <a:prstDash val="solid"/>
          </a:ln>
        </p:spPr>
      </p:sp>
      <p:sp>
        <p:nvSpPr>
          <p:cNvPr id="21" name="Text 17"/>
          <p:cNvSpPr txBox="1"/>
          <p:nvPr/>
        </p:nvSpPr>
        <p:spPr>
          <a:xfrm>
            <a:off x="868680" y="3849624"/>
            <a:ext cx="3017520" cy="585216"/>
          </a:xfrm>
          <a:prstGeom prst="rect">
            <a:avLst/>
          </a:prstGeom>
          <a:noFill/>
          <a:ln/>
        </p:spPr>
        <p:txBody>
          <a:bodyPr wrap="square" lIns="0" tIns="0" rIns="0" bIns="0" rtlCol="0" anchor="ctr"/>
          <a:lstStyle/>
          <a:p>
            <a:pPr indent="0" marL="0">
              <a:buNone/>
            </a:pPr>
            <a:r>
              <a:rPr lang="en-US" sz="1250" b="1" dirty="0">
                <a:solidFill>
                  <a:srgbClr val="1A2E24"/>
                </a:solidFill>
                <a:latin typeface="Calibri" pitchFamily="34" charset="0"/>
                <a:ea typeface="Calibri" pitchFamily="34" charset="-122"/>
                <a:cs typeface="Calibri" pitchFamily="34" charset="-120"/>
              </a:rPr>
              <a:t>Backend</a:t>
            </a:r>
            <a:endParaRPr lang="en-US" sz="1250" dirty="0"/>
          </a:p>
        </p:txBody>
      </p:sp>
      <p:sp>
        <p:nvSpPr>
          <p:cNvPr id="22" name="Text 18"/>
          <p:cNvSpPr txBox="1"/>
          <p:nvPr/>
        </p:nvSpPr>
        <p:spPr>
          <a:xfrm>
            <a:off x="4206240" y="3849624"/>
            <a:ext cx="3474720" cy="585216"/>
          </a:xfrm>
          <a:prstGeom prst="rect">
            <a:avLst/>
          </a:prstGeom>
          <a:noFill/>
          <a:ln/>
        </p:spPr>
        <p:txBody>
          <a:bodyPr wrap="square" lIns="0" tIns="0" rIns="0" bIns="0" rtlCol="0" anchor="ctr"/>
          <a:lstStyle/>
          <a:p>
            <a:pPr indent="0" marL="0">
              <a:buNone/>
            </a:pPr>
            <a:r>
              <a:rPr lang="en-US" sz="1100" dirty="0">
                <a:solidFill>
                  <a:srgbClr val="5C6F66"/>
                </a:solidFill>
                <a:latin typeface="Courier New" pitchFamily="34" charset="0"/>
                <a:ea typeface="Courier New" pitchFamily="34" charset="-122"/>
                <a:cs typeface="Courier New" pitchFamily="34" charset="-120"/>
              </a:rPr>
              <a:t>backend service</a:t>
            </a:r>
            <a:endParaRPr lang="en-US" sz="1100" dirty="0"/>
          </a:p>
        </p:txBody>
      </p:sp>
      <p:sp>
        <p:nvSpPr>
          <p:cNvPr id="23" name="Text 19"/>
          <p:cNvSpPr txBox="1"/>
          <p:nvPr/>
        </p:nvSpPr>
        <p:spPr>
          <a:xfrm>
            <a:off x="8092440" y="3849624"/>
            <a:ext cx="3383280" cy="585216"/>
          </a:xfrm>
          <a:prstGeom prst="rect">
            <a:avLst/>
          </a:prstGeom>
          <a:noFill/>
          <a:ln/>
        </p:spPr>
        <p:txBody>
          <a:bodyPr wrap="square" lIns="0" tIns="0" rIns="0" bIns="0" rtlCol="0" anchor="ctr"/>
          <a:lstStyle/>
          <a:p>
            <a:pPr indent="0" marL="0">
              <a:buNone/>
            </a:pPr>
            <a:r>
              <a:rPr lang="en-US" sz="1100" dirty="0">
                <a:solidFill>
                  <a:srgbClr val="5C6F66"/>
                </a:solidFill>
                <a:latin typeface="Courier New" pitchFamily="34" charset="0"/>
                <a:ea typeface="Courier New" pitchFamily="34" charset="-122"/>
                <a:cs typeface="Courier New" pitchFamily="34" charset="-120"/>
              </a:rPr>
              <a:t>mvn spring-boot:run</a:t>
            </a:r>
            <a:endParaRPr lang="en-US" sz="1100" dirty="0"/>
          </a:p>
        </p:txBody>
      </p:sp>
      <p:sp>
        <p:nvSpPr>
          <p:cNvPr id="24" name="Shape 20"/>
          <p:cNvSpPr/>
          <p:nvPr/>
        </p:nvSpPr>
        <p:spPr>
          <a:xfrm>
            <a:off x="548640" y="4581144"/>
            <a:ext cx="11064240" cy="621792"/>
          </a:xfrm>
          <a:prstGeom prst="roundRect">
            <a:avLst>
              <a:gd name="adj" fmla="val 13235"/>
            </a:avLst>
          </a:prstGeom>
          <a:solidFill>
            <a:srgbClr val="EDF6F1"/>
          </a:solidFill>
          <a:ln w="12700">
            <a:solidFill>
              <a:srgbClr val="CFE3D7"/>
            </a:solidFill>
            <a:prstDash val="solid"/>
          </a:ln>
        </p:spPr>
      </p:sp>
      <p:sp>
        <p:nvSpPr>
          <p:cNvPr id="25" name="Text 21"/>
          <p:cNvSpPr txBox="1"/>
          <p:nvPr/>
        </p:nvSpPr>
        <p:spPr>
          <a:xfrm>
            <a:off x="868680" y="4599432"/>
            <a:ext cx="3017520" cy="585216"/>
          </a:xfrm>
          <a:prstGeom prst="rect">
            <a:avLst/>
          </a:prstGeom>
          <a:noFill/>
          <a:ln/>
        </p:spPr>
        <p:txBody>
          <a:bodyPr wrap="square" lIns="0" tIns="0" rIns="0" bIns="0" rtlCol="0" anchor="ctr"/>
          <a:lstStyle/>
          <a:p>
            <a:pPr indent="0" marL="0">
              <a:buNone/>
            </a:pPr>
            <a:r>
              <a:rPr lang="en-US" sz="1250" b="1" dirty="0">
                <a:solidFill>
                  <a:srgbClr val="1A2E24"/>
                </a:solidFill>
                <a:latin typeface="Calibri" pitchFamily="34" charset="0"/>
                <a:ea typeface="Calibri" pitchFamily="34" charset="-122"/>
                <a:cs typeface="Calibri" pitchFamily="34" charset="-120"/>
              </a:rPr>
              <a:t>Frontend (dev)</a:t>
            </a:r>
            <a:endParaRPr lang="en-US" sz="1250" dirty="0"/>
          </a:p>
        </p:txBody>
      </p:sp>
      <p:sp>
        <p:nvSpPr>
          <p:cNvPr id="26" name="Text 22"/>
          <p:cNvSpPr txBox="1"/>
          <p:nvPr/>
        </p:nvSpPr>
        <p:spPr>
          <a:xfrm>
            <a:off x="4206240" y="4599432"/>
            <a:ext cx="3474720" cy="585216"/>
          </a:xfrm>
          <a:prstGeom prst="rect">
            <a:avLst/>
          </a:prstGeom>
          <a:noFill/>
          <a:ln/>
        </p:spPr>
        <p:txBody>
          <a:bodyPr wrap="square" lIns="0" tIns="0" rIns="0" bIns="0" rtlCol="0" anchor="ctr"/>
          <a:lstStyle/>
          <a:p>
            <a:pPr indent="0" marL="0">
              <a:buNone/>
            </a:pPr>
            <a:r>
              <a:rPr lang="en-US" sz="1100" dirty="0">
                <a:solidFill>
                  <a:srgbClr val="5C6F66"/>
                </a:solidFill>
                <a:latin typeface="Courier New" pitchFamily="34" charset="0"/>
                <a:ea typeface="Courier New" pitchFamily="34" charset="-122"/>
                <a:cs typeface="Courier New" pitchFamily="34" charset="-120"/>
              </a:rPr>
              <a:t>frontend + Vite HMR</a:t>
            </a:r>
            <a:endParaRPr lang="en-US" sz="1100" dirty="0"/>
          </a:p>
        </p:txBody>
      </p:sp>
      <p:sp>
        <p:nvSpPr>
          <p:cNvPr id="27" name="Text 23"/>
          <p:cNvSpPr txBox="1"/>
          <p:nvPr/>
        </p:nvSpPr>
        <p:spPr>
          <a:xfrm>
            <a:off x="8092440" y="4599432"/>
            <a:ext cx="3383280" cy="585216"/>
          </a:xfrm>
          <a:prstGeom prst="rect">
            <a:avLst/>
          </a:prstGeom>
          <a:noFill/>
          <a:ln/>
        </p:spPr>
        <p:txBody>
          <a:bodyPr wrap="square" lIns="0" tIns="0" rIns="0" bIns="0" rtlCol="0" anchor="ctr"/>
          <a:lstStyle/>
          <a:p>
            <a:pPr indent="0" marL="0">
              <a:buNone/>
            </a:pPr>
            <a:r>
              <a:rPr lang="en-US" sz="1100" dirty="0">
                <a:solidFill>
                  <a:srgbClr val="5C6F66"/>
                </a:solidFill>
                <a:latin typeface="Courier New" pitchFamily="34" charset="0"/>
                <a:ea typeface="Courier New" pitchFamily="34" charset="-122"/>
                <a:cs typeface="Courier New" pitchFamily="34" charset="-120"/>
              </a:rPr>
              <a:t>npm run dev</a:t>
            </a:r>
            <a:endParaRPr lang="en-US" sz="1100" dirty="0"/>
          </a:p>
        </p:txBody>
      </p:sp>
      <p:sp>
        <p:nvSpPr>
          <p:cNvPr id="28" name="Shape 24"/>
          <p:cNvSpPr/>
          <p:nvPr/>
        </p:nvSpPr>
        <p:spPr>
          <a:xfrm>
            <a:off x="548640" y="5330952"/>
            <a:ext cx="11064240" cy="621792"/>
          </a:xfrm>
          <a:prstGeom prst="roundRect">
            <a:avLst>
              <a:gd name="adj" fmla="val 13235"/>
            </a:avLst>
          </a:prstGeom>
          <a:solidFill>
            <a:srgbClr val="EDF6F1"/>
          </a:solidFill>
          <a:ln w="12700">
            <a:solidFill>
              <a:srgbClr val="CFE3D7"/>
            </a:solidFill>
            <a:prstDash val="solid"/>
          </a:ln>
        </p:spPr>
      </p:sp>
      <p:sp>
        <p:nvSpPr>
          <p:cNvPr id="29" name="Text 25"/>
          <p:cNvSpPr txBox="1"/>
          <p:nvPr/>
        </p:nvSpPr>
        <p:spPr>
          <a:xfrm>
            <a:off x="868680" y="5349240"/>
            <a:ext cx="3017520" cy="585216"/>
          </a:xfrm>
          <a:prstGeom prst="rect">
            <a:avLst/>
          </a:prstGeom>
          <a:noFill/>
          <a:ln/>
        </p:spPr>
        <p:txBody>
          <a:bodyPr wrap="square" lIns="0" tIns="0" rIns="0" bIns="0" rtlCol="0" anchor="ctr"/>
          <a:lstStyle/>
          <a:p>
            <a:pPr indent="0" marL="0">
              <a:buNone/>
            </a:pPr>
            <a:r>
              <a:rPr lang="en-US" sz="1250" b="1" dirty="0">
                <a:solidFill>
                  <a:srgbClr val="1A2E24"/>
                </a:solidFill>
                <a:latin typeface="Calibri" pitchFamily="34" charset="0"/>
                <a:ea typeface="Calibri" pitchFamily="34" charset="-122"/>
                <a:cs typeface="Calibri" pitchFamily="34" charset="-120"/>
              </a:rPr>
              <a:t>Frontend (prod-style)</a:t>
            </a:r>
            <a:endParaRPr lang="en-US" sz="1250" dirty="0"/>
          </a:p>
        </p:txBody>
      </p:sp>
      <p:sp>
        <p:nvSpPr>
          <p:cNvPr id="30" name="Text 26"/>
          <p:cNvSpPr txBox="1"/>
          <p:nvPr/>
        </p:nvSpPr>
        <p:spPr>
          <a:xfrm>
            <a:off x="4206240" y="5349240"/>
            <a:ext cx="3474720" cy="585216"/>
          </a:xfrm>
          <a:prstGeom prst="rect">
            <a:avLst/>
          </a:prstGeom>
          <a:noFill/>
          <a:ln/>
        </p:spPr>
        <p:txBody>
          <a:bodyPr wrap="square" lIns="0" tIns="0" rIns="0" bIns="0" rtlCol="0" anchor="ctr"/>
          <a:lstStyle/>
          <a:p>
            <a:pPr indent="0" marL="0">
              <a:buNone/>
            </a:pPr>
            <a:r>
              <a:rPr lang="en-US" sz="1100" dirty="0">
                <a:solidFill>
                  <a:srgbClr val="5C6F66"/>
                </a:solidFill>
                <a:latin typeface="Courier New" pitchFamily="34" charset="0"/>
                <a:ea typeface="Courier New" pitchFamily="34" charset="-122"/>
                <a:cs typeface="Courier New" pitchFamily="34" charset="-120"/>
              </a:rPr>
              <a:t>nginx container</a:t>
            </a:r>
            <a:endParaRPr lang="en-US" sz="1100" dirty="0"/>
          </a:p>
        </p:txBody>
      </p:sp>
      <p:sp>
        <p:nvSpPr>
          <p:cNvPr id="31" name="Text 27"/>
          <p:cNvSpPr txBox="1"/>
          <p:nvPr/>
        </p:nvSpPr>
        <p:spPr>
          <a:xfrm>
            <a:off x="8092440" y="5349240"/>
            <a:ext cx="3383280" cy="585216"/>
          </a:xfrm>
          <a:prstGeom prst="rect">
            <a:avLst/>
          </a:prstGeom>
          <a:noFill/>
          <a:ln/>
        </p:spPr>
        <p:txBody>
          <a:bodyPr wrap="square" lIns="0" tIns="0" rIns="0" bIns="0" rtlCol="0" anchor="ctr"/>
          <a:lstStyle/>
          <a:p>
            <a:pPr indent="0" marL="0">
              <a:buNone/>
            </a:pPr>
            <a:r>
              <a:rPr lang="en-US" sz="1100" dirty="0">
                <a:solidFill>
                  <a:srgbClr val="5C6F66"/>
                </a:solidFill>
                <a:latin typeface="Courier New" pitchFamily="34" charset="0"/>
                <a:ea typeface="Courier New" pitchFamily="34" charset="-122"/>
                <a:cs typeface="Courier New" pitchFamily="34" charset="-120"/>
              </a:rPr>
              <a:t>npm run build &amp;&amp; npm run preview</a:t>
            </a:r>
            <a:endParaRPr lang="en-US" sz="1100" dirty="0"/>
          </a:p>
        </p:txBody>
      </p:sp>
      <p:sp>
        <p:nvSpPr>
          <p:cNvPr id="32" name="Text 28"/>
          <p:cNvSpPr txBox="1"/>
          <p:nvPr/>
        </p:nvSpPr>
        <p:spPr>
          <a:xfrm>
            <a:off x="548640" y="6172200"/>
            <a:ext cx="11064240" cy="457200"/>
          </a:xfrm>
          <a:prstGeom prst="rect">
            <a:avLst/>
          </a:prstGeom>
          <a:noFill/>
          <a:ln/>
        </p:spPr>
        <p:txBody>
          <a:bodyPr wrap="square" lIns="0" tIns="0" rIns="0" bIns="0" rtlCol="0" anchor="ctr"/>
          <a:lstStyle/>
          <a:p>
            <a:pPr indent="0" marL="0">
              <a:buNone/>
            </a:pPr>
            <a:r>
              <a:rPr lang="en-US" sz="1300" b="1" dirty="0">
                <a:solidFill>
                  <a:srgbClr val="0F6A44"/>
                </a:solidFill>
                <a:latin typeface="Calibri" pitchFamily="34" charset="0"/>
                <a:ea typeface="Calibri" pitchFamily="34" charset="-122"/>
                <a:cs typeface="Calibri" pitchFamily="34" charset="-120"/>
              </a:rPr>
              <a:t>Either way, config never changes: </a:t>
            </a:r>
            <a:pPr indent="0" marL="0">
              <a:buNone/>
            </a:pPr>
            <a:r>
              <a:rPr lang="en-US" sz="1300" dirty="0">
                <a:solidFill>
                  <a:srgbClr val="5C6F66"/>
                </a:solidFill>
                <a:latin typeface="Calibri" pitchFamily="34" charset="0"/>
                <a:ea typeface="Calibri" pitchFamily="34" charset="-122"/>
                <a:cs typeface="Calibri" pitchFamily="34" charset="-120"/>
              </a:rPr>
              <a:t>a one-time /etc/hosts alias makes “keycloak:8080” resolve identically for Docker and native runs, so every default just works.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ctr"/>
          <a:lstStyle/>
          <a:p>
            <a:pPr indent="0" marL="0">
              <a:buNone/>
            </a:pPr>
            <a:r>
              <a:rPr lang="en-US" sz="1200" b="1" spc="300" kern="0" dirty="0">
                <a:solidFill>
                  <a:srgbClr val="248257"/>
                </a:solidFill>
                <a:latin typeface="Calibri" pitchFamily="34" charset="0"/>
                <a:ea typeface="Calibri" pitchFamily="34" charset="-122"/>
                <a:cs typeface="Calibri" pitchFamily="34" charset="-120"/>
              </a:rPr>
              <a:t>THE PAYOFF</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A2E24"/>
                </a:solidFill>
                <a:latin typeface="Calibri" pitchFamily="34" charset="0"/>
                <a:ea typeface="Calibri" pitchFamily="34" charset="-122"/>
                <a:cs typeface="Calibri" pitchFamily="34" charset="-120"/>
              </a:rPr>
              <a:t>What this buys each audience</a:t>
            </a:r>
            <a:endParaRPr lang="en-US" sz="3000" dirty="0"/>
          </a:p>
        </p:txBody>
      </p:sp>
      <p:sp>
        <p:nvSpPr>
          <p:cNvPr id="4" name="Shape 2"/>
          <p:cNvSpPr/>
          <p:nvPr/>
        </p:nvSpPr>
        <p:spPr>
          <a:xfrm>
            <a:off x="548640" y="1645920"/>
            <a:ext cx="5440680" cy="4572000"/>
          </a:xfrm>
          <a:prstGeom prst="roundRect">
            <a:avLst>
              <a:gd name="adj" fmla="val 1800"/>
            </a:avLst>
          </a:prstGeom>
          <a:solidFill>
            <a:srgbClr val="EDF6F1"/>
          </a:solidFill>
          <a:ln w="12700">
            <a:solidFill>
              <a:srgbClr val="CFE3D7"/>
            </a:solidFill>
            <a:prstDash val="solid"/>
          </a:ln>
        </p:spPr>
      </p:sp>
      <p:sp>
        <p:nvSpPr>
          <p:cNvPr id="5" name="Shape 3"/>
          <p:cNvSpPr/>
          <p:nvPr/>
        </p:nvSpPr>
        <p:spPr>
          <a:xfrm>
            <a:off x="822960" y="1874520"/>
            <a:ext cx="548640" cy="54864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6" name="Image 0"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7" name="Text 4"/>
          <p:cNvSpPr txBox="1"/>
          <p:nvPr/>
        </p:nvSpPr>
        <p:spPr>
          <a:xfrm>
            <a:off x="1554480" y="1965960"/>
            <a:ext cx="4114800" cy="365760"/>
          </a:xfrm>
          <a:prstGeom prst="rect">
            <a:avLst/>
          </a:prstGeom>
          <a:noFill/>
          <a:ln/>
        </p:spPr>
        <p:txBody>
          <a:bodyPr wrap="square" lIns="0" tIns="0" rIns="0" bIns="0" rtlCol="0" anchor="ctr"/>
          <a:lstStyle/>
          <a:p>
            <a:pPr indent="0" marL="0">
              <a:buNone/>
            </a:pPr>
            <a:r>
              <a:rPr lang="en-US" sz="1800" b="1" dirty="0">
                <a:solidFill>
                  <a:srgbClr val="1A2E24"/>
                </a:solidFill>
                <a:latin typeface="Calibri" pitchFamily="34" charset="0"/>
                <a:ea typeface="Calibri" pitchFamily="34" charset="-122"/>
                <a:cs typeface="Calibri" pitchFamily="34" charset="-120"/>
              </a:rPr>
              <a:t>For developers</a:t>
            </a:r>
            <a:endParaRPr lang="en-US" sz="1800" dirty="0"/>
          </a:p>
        </p:txBody>
      </p:sp>
      <p:sp>
        <p:nvSpPr>
          <p:cNvPr id="8" name="Shape 5"/>
          <p:cNvSpPr/>
          <p:nvPr/>
        </p:nvSpPr>
        <p:spPr>
          <a:xfrm>
            <a:off x="822960" y="2697480"/>
            <a:ext cx="365760" cy="365760"/>
          </a:xfrm>
          <a:prstGeom prst="roundRect">
            <a:avLst>
              <a:gd name="adj" fmla="val 22000"/>
            </a:avLst>
          </a:prstGeom>
          <a:solidFill>
            <a:srgbClr val="2FA36B"/>
          </a:solidFill>
          <a:ln/>
          <a:effectLst>
            <a:outerShdw sx="100000" sy="100000" kx="0" ky="0" algn="bl" rotWithShape="0" blurRad="76200" dist="25400" dir="5400000">
              <a:srgbClr val="0B3D2E">
                <a:alpha val="18000"/>
              </a:srgbClr>
            </a:outerShdw>
          </a:effectLst>
        </p:spPr>
      </p:sp>
      <p:pic>
        <p:nvPicPr>
          <p:cNvPr id="9" name="Image 1" descr="preencoded.png">    </p:cNvPr>
          <p:cNvPicPr>
            <a:picLocks noChangeAspect="1"/>
          </p:cNvPicPr>
          <p:nvPr/>
        </p:nvPicPr>
        <p:blipFill>
          <a:blip r:embed="rId2"/>
          <a:stretch>
            <a:fillRect/>
          </a:stretch>
        </p:blipFill>
        <p:spPr>
          <a:xfrm>
            <a:off x="910742" y="2785262"/>
            <a:ext cx="190195" cy="190195"/>
          </a:xfrm>
          <a:prstGeom prst="rect">
            <a:avLst/>
          </a:prstGeom>
        </p:spPr>
      </p:pic>
      <p:sp>
        <p:nvSpPr>
          <p:cNvPr id="10" name="Text 6"/>
          <p:cNvSpPr txBox="1"/>
          <p:nvPr/>
        </p:nvSpPr>
        <p:spPr>
          <a:xfrm>
            <a:off x="1371600" y="2660904"/>
            <a:ext cx="4343400" cy="292608"/>
          </a:xfrm>
          <a:prstGeom prst="rect">
            <a:avLst/>
          </a:prstGeom>
          <a:noFill/>
          <a:ln/>
        </p:spPr>
        <p:txBody>
          <a:bodyPr wrap="square" lIns="0" tIns="0" rIns="0" bIns="0" rtlCol="0" anchor="ctr"/>
          <a:lstStyle/>
          <a:p>
            <a:pPr indent="0" marL="0">
              <a:buNone/>
            </a:pPr>
            <a:r>
              <a:rPr lang="en-US" sz="1350" b="1" dirty="0">
                <a:solidFill>
                  <a:srgbClr val="1A2E24"/>
                </a:solidFill>
                <a:latin typeface="Calibri" pitchFamily="34" charset="0"/>
                <a:ea typeface="Calibri" pitchFamily="34" charset="-122"/>
                <a:cs typeface="Calibri" pitchFamily="34" charset="-120"/>
              </a:rPr>
              <a:t>Zero token plumbing in the SPA</a:t>
            </a:r>
            <a:endParaRPr lang="en-US" sz="1350" dirty="0"/>
          </a:p>
        </p:txBody>
      </p:sp>
      <p:sp>
        <p:nvSpPr>
          <p:cNvPr id="11" name="Text 7"/>
          <p:cNvSpPr txBox="1"/>
          <p:nvPr/>
        </p:nvSpPr>
        <p:spPr>
          <a:xfrm>
            <a:off x="1371600" y="2953512"/>
            <a:ext cx="4343400" cy="566928"/>
          </a:xfrm>
          <a:prstGeom prst="rect">
            <a:avLst/>
          </a:prstGeom>
          <a:noFill/>
          <a:ln/>
        </p:spPr>
        <p:txBody>
          <a:bodyPr wrap="square" lIns="0" tIns="0" rIns="0" bIns="0" rtlCol="0" anchor="ctr"/>
          <a:lstStyle/>
          <a:p>
            <a:pPr indent="0" marL="0">
              <a:buNone/>
            </a:pPr>
            <a:r>
              <a:rPr lang="en-US" sz="1150" dirty="0">
                <a:solidFill>
                  <a:srgbClr val="5C6F66"/>
                </a:solidFill>
                <a:latin typeface="Calibri" pitchFamily="34" charset="0"/>
                <a:ea typeface="Calibri" pitchFamily="34" charset="-122"/>
                <a:cs typeface="Calibri" pitchFamily="34" charset="-120"/>
              </a:rPr>
              <a:t>No refresh logic, no storage decisions, no expiry bugs - axios plus a cookie.</a:t>
            </a:r>
            <a:endParaRPr lang="en-US" sz="1150" dirty="0"/>
          </a:p>
        </p:txBody>
      </p:sp>
      <p:sp>
        <p:nvSpPr>
          <p:cNvPr id="12" name="Shape 8"/>
          <p:cNvSpPr/>
          <p:nvPr/>
        </p:nvSpPr>
        <p:spPr>
          <a:xfrm>
            <a:off x="822960" y="3593592"/>
            <a:ext cx="365760" cy="365760"/>
          </a:xfrm>
          <a:prstGeom prst="roundRect">
            <a:avLst>
              <a:gd name="adj" fmla="val 22000"/>
            </a:avLst>
          </a:prstGeom>
          <a:solidFill>
            <a:srgbClr val="2FA36B"/>
          </a:solidFill>
          <a:ln/>
          <a:effectLst>
            <a:outerShdw sx="100000" sy="100000" kx="0" ky="0" algn="bl" rotWithShape="0" blurRad="76200" dist="25400" dir="5400000">
              <a:srgbClr val="0B3D2E">
                <a:alpha val="18000"/>
              </a:srgbClr>
            </a:outerShdw>
          </a:effectLst>
        </p:spPr>
      </p:sp>
      <p:pic>
        <p:nvPicPr>
          <p:cNvPr id="13" name="Image 2" descr="preencoded.png">    </p:cNvPr>
          <p:cNvPicPr>
            <a:picLocks noChangeAspect="1"/>
          </p:cNvPicPr>
          <p:nvPr/>
        </p:nvPicPr>
        <p:blipFill>
          <a:blip r:embed="rId3"/>
          <a:stretch>
            <a:fillRect/>
          </a:stretch>
        </p:blipFill>
        <p:spPr>
          <a:xfrm>
            <a:off x="910742" y="3681374"/>
            <a:ext cx="190195" cy="190195"/>
          </a:xfrm>
          <a:prstGeom prst="rect">
            <a:avLst/>
          </a:prstGeom>
        </p:spPr>
      </p:pic>
      <p:sp>
        <p:nvSpPr>
          <p:cNvPr id="14" name="Text 9"/>
          <p:cNvSpPr txBox="1"/>
          <p:nvPr/>
        </p:nvSpPr>
        <p:spPr>
          <a:xfrm>
            <a:off x="1371600" y="3557016"/>
            <a:ext cx="4343400" cy="292608"/>
          </a:xfrm>
          <a:prstGeom prst="rect">
            <a:avLst/>
          </a:prstGeom>
          <a:noFill/>
          <a:ln/>
        </p:spPr>
        <p:txBody>
          <a:bodyPr wrap="square" lIns="0" tIns="0" rIns="0" bIns="0" rtlCol="0" anchor="ctr"/>
          <a:lstStyle/>
          <a:p>
            <a:pPr indent="0" marL="0">
              <a:buNone/>
            </a:pPr>
            <a:r>
              <a:rPr lang="en-US" sz="1350" b="1" dirty="0">
                <a:solidFill>
                  <a:srgbClr val="1A2E24"/>
                </a:solidFill>
                <a:latin typeface="Calibri" pitchFamily="34" charset="0"/>
                <a:ea typeface="Calibri" pitchFamily="34" charset="-122"/>
                <a:cs typeface="Calibri" pitchFamily="34" charset="-120"/>
              </a:rPr>
              <a:t>One commented auth codebase</a:t>
            </a:r>
            <a:endParaRPr lang="en-US" sz="1350" dirty="0"/>
          </a:p>
        </p:txBody>
      </p:sp>
      <p:sp>
        <p:nvSpPr>
          <p:cNvPr id="15" name="Text 10"/>
          <p:cNvSpPr txBox="1"/>
          <p:nvPr/>
        </p:nvSpPr>
        <p:spPr>
          <a:xfrm>
            <a:off x="1371600" y="3849624"/>
            <a:ext cx="4343400" cy="566928"/>
          </a:xfrm>
          <a:prstGeom prst="rect">
            <a:avLst/>
          </a:prstGeom>
          <a:noFill/>
          <a:ln/>
        </p:spPr>
        <p:txBody>
          <a:bodyPr wrap="square" lIns="0" tIns="0" rIns="0" bIns="0" rtlCol="0" anchor="ctr"/>
          <a:lstStyle/>
          <a:p>
            <a:pPr indent="0" marL="0">
              <a:buNone/>
            </a:pPr>
            <a:r>
              <a:rPr lang="en-US" sz="1150" dirty="0">
                <a:solidFill>
                  <a:srgbClr val="5C6F66"/>
                </a:solidFill>
                <a:latin typeface="Calibri" pitchFamily="34" charset="0"/>
                <a:ea typeface="Calibri" pitchFamily="34" charset="-122"/>
                <a:cs typeface="Calibri" pitchFamily="34" charset="-120"/>
              </a:rPr>
              <a:t>SecurityConfig and friends explain every non-obvious choice inline, with the war story.</a:t>
            </a:r>
            <a:endParaRPr lang="en-US" sz="1150" dirty="0"/>
          </a:p>
        </p:txBody>
      </p:sp>
      <p:sp>
        <p:nvSpPr>
          <p:cNvPr id="16" name="Shape 11"/>
          <p:cNvSpPr/>
          <p:nvPr/>
        </p:nvSpPr>
        <p:spPr>
          <a:xfrm>
            <a:off x="822960" y="4489704"/>
            <a:ext cx="365760" cy="365760"/>
          </a:xfrm>
          <a:prstGeom prst="roundRect">
            <a:avLst>
              <a:gd name="adj" fmla="val 22000"/>
            </a:avLst>
          </a:prstGeom>
          <a:solidFill>
            <a:srgbClr val="2FA36B"/>
          </a:solidFill>
          <a:ln/>
          <a:effectLst>
            <a:outerShdw sx="100000" sy="100000" kx="0" ky="0" algn="bl" rotWithShape="0" blurRad="76200" dist="25400" dir="5400000">
              <a:srgbClr val="0B3D2E">
                <a:alpha val="18000"/>
              </a:srgbClr>
            </a:outerShdw>
          </a:effectLst>
        </p:spPr>
      </p:sp>
      <p:pic>
        <p:nvPicPr>
          <p:cNvPr id="17" name="Image 3" descr="preencoded.png">    </p:cNvPr>
          <p:cNvPicPr>
            <a:picLocks noChangeAspect="1"/>
          </p:cNvPicPr>
          <p:nvPr/>
        </p:nvPicPr>
        <p:blipFill>
          <a:blip r:embed="rId4"/>
          <a:stretch>
            <a:fillRect/>
          </a:stretch>
        </p:blipFill>
        <p:spPr>
          <a:xfrm>
            <a:off x="910742" y="4577486"/>
            <a:ext cx="190195" cy="190195"/>
          </a:xfrm>
          <a:prstGeom prst="rect">
            <a:avLst/>
          </a:prstGeom>
        </p:spPr>
      </p:pic>
      <p:sp>
        <p:nvSpPr>
          <p:cNvPr id="18" name="Text 12"/>
          <p:cNvSpPr txBox="1"/>
          <p:nvPr/>
        </p:nvSpPr>
        <p:spPr>
          <a:xfrm>
            <a:off x="1371600" y="4453128"/>
            <a:ext cx="4343400" cy="292608"/>
          </a:xfrm>
          <a:prstGeom prst="rect">
            <a:avLst/>
          </a:prstGeom>
          <a:noFill/>
          <a:ln/>
        </p:spPr>
        <p:txBody>
          <a:bodyPr wrap="square" lIns="0" tIns="0" rIns="0" bIns="0" rtlCol="0" anchor="ctr"/>
          <a:lstStyle/>
          <a:p>
            <a:pPr indent="0" marL="0">
              <a:buNone/>
            </a:pPr>
            <a:r>
              <a:rPr lang="en-US" sz="1350" b="1" dirty="0">
                <a:solidFill>
                  <a:srgbClr val="1A2E24"/>
                </a:solidFill>
                <a:latin typeface="Calibri" pitchFamily="34" charset="0"/>
                <a:ea typeface="Calibri" pitchFamily="34" charset="-122"/>
                <a:cs typeface="Calibri" pitchFamily="34" charset="-120"/>
              </a:rPr>
              <a:t>Role-gated Swagger built in</a:t>
            </a:r>
            <a:endParaRPr lang="en-US" sz="1350" dirty="0"/>
          </a:p>
        </p:txBody>
      </p:sp>
      <p:sp>
        <p:nvSpPr>
          <p:cNvPr id="19" name="Text 13"/>
          <p:cNvSpPr txBox="1"/>
          <p:nvPr/>
        </p:nvSpPr>
        <p:spPr>
          <a:xfrm>
            <a:off x="1371600" y="4745736"/>
            <a:ext cx="4343400" cy="566928"/>
          </a:xfrm>
          <a:prstGeom prst="rect">
            <a:avLst/>
          </a:prstGeom>
          <a:noFill/>
          <a:ln/>
        </p:spPr>
        <p:txBody>
          <a:bodyPr wrap="square" lIns="0" tIns="0" rIns="0" bIns="0" rtlCol="0" anchor="ctr"/>
          <a:lstStyle/>
          <a:p>
            <a:pPr indent="0" marL="0">
              <a:buNone/>
            </a:pPr>
            <a:r>
              <a:rPr lang="en-US" sz="1150" dirty="0">
                <a:solidFill>
                  <a:srgbClr val="5C6F66"/>
                </a:solidFill>
                <a:latin typeface="Calibri" pitchFamily="34" charset="0"/>
                <a:ea typeface="Calibri" pitchFamily="34" charset="-122"/>
                <a:cs typeface="Calibri" pitchFamily="34" charset="-120"/>
              </a:rPr>
              <a:t>Live, try-it-out API docs behind the same login as everything else.</a:t>
            </a:r>
            <a:endParaRPr lang="en-US" sz="1150" dirty="0"/>
          </a:p>
        </p:txBody>
      </p:sp>
      <p:sp>
        <p:nvSpPr>
          <p:cNvPr id="20" name="Shape 14"/>
          <p:cNvSpPr/>
          <p:nvPr/>
        </p:nvSpPr>
        <p:spPr>
          <a:xfrm>
            <a:off x="822960" y="5385816"/>
            <a:ext cx="365760" cy="365760"/>
          </a:xfrm>
          <a:prstGeom prst="roundRect">
            <a:avLst>
              <a:gd name="adj" fmla="val 22000"/>
            </a:avLst>
          </a:prstGeom>
          <a:solidFill>
            <a:srgbClr val="2FA36B"/>
          </a:solidFill>
          <a:ln/>
          <a:effectLst>
            <a:outerShdw sx="100000" sy="100000" kx="0" ky="0" algn="bl" rotWithShape="0" blurRad="76200" dist="25400" dir="5400000">
              <a:srgbClr val="0B3D2E">
                <a:alpha val="18000"/>
              </a:srgbClr>
            </a:outerShdw>
          </a:effectLst>
        </p:spPr>
      </p:sp>
      <p:pic>
        <p:nvPicPr>
          <p:cNvPr id="21" name="Image 4" descr="preencoded.png">    </p:cNvPr>
          <p:cNvPicPr>
            <a:picLocks noChangeAspect="1"/>
          </p:cNvPicPr>
          <p:nvPr/>
        </p:nvPicPr>
        <p:blipFill>
          <a:blip r:embed="rId5"/>
          <a:stretch>
            <a:fillRect/>
          </a:stretch>
        </p:blipFill>
        <p:spPr>
          <a:xfrm>
            <a:off x="910742" y="5473598"/>
            <a:ext cx="190195" cy="190195"/>
          </a:xfrm>
          <a:prstGeom prst="rect">
            <a:avLst/>
          </a:prstGeom>
        </p:spPr>
      </p:pic>
      <p:sp>
        <p:nvSpPr>
          <p:cNvPr id="22" name="Text 15"/>
          <p:cNvSpPr txBox="1"/>
          <p:nvPr/>
        </p:nvSpPr>
        <p:spPr>
          <a:xfrm>
            <a:off x="1371600" y="5349240"/>
            <a:ext cx="4343400" cy="292608"/>
          </a:xfrm>
          <a:prstGeom prst="rect">
            <a:avLst/>
          </a:prstGeom>
          <a:noFill/>
          <a:ln/>
        </p:spPr>
        <p:txBody>
          <a:bodyPr wrap="square" lIns="0" tIns="0" rIns="0" bIns="0" rtlCol="0" anchor="ctr"/>
          <a:lstStyle/>
          <a:p>
            <a:pPr indent="0" marL="0">
              <a:buNone/>
            </a:pPr>
            <a:r>
              <a:rPr lang="en-US" sz="1350" b="1" dirty="0">
                <a:solidFill>
                  <a:srgbClr val="1A2E24"/>
                </a:solidFill>
                <a:latin typeface="Calibri" pitchFamily="34" charset="0"/>
                <a:ea typeface="Calibri" pitchFamily="34" charset="-122"/>
                <a:cs typeface="Calibri" pitchFamily="34" charset="-120"/>
              </a:rPr>
              <a:t>Docker or native - your call</a:t>
            </a:r>
            <a:endParaRPr lang="en-US" sz="1350" dirty="0"/>
          </a:p>
        </p:txBody>
      </p:sp>
      <p:sp>
        <p:nvSpPr>
          <p:cNvPr id="23" name="Text 16"/>
          <p:cNvSpPr txBox="1"/>
          <p:nvPr/>
        </p:nvSpPr>
        <p:spPr>
          <a:xfrm>
            <a:off x="1371600" y="5641848"/>
            <a:ext cx="4343400" cy="566928"/>
          </a:xfrm>
          <a:prstGeom prst="rect">
            <a:avLst/>
          </a:prstGeom>
          <a:noFill/>
          <a:ln/>
        </p:spPr>
        <p:txBody>
          <a:bodyPr wrap="square" lIns="0" tIns="0" rIns="0" bIns="0" rtlCol="0" anchor="ctr"/>
          <a:lstStyle/>
          <a:p>
            <a:pPr indent="0" marL="0">
              <a:buNone/>
            </a:pPr>
            <a:r>
              <a:rPr lang="en-US" sz="1150" dirty="0">
                <a:solidFill>
                  <a:srgbClr val="5C6F66"/>
                </a:solidFill>
                <a:latin typeface="Calibri" pitchFamily="34" charset="0"/>
                <a:ea typeface="Calibri" pitchFamily="34" charset="-122"/>
                <a:cs typeface="Calibri" pitchFamily="34" charset="-120"/>
              </a:rPr>
              <a:t>Full stack runs either way with identical configuration.</a:t>
            </a:r>
            <a:endParaRPr lang="en-US" sz="1150" dirty="0"/>
          </a:p>
        </p:txBody>
      </p:sp>
      <p:sp>
        <p:nvSpPr>
          <p:cNvPr id="24" name="Shape 17"/>
          <p:cNvSpPr/>
          <p:nvPr/>
        </p:nvSpPr>
        <p:spPr>
          <a:xfrm>
            <a:off x="6199632" y="1645920"/>
            <a:ext cx="5440680" cy="4572000"/>
          </a:xfrm>
          <a:prstGeom prst="roundRect">
            <a:avLst>
              <a:gd name="adj" fmla="val 1800"/>
            </a:avLst>
          </a:prstGeom>
          <a:solidFill>
            <a:srgbClr val="EDF6F1"/>
          </a:solidFill>
          <a:ln w="12700">
            <a:solidFill>
              <a:srgbClr val="CFE3D7"/>
            </a:solidFill>
            <a:prstDash val="solid"/>
          </a:ln>
        </p:spPr>
      </p:sp>
      <p:sp>
        <p:nvSpPr>
          <p:cNvPr id="25" name="Shape 18"/>
          <p:cNvSpPr/>
          <p:nvPr/>
        </p:nvSpPr>
        <p:spPr>
          <a:xfrm>
            <a:off x="6473952" y="1874520"/>
            <a:ext cx="548640" cy="548640"/>
          </a:xfrm>
          <a:prstGeom prst="roundRect">
            <a:avLst>
              <a:gd name="adj" fmla="val 22000"/>
            </a:avLst>
          </a:prstGeom>
          <a:solidFill>
            <a:srgbClr val="0F6A44"/>
          </a:solidFill>
          <a:ln/>
          <a:effectLst>
            <a:outerShdw sx="100000" sy="100000" kx="0" ky="0" algn="bl" rotWithShape="0" blurRad="76200" dist="25400" dir="5400000">
              <a:srgbClr val="0B3D2E">
                <a:alpha val="18000"/>
              </a:srgbClr>
            </a:outerShdw>
          </a:effectLst>
        </p:spPr>
      </p:sp>
      <p:pic>
        <p:nvPicPr>
          <p:cNvPr id="26" name="Image 5" descr="preencoded.png">    </p:cNvPr>
          <p:cNvPicPr>
            <a:picLocks noChangeAspect="1"/>
          </p:cNvPicPr>
          <p:nvPr/>
        </p:nvPicPr>
        <p:blipFill>
          <a:blip r:embed="rId6"/>
          <a:stretch>
            <a:fillRect/>
          </a:stretch>
        </p:blipFill>
        <p:spPr>
          <a:xfrm>
            <a:off x="6605626" y="2006194"/>
            <a:ext cx="285293" cy="285293"/>
          </a:xfrm>
          <a:prstGeom prst="rect">
            <a:avLst/>
          </a:prstGeom>
        </p:spPr>
      </p:pic>
      <p:sp>
        <p:nvSpPr>
          <p:cNvPr id="27" name="Text 19"/>
          <p:cNvSpPr txBox="1"/>
          <p:nvPr/>
        </p:nvSpPr>
        <p:spPr>
          <a:xfrm>
            <a:off x="7205472" y="1965960"/>
            <a:ext cx="4114800" cy="365760"/>
          </a:xfrm>
          <a:prstGeom prst="rect">
            <a:avLst/>
          </a:prstGeom>
          <a:noFill/>
          <a:ln/>
        </p:spPr>
        <p:txBody>
          <a:bodyPr wrap="square" lIns="0" tIns="0" rIns="0" bIns="0" rtlCol="0" anchor="ctr"/>
          <a:lstStyle/>
          <a:p>
            <a:pPr indent="0" marL="0">
              <a:buNone/>
            </a:pPr>
            <a:r>
              <a:rPr lang="en-US" sz="1800" b="1" dirty="0">
                <a:solidFill>
                  <a:srgbClr val="1A2E24"/>
                </a:solidFill>
                <a:latin typeface="Calibri" pitchFamily="34" charset="0"/>
                <a:ea typeface="Calibri" pitchFamily="34" charset="-122"/>
                <a:cs typeface="Calibri" pitchFamily="34" charset="-120"/>
              </a:rPr>
              <a:t>For technical leads</a:t>
            </a:r>
            <a:endParaRPr lang="en-US" sz="1800" dirty="0"/>
          </a:p>
        </p:txBody>
      </p:sp>
      <p:sp>
        <p:nvSpPr>
          <p:cNvPr id="28" name="Shape 20"/>
          <p:cNvSpPr/>
          <p:nvPr/>
        </p:nvSpPr>
        <p:spPr>
          <a:xfrm>
            <a:off x="6473952" y="2697480"/>
            <a:ext cx="365760" cy="365760"/>
          </a:xfrm>
          <a:prstGeom prst="roundRect">
            <a:avLst>
              <a:gd name="adj" fmla="val 22000"/>
            </a:avLst>
          </a:prstGeom>
          <a:solidFill>
            <a:srgbClr val="2FA36B"/>
          </a:solidFill>
          <a:ln/>
          <a:effectLst>
            <a:outerShdw sx="100000" sy="100000" kx="0" ky="0" algn="bl" rotWithShape="0" blurRad="76200" dist="25400" dir="5400000">
              <a:srgbClr val="0B3D2E">
                <a:alpha val="18000"/>
              </a:srgbClr>
            </a:outerShdw>
          </a:effectLst>
        </p:spPr>
      </p:sp>
      <p:pic>
        <p:nvPicPr>
          <p:cNvPr id="29" name="Image 6" descr="preencoded.png">    </p:cNvPr>
          <p:cNvPicPr>
            <a:picLocks noChangeAspect="1"/>
          </p:cNvPicPr>
          <p:nvPr/>
        </p:nvPicPr>
        <p:blipFill>
          <a:blip r:embed="rId7"/>
          <a:stretch>
            <a:fillRect/>
          </a:stretch>
        </p:blipFill>
        <p:spPr>
          <a:xfrm>
            <a:off x="6561734" y="2785262"/>
            <a:ext cx="190195" cy="190195"/>
          </a:xfrm>
          <a:prstGeom prst="rect">
            <a:avLst/>
          </a:prstGeom>
        </p:spPr>
      </p:pic>
      <p:sp>
        <p:nvSpPr>
          <p:cNvPr id="30" name="Text 21"/>
          <p:cNvSpPr txBox="1"/>
          <p:nvPr/>
        </p:nvSpPr>
        <p:spPr>
          <a:xfrm>
            <a:off x="7022592" y="2660904"/>
            <a:ext cx="4343400" cy="292608"/>
          </a:xfrm>
          <a:prstGeom prst="rect">
            <a:avLst/>
          </a:prstGeom>
          <a:noFill/>
          <a:ln/>
        </p:spPr>
        <p:txBody>
          <a:bodyPr wrap="square" lIns="0" tIns="0" rIns="0" bIns="0" rtlCol="0" anchor="ctr"/>
          <a:lstStyle/>
          <a:p>
            <a:pPr indent="0" marL="0">
              <a:buNone/>
            </a:pPr>
            <a:r>
              <a:rPr lang="en-US" sz="1350" b="1" dirty="0">
                <a:solidFill>
                  <a:srgbClr val="1A2E24"/>
                </a:solidFill>
                <a:latin typeface="Calibri" pitchFamily="34" charset="0"/>
                <a:ea typeface="Calibri" pitchFamily="34" charset="-122"/>
                <a:cs typeface="Calibri" pitchFamily="34" charset="-120"/>
              </a:rPr>
              <a:t>Smaller attack surface</a:t>
            </a:r>
            <a:endParaRPr lang="en-US" sz="1350" dirty="0"/>
          </a:p>
        </p:txBody>
      </p:sp>
      <p:sp>
        <p:nvSpPr>
          <p:cNvPr id="31" name="Text 22"/>
          <p:cNvSpPr txBox="1"/>
          <p:nvPr/>
        </p:nvSpPr>
        <p:spPr>
          <a:xfrm>
            <a:off x="7022592" y="2953512"/>
            <a:ext cx="4343400" cy="566928"/>
          </a:xfrm>
          <a:prstGeom prst="rect">
            <a:avLst/>
          </a:prstGeom>
          <a:noFill/>
          <a:ln/>
        </p:spPr>
        <p:txBody>
          <a:bodyPr wrap="square" lIns="0" tIns="0" rIns="0" bIns="0" rtlCol="0" anchor="ctr"/>
          <a:lstStyle/>
          <a:p>
            <a:pPr indent="0" marL="0">
              <a:buNone/>
            </a:pPr>
            <a:r>
              <a:rPr lang="en-US" sz="1150" dirty="0">
                <a:solidFill>
                  <a:srgbClr val="5C6F66"/>
                </a:solidFill>
                <a:latin typeface="Calibri" pitchFamily="34" charset="0"/>
                <a:ea typeface="Calibri" pitchFamily="34" charset="-122"/>
                <a:cs typeface="Calibri" pitchFamily="34" charset="-120"/>
              </a:rPr>
              <a:t>No bearer tokens in JS-reachable storage; the backend has no public port.</a:t>
            </a:r>
            <a:endParaRPr lang="en-US" sz="1150" dirty="0"/>
          </a:p>
        </p:txBody>
      </p:sp>
      <p:sp>
        <p:nvSpPr>
          <p:cNvPr id="32" name="Shape 23"/>
          <p:cNvSpPr/>
          <p:nvPr/>
        </p:nvSpPr>
        <p:spPr>
          <a:xfrm>
            <a:off x="6473952" y="3593592"/>
            <a:ext cx="365760" cy="365760"/>
          </a:xfrm>
          <a:prstGeom prst="roundRect">
            <a:avLst>
              <a:gd name="adj" fmla="val 22000"/>
            </a:avLst>
          </a:prstGeom>
          <a:solidFill>
            <a:srgbClr val="2FA36B"/>
          </a:solidFill>
          <a:ln/>
          <a:effectLst>
            <a:outerShdw sx="100000" sy="100000" kx="0" ky="0" algn="bl" rotWithShape="0" blurRad="76200" dist="25400" dir="5400000">
              <a:srgbClr val="0B3D2E">
                <a:alpha val="18000"/>
              </a:srgbClr>
            </a:outerShdw>
          </a:effectLst>
        </p:spPr>
      </p:sp>
      <p:pic>
        <p:nvPicPr>
          <p:cNvPr id="33" name="Image 7" descr="preencoded.png">    </p:cNvPr>
          <p:cNvPicPr>
            <a:picLocks noChangeAspect="1"/>
          </p:cNvPicPr>
          <p:nvPr/>
        </p:nvPicPr>
        <p:blipFill>
          <a:blip r:embed="rId8"/>
          <a:stretch>
            <a:fillRect/>
          </a:stretch>
        </p:blipFill>
        <p:spPr>
          <a:xfrm>
            <a:off x="6561734" y="3681374"/>
            <a:ext cx="190195" cy="190195"/>
          </a:xfrm>
          <a:prstGeom prst="rect">
            <a:avLst/>
          </a:prstGeom>
        </p:spPr>
      </p:pic>
      <p:sp>
        <p:nvSpPr>
          <p:cNvPr id="34" name="Text 24"/>
          <p:cNvSpPr txBox="1"/>
          <p:nvPr/>
        </p:nvSpPr>
        <p:spPr>
          <a:xfrm>
            <a:off x="7022592" y="3557016"/>
            <a:ext cx="4343400" cy="292608"/>
          </a:xfrm>
          <a:prstGeom prst="rect">
            <a:avLst/>
          </a:prstGeom>
          <a:noFill/>
          <a:ln/>
        </p:spPr>
        <p:txBody>
          <a:bodyPr wrap="square" lIns="0" tIns="0" rIns="0" bIns="0" rtlCol="0" anchor="ctr"/>
          <a:lstStyle/>
          <a:p>
            <a:pPr indent="0" marL="0">
              <a:buNone/>
            </a:pPr>
            <a:r>
              <a:rPr lang="en-US" sz="1350" b="1" dirty="0">
                <a:solidFill>
                  <a:srgbClr val="1A2E24"/>
                </a:solidFill>
                <a:latin typeface="Calibri" pitchFamily="34" charset="0"/>
                <a:ea typeface="Calibri" pitchFamily="34" charset="-122"/>
                <a:cs typeface="Calibri" pitchFamily="34" charset="-120"/>
              </a:rPr>
              <a:t>One enforcement point</a:t>
            </a:r>
            <a:endParaRPr lang="en-US" sz="1350" dirty="0"/>
          </a:p>
        </p:txBody>
      </p:sp>
      <p:sp>
        <p:nvSpPr>
          <p:cNvPr id="35" name="Text 25"/>
          <p:cNvSpPr txBox="1"/>
          <p:nvPr/>
        </p:nvSpPr>
        <p:spPr>
          <a:xfrm>
            <a:off x="7022592" y="3849624"/>
            <a:ext cx="4343400" cy="566928"/>
          </a:xfrm>
          <a:prstGeom prst="rect">
            <a:avLst/>
          </a:prstGeom>
          <a:noFill/>
          <a:ln/>
        </p:spPr>
        <p:txBody>
          <a:bodyPr wrap="square" lIns="0" tIns="0" rIns="0" bIns="0" rtlCol="0" anchor="ctr"/>
          <a:lstStyle/>
          <a:p>
            <a:pPr indent="0" marL="0">
              <a:buNone/>
            </a:pPr>
            <a:r>
              <a:rPr lang="en-US" sz="1150" dirty="0">
                <a:solidFill>
                  <a:srgbClr val="5C6F66"/>
                </a:solidFill>
                <a:latin typeface="Calibri" pitchFamily="34" charset="0"/>
                <a:ea typeface="Calibri" pitchFamily="34" charset="-122"/>
                <a:cs typeface="Calibri" pitchFamily="34" charset="-120"/>
              </a:rPr>
              <a:t>Authorization decisions live in one audited service, not scattered across clients.</a:t>
            </a:r>
            <a:endParaRPr lang="en-US" sz="1150" dirty="0"/>
          </a:p>
        </p:txBody>
      </p:sp>
      <p:sp>
        <p:nvSpPr>
          <p:cNvPr id="36" name="Shape 26"/>
          <p:cNvSpPr/>
          <p:nvPr/>
        </p:nvSpPr>
        <p:spPr>
          <a:xfrm>
            <a:off x="6473952" y="4489704"/>
            <a:ext cx="365760" cy="365760"/>
          </a:xfrm>
          <a:prstGeom prst="roundRect">
            <a:avLst>
              <a:gd name="adj" fmla="val 22000"/>
            </a:avLst>
          </a:prstGeom>
          <a:solidFill>
            <a:srgbClr val="2FA36B"/>
          </a:solidFill>
          <a:ln/>
          <a:effectLst>
            <a:outerShdw sx="100000" sy="100000" kx="0" ky="0" algn="bl" rotWithShape="0" blurRad="76200" dist="25400" dir="5400000">
              <a:srgbClr val="0B3D2E">
                <a:alpha val="18000"/>
              </a:srgbClr>
            </a:outerShdw>
          </a:effectLst>
        </p:spPr>
      </p:sp>
      <p:pic>
        <p:nvPicPr>
          <p:cNvPr id="37" name="Image 8" descr="preencoded.png">    </p:cNvPr>
          <p:cNvPicPr>
            <a:picLocks noChangeAspect="1"/>
          </p:cNvPicPr>
          <p:nvPr/>
        </p:nvPicPr>
        <p:blipFill>
          <a:blip r:embed="rId9"/>
          <a:stretch>
            <a:fillRect/>
          </a:stretch>
        </p:blipFill>
        <p:spPr>
          <a:xfrm>
            <a:off x="6561734" y="4577486"/>
            <a:ext cx="190195" cy="190195"/>
          </a:xfrm>
          <a:prstGeom prst="rect">
            <a:avLst/>
          </a:prstGeom>
        </p:spPr>
      </p:pic>
      <p:sp>
        <p:nvSpPr>
          <p:cNvPr id="38" name="Text 27"/>
          <p:cNvSpPr txBox="1"/>
          <p:nvPr/>
        </p:nvSpPr>
        <p:spPr>
          <a:xfrm>
            <a:off x="7022592" y="4453128"/>
            <a:ext cx="4343400" cy="292608"/>
          </a:xfrm>
          <a:prstGeom prst="rect">
            <a:avLst/>
          </a:prstGeom>
          <a:noFill/>
          <a:ln/>
        </p:spPr>
        <p:txBody>
          <a:bodyPr wrap="square" lIns="0" tIns="0" rIns="0" bIns="0" rtlCol="0" anchor="ctr"/>
          <a:lstStyle/>
          <a:p>
            <a:pPr indent="0" marL="0">
              <a:buNone/>
            </a:pPr>
            <a:r>
              <a:rPr lang="en-US" sz="1350" b="1" dirty="0">
                <a:solidFill>
                  <a:srgbClr val="1A2E24"/>
                </a:solidFill>
                <a:latin typeface="Calibri" pitchFamily="34" charset="0"/>
                <a:ea typeface="Calibri" pitchFamily="34" charset="-122"/>
                <a:cs typeface="Calibri" pitchFamily="34" charset="-120"/>
              </a:rPr>
              <a:t>Boring, proven parts</a:t>
            </a:r>
            <a:endParaRPr lang="en-US" sz="1350" dirty="0"/>
          </a:p>
        </p:txBody>
      </p:sp>
      <p:sp>
        <p:nvSpPr>
          <p:cNvPr id="39" name="Text 28"/>
          <p:cNvSpPr txBox="1"/>
          <p:nvPr/>
        </p:nvSpPr>
        <p:spPr>
          <a:xfrm>
            <a:off x="7022592" y="4745736"/>
            <a:ext cx="4343400" cy="566928"/>
          </a:xfrm>
          <a:prstGeom prst="rect">
            <a:avLst/>
          </a:prstGeom>
          <a:noFill/>
          <a:ln/>
        </p:spPr>
        <p:txBody>
          <a:bodyPr wrap="square" lIns="0" tIns="0" rIns="0" bIns="0" rtlCol="0" anchor="ctr"/>
          <a:lstStyle/>
          <a:p>
            <a:pPr indent="0" marL="0">
              <a:buNone/>
            </a:pPr>
            <a:r>
              <a:rPr lang="en-US" sz="1150" dirty="0">
                <a:solidFill>
                  <a:srgbClr val="5C6F66"/>
                </a:solidFill>
                <a:latin typeface="Calibri" pitchFamily="34" charset="0"/>
                <a:ea typeface="Calibri" pitchFamily="34" charset="-122"/>
                <a:cs typeface="Calibri" pitchFamily="34" charset="-120"/>
              </a:rPr>
              <a:t>Spring Security + Keycloak - patterns your team can hire for and Google.</a:t>
            </a:r>
            <a:endParaRPr lang="en-US" sz="1150" dirty="0"/>
          </a:p>
        </p:txBody>
      </p:sp>
      <p:sp>
        <p:nvSpPr>
          <p:cNvPr id="40" name="Shape 29"/>
          <p:cNvSpPr/>
          <p:nvPr/>
        </p:nvSpPr>
        <p:spPr>
          <a:xfrm>
            <a:off x="6473952" y="5385816"/>
            <a:ext cx="365760" cy="365760"/>
          </a:xfrm>
          <a:prstGeom prst="roundRect">
            <a:avLst>
              <a:gd name="adj" fmla="val 22000"/>
            </a:avLst>
          </a:prstGeom>
          <a:solidFill>
            <a:srgbClr val="2FA36B"/>
          </a:solidFill>
          <a:ln/>
          <a:effectLst>
            <a:outerShdw sx="100000" sy="100000" kx="0" ky="0" algn="bl" rotWithShape="0" blurRad="76200" dist="25400" dir="5400000">
              <a:srgbClr val="0B3D2E">
                <a:alpha val="18000"/>
              </a:srgbClr>
            </a:outerShdw>
          </a:effectLst>
        </p:spPr>
      </p:sp>
      <p:pic>
        <p:nvPicPr>
          <p:cNvPr id="41" name="Image 9" descr="preencoded.png">    </p:cNvPr>
          <p:cNvPicPr>
            <a:picLocks noChangeAspect="1"/>
          </p:cNvPicPr>
          <p:nvPr/>
        </p:nvPicPr>
        <p:blipFill>
          <a:blip r:embed="rId10"/>
          <a:stretch>
            <a:fillRect/>
          </a:stretch>
        </p:blipFill>
        <p:spPr>
          <a:xfrm>
            <a:off x="6561734" y="5473598"/>
            <a:ext cx="190195" cy="190195"/>
          </a:xfrm>
          <a:prstGeom prst="rect">
            <a:avLst/>
          </a:prstGeom>
        </p:spPr>
      </p:pic>
      <p:sp>
        <p:nvSpPr>
          <p:cNvPr id="42" name="Text 30"/>
          <p:cNvSpPr txBox="1"/>
          <p:nvPr/>
        </p:nvSpPr>
        <p:spPr>
          <a:xfrm>
            <a:off x="7022592" y="5349240"/>
            <a:ext cx="4343400" cy="292608"/>
          </a:xfrm>
          <a:prstGeom prst="rect">
            <a:avLst/>
          </a:prstGeom>
          <a:noFill/>
          <a:ln/>
        </p:spPr>
        <p:txBody>
          <a:bodyPr wrap="square" lIns="0" tIns="0" rIns="0" bIns="0" rtlCol="0" anchor="ctr"/>
          <a:lstStyle/>
          <a:p>
            <a:pPr indent="0" marL="0">
              <a:buNone/>
            </a:pPr>
            <a:r>
              <a:rPr lang="en-US" sz="1350" b="1" dirty="0">
                <a:solidFill>
                  <a:srgbClr val="1A2E24"/>
                </a:solidFill>
                <a:latin typeface="Calibri" pitchFamily="34" charset="0"/>
                <a:ea typeface="Calibri" pitchFamily="34" charset="-122"/>
                <a:cs typeface="Calibri" pitchFamily="34" charset="-120"/>
              </a:rPr>
              <a:t>CC0 starter</a:t>
            </a:r>
            <a:endParaRPr lang="en-US" sz="1350" dirty="0"/>
          </a:p>
        </p:txBody>
      </p:sp>
      <p:sp>
        <p:nvSpPr>
          <p:cNvPr id="43" name="Text 31"/>
          <p:cNvSpPr txBox="1"/>
          <p:nvPr/>
        </p:nvSpPr>
        <p:spPr>
          <a:xfrm>
            <a:off x="7022592" y="5641848"/>
            <a:ext cx="4343400" cy="566928"/>
          </a:xfrm>
          <a:prstGeom prst="rect">
            <a:avLst/>
          </a:prstGeom>
          <a:noFill/>
          <a:ln/>
        </p:spPr>
        <p:txBody>
          <a:bodyPr wrap="square" lIns="0" tIns="0" rIns="0" bIns="0" rtlCol="0" anchor="ctr"/>
          <a:lstStyle/>
          <a:p>
            <a:pPr indent="0" marL="0">
              <a:buNone/>
            </a:pPr>
            <a:r>
              <a:rPr lang="en-US" sz="1150" dirty="0">
                <a:solidFill>
                  <a:srgbClr val="5C6F66"/>
                </a:solidFill>
                <a:latin typeface="Calibri" pitchFamily="34" charset="0"/>
                <a:ea typeface="Calibri" pitchFamily="34" charset="-122"/>
                <a:cs typeface="Calibri" pitchFamily="34" charset="-120"/>
              </a:rPr>
              <a:t>Public-domain dedication: adopt, fork, and rebrand with zero legal friction.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ctr"/>
          <a:lstStyle/>
          <a:p>
            <a:pPr indent="0" marL="0">
              <a:buNone/>
            </a:pPr>
            <a:r>
              <a:rPr lang="en-US" sz="1200" b="1" spc="300" kern="0" dirty="0">
                <a:solidFill>
                  <a:srgbClr val="248257"/>
                </a:solidFill>
                <a:latin typeface="Calibri" pitchFamily="34" charset="0"/>
                <a:ea typeface="Calibri" pitchFamily="34" charset="-122"/>
                <a:cs typeface="Calibri" pitchFamily="34" charset="-120"/>
              </a:rPr>
              <a:t>HONEST ACCOUNTING</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A2E24"/>
                </a:solidFill>
                <a:latin typeface="Calibri" pitchFamily="34" charset="0"/>
                <a:ea typeface="Calibri" pitchFamily="34" charset="-122"/>
                <a:cs typeface="Calibri" pitchFamily="34" charset="-120"/>
              </a:rPr>
              <a:t>What a BFF costs you</a:t>
            </a:r>
            <a:endParaRPr lang="en-US" sz="3000" dirty="0"/>
          </a:p>
        </p:txBody>
      </p:sp>
      <p:sp>
        <p:nvSpPr>
          <p:cNvPr id="4" name="Shape 2"/>
          <p:cNvSpPr/>
          <p:nvPr/>
        </p:nvSpPr>
        <p:spPr>
          <a:xfrm>
            <a:off x="548640" y="1691640"/>
            <a:ext cx="5440680" cy="1783080"/>
          </a:xfrm>
          <a:prstGeom prst="roundRect">
            <a:avLst>
              <a:gd name="adj" fmla="val 4615"/>
            </a:avLst>
          </a:prstGeom>
          <a:solidFill>
            <a:srgbClr val="EDF6F1"/>
          </a:solidFill>
          <a:ln w="12700">
            <a:solidFill>
              <a:srgbClr val="CFE3D7"/>
            </a:solidFill>
            <a:prstDash val="solid"/>
          </a:ln>
        </p:spPr>
      </p:sp>
      <p:sp>
        <p:nvSpPr>
          <p:cNvPr id="5" name="Shape 3"/>
          <p:cNvSpPr/>
          <p:nvPr/>
        </p:nvSpPr>
        <p:spPr>
          <a:xfrm>
            <a:off x="804672" y="1947672"/>
            <a:ext cx="457200" cy="457200"/>
          </a:xfrm>
          <a:prstGeom prst="roundRect">
            <a:avLst>
              <a:gd name="adj" fmla="val 22000"/>
            </a:avLst>
          </a:prstGeom>
          <a:solidFill>
            <a:srgbClr val="B85042"/>
          </a:solidFill>
          <a:ln/>
          <a:effectLst>
            <a:outerShdw sx="100000" sy="100000" kx="0" ky="0" algn="bl" rotWithShape="0" blurRad="76200" dist="25400" dir="5400000">
              <a:srgbClr val="0B3D2E">
                <a:alpha val="18000"/>
              </a:srgbClr>
            </a:outerShdw>
          </a:effectLst>
        </p:spPr>
      </p:sp>
      <p:pic>
        <p:nvPicPr>
          <p:cNvPr id="6" name="Image 0" descr="preencoded.png">    </p:cNvPr>
          <p:cNvPicPr>
            <a:picLocks noChangeAspect="1"/>
          </p:cNvPicPr>
          <p:nvPr/>
        </p:nvPicPr>
        <p:blipFill>
          <a:blip r:embed="rId1"/>
          <a:stretch>
            <a:fillRect/>
          </a:stretch>
        </p:blipFill>
        <p:spPr>
          <a:xfrm>
            <a:off x="914400" y="2057400"/>
            <a:ext cx="237744" cy="237744"/>
          </a:xfrm>
          <a:prstGeom prst="rect">
            <a:avLst/>
          </a:prstGeom>
        </p:spPr>
      </p:pic>
      <p:sp>
        <p:nvSpPr>
          <p:cNvPr id="7" name="Text 4"/>
          <p:cNvSpPr txBox="1"/>
          <p:nvPr/>
        </p:nvSpPr>
        <p:spPr>
          <a:xfrm>
            <a:off x="1444752" y="1984248"/>
            <a:ext cx="4297680" cy="365760"/>
          </a:xfrm>
          <a:prstGeom prst="rect">
            <a:avLst/>
          </a:prstGeom>
          <a:noFill/>
          <a:ln/>
        </p:spPr>
        <p:txBody>
          <a:bodyPr wrap="square" lIns="0" tIns="0" rIns="0" bIns="0" rtlCol="0" anchor="ctr"/>
          <a:lstStyle/>
          <a:p>
            <a:pPr indent="0" marL="0">
              <a:buNone/>
            </a:pPr>
            <a:r>
              <a:rPr lang="en-US" sz="1500" b="1" dirty="0">
                <a:solidFill>
                  <a:srgbClr val="1A2E24"/>
                </a:solidFill>
                <a:latin typeface="Calibri" pitchFamily="34" charset="0"/>
                <a:ea typeface="Calibri" pitchFamily="34" charset="-122"/>
                <a:cs typeface="Calibri" pitchFamily="34" charset="-120"/>
              </a:rPr>
              <a:t>One more hop</a:t>
            </a:r>
            <a:endParaRPr lang="en-US" sz="1500" dirty="0"/>
          </a:p>
        </p:txBody>
      </p:sp>
      <p:sp>
        <p:nvSpPr>
          <p:cNvPr id="8" name="Text 5"/>
          <p:cNvSpPr txBox="1"/>
          <p:nvPr/>
        </p:nvSpPr>
        <p:spPr>
          <a:xfrm>
            <a:off x="804672" y="2468880"/>
            <a:ext cx="4937760" cy="868680"/>
          </a:xfrm>
          <a:prstGeom prst="rect">
            <a:avLst/>
          </a:prstGeom>
          <a:noFill/>
          <a:ln/>
        </p:spPr>
        <p:txBody>
          <a:bodyPr wrap="square" lIns="0" tIns="0" rIns="0" bIns="0" rtlCol="0" anchor="ctr"/>
          <a:lstStyle/>
          <a:p>
            <a:pPr indent="0" marL="0">
              <a:buNone/>
            </a:pPr>
            <a:r>
              <a:rPr lang="en-US" sz="1200" dirty="0">
                <a:solidFill>
                  <a:srgbClr val="5C6F66"/>
                </a:solidFill>
                <a:latin typeface="Calibri" pitchFamily="34" charset="0"/>
                <a:ea typeface="Calibri" pitchFamily="34" charset="-122"/>
                <a:cs typeface="Calibri" pitchFamily="34" charset="-120"/>
              </a:rPr>
              <a:t>Every API call transits the proxy and the BFF. Single-digit milliseconds locally, but it is real and it is on every request.</a:t>
            </a:r>
            <a:endParaRPr lang="en-US" sz="1200" dirty="0"/>
          </a:p>
        </p:txBody>
      </p:sp>
      <p:sp>
        <p:nvSpPr>
          <p:cNvPr id="9" name="Shape 6"/>
          <p:cNvSpPr/>
          <p:nvPr/>
        </p:nvSpPr>
        <p:spPr>
          <a:xfrm>
            <a:off x="6199632" y="1691640"/>
            <a:ext cx="5440680" cy="1783080"/>
          </a:xfrm>
          <a:prstGeom prst="roundRect">
            <a:avLst>
              <a:gd name="adj" fmla="val 4615"/>
            </a:avLst>
          </a:prstGeom>
          <a:solidFill>
            <a:srgbClr val="EDF6F1"/>
          </a:solidFill>
          <a:ln w="12700">
            <a:solidFill>
              <a:srgbClr val="CFE3D7"/>
            </a:solidFill>
            <a:prstDash val="solid"/>
          </a:ln>
        </p:spPr>
      </p:sp>
      <p:sp>
        <p:nvSpPr>
          <p:cNvPr id="10" name="Shape 7"/>
          <p:cNvSpPr/>
          <p:nvPr/>
        </p:nvSpPr>
        <p:spPr>
          <a:xfrm>
            <a:off x="6455664" y="1947672"/>
            <a:ext cx="457200" cy="457200"/>
          </a:xfrm>
          <a:prstGeom prst="roundRect">
            <a:avLst>
              <a:gd name="adj" fmla="val 22000"/>
            </a:avLst>
          </a:prstGeom>
          <a:solidFill>
            <a:srgbClr val="B85042"/>
          </a:solidFill>
          <a:ln/>
          <a:effectLst>
            <a:outerShdw sx="100000" sy="100000" kx="0" ky="0" algn="bl" rotWithShape="0" blurRad="76200" dist="25400" dir="5400000">
              <a:srgbClr val="0B3D2E">
                <a:alpha val="18000"/>
              </a:srgbClr>
            </a:outerShdw>
          </a:effectLst>
        </p:spPr>
      </p:sp>
      <p:pic>
        <p:nvPicPr>
          <p:cNvPr id="11" name="Image 1" descr="preencoded.png">    </p:cNvPr>
          <p:cNvPicPr>
            <a:picLocks noChangeAspect="1"/>
          </p:cNvPicPr>
          <p:nvPr/>
        </p:nvPicPr>
        <p:blipFill>
          <a:blip r:embed="rId2"/>
          <a:stretch>
            <a:fillRect/>
          </a:stretch>
        </p:blipFill>
        <p:spPr>
          <a:xfrm>
            <a:off x="6565392" y="2057400"/>
            <a:ext cx="237744" cy="237744"/>
          </a:xfrm>
          <a:prstGeom prst="rect">
            <a:avLst/>
          </a:prstGeom>
        </p:spPr>
      </p:pic>
      <p:sp>
        <p:nvSpPr>
          <p:cNvPr id="12" name="Text 8"/>
          <p:cNvSpPr txBox="1"/>
          <p:nvPr/>
        </p:nvSpPr>
        <p:spPr>
          <a:xfrm>
            <a:off x="7095744" y="1984248"/>
            <a:ext cx="4297680" cy="365760"/>
          </a:xfrm>
          <a:prstGeom prst="rect">
            <a:avLst/>
          </a:prstGeom>
          <a:noFill/>
          <a:ln/>
        </p:spPr>
        <p:txBody>
          <a:bodyPr wrap="square" lIns="0" tIns="0" rIns="0" bIns="0" rtlCol="0" anchor="ctr"/>
          <a:lstStyle/>
          <a:p>
            <a:pPr indent="0" marL="0">
              <a:buNone/>
            </a:pPr>
            <a:r>
              <a:rPr lang="en-US" sz="1500" b="1" dirty="0">
                <a:solidFill>
                  <a:srgbClr val="1A2E24"/>
                </a:solidFill>
                <a:latin typeface="Calibri" pitchFamily="34" charset="0"/>
                <a:ea typeface="Calibri" pitchFamily="34" charset="-122"/>
                <a:cs typeface="Calibri" pitchFamily="34" charset="-120"/>
              </a:rPr>
              <a:t>Stateful sessions</a:t>
            </a:r>
            <a:endParaRPr lang="en-US" sz="1500" dirty="0"/>
          </a:p>
        </p:txBody>
      </p:sp>
      <p:sp>
        <p:nvSpPr>
          <p:cNvPr id="13" name="Text 9"/>
          <p:cNvSpPr txBox="1"/>
          <p:nvPr/>
        </p:nvSpPr>
        <p:spPr>
          <a:xfrm>
            <a:off x="6455664" y="2468880"/>
            <a:ext cx="4937760" cy="868680"/>
          </a:xfrm>
          <a:prstGeom prst="rect">
            <a:avLst/>
          </a:prstGeom>
          <a:noFill/>
          <a:ln/>
        </p:spPr>
        <p:txBody>
          <a:bodyPr wrap="square" lIns="0" tIns="0" rIns="0" bIns="0" rtlCol="0" anchor="ctr"/>
          <a:lstStyle/>
          <a:p>
            <a:pPr indent="0" marL="0">
              <a:buNone/>
            </a:pPr>
            <a:r>
              <a:rPr lang="en-US" sz="1200" dirty="0">
                <a:solidFill>
                  <a:srgbClr val="5C6F66"/>
                </a:solidFill>
                <a:latin typeface="Calibri" pitchFamily="34" charset="0"/>
                <a:ea typeface="Calibri" pitchFamily="34" charset="-122"/>
                <a:cs typeface="Calibri" pitchFamily="34" charset="-120"/>
              </a:rPr>
              <a:t>Scaling out means sticky sessions or a shared session store (e.g. Spring Session + Redis). Stateless JWT backends scale dumber.</a:t>
            </a:r>
            <a:endParaRPr lang="en-US" sz="1200" dirty="0"/>
          </a:p>
        </p:txBody>
      </p:sp>
      <p:sp>
        <p:nvSpPr>
          <p:cNvPr id="14" name="Shape 10"/>
          <p:cNvSpPr/>
          <p:nvPr/>
        </p:nvSpPr>
        <p:spPr>
          <a:xfrm>
            <a:off x="548640" y="3703320"/>
            <a:ext cx="5440680" cy="1783080"/>
          </a:xfrm>
          <a:prstGeom prst="roundRect">
            <a:avLst>
              <a:gd name="adj" fmla="val 4615"/>
            </a:avLst>
          </a:prstGeom>
          <a:solidFill>
            <a:srgbClr val="EDF6F1"/>
          </a:solidFill>
          <a:ln w="12700">
            <a:solidFill>
              <a:srgbClr val="CFE3D7"/>
            </a:solidFill>
            <a:prstDash val="solid"/>
          </a:ln>
        </p:spPr>
      </p:sp>
      <p:sp>
        <p:nvSpPr>
          <p:cNvPr id="15" name="Shape 11"/>
          <p:cNvSpPr/>
          <p:nvPr/>
        </p:nvSpPr>
        <p:spPr>
          <a:xfrm>
            <a:off x="804672" y="3959352"/>
            <a:ext cx="457200" cy="457200"/>
          </a:xfrm>
          <a:prstGeom prst="roundRect">
            <a:avLst>
              <a:gd name="adj" fmla="val 22000"/>
            </a:avLst>
          </a:prstGeom>
          <a:solidFill>
            <a:srgbClr val="B85042"/>
          </a:solidFill>
          <a:ln/>
          <a:effectLst>
            <a:outerShdw sx="100000" sy="100000" kx="0" ky="0" algn="bl" rotWithShape="0" blurRad="76200" dist="25400" dir="5400000">
              <a:srgbClr val="0B3D2E">
                <a:alpha val="18000"/>
              </a:srgbClr>
            </a:outerShdw>
          </a:effectLst>
        </p:spPr>
      </p:sp>
      <p:pic>
        <p:nvPicPr>
          <p:cNvPr id="16" name="Image 2" descr="preencoded.png">    </p:cNvPr>
          <p:cNvPicPr>
            <a:picLocks noChangeAspect="1"/>
          </p:cNvPicPr>
          <p:nvPr/>
        </p:nvPicPr>
        <p:blipFill>
          <a:blip r:embed="rId3"/>
          <a:stretch>
            <a:fillRect/>
          </a:stretch>
        </p:blipFill>
        <p:spPr>
          <a:xfrm>
            <a:off x="914400" y="4069080"/>
            <a:ext cx="237744" cy="237744"/>
          </a:xfrm>
          <a:prstGeom prst="rect">
            <a:avLst/>
          </a:prstGeom>
        </p:spPr>
      </p:pic>
      <p:sp>
        <p:nvSpPr>
          <p:cNvPr id="17" name="Text 12"/>
          <p:cNvSpPr txBox="1"/>
          <p:nvPr/>
        </p:nvSpPr>
        <p:spPr>
          <a:xfrm>
            <a:off x="1444752" y="3995928"/>
            <a:ext cx="4297680" cy="365760"/>
          </a:xfrm>
          <a:prstGeom prst="rect">
            <a:avLst/>
          </a:prstGeom>
          <a:noFill/>
          <a:ln/>
        </p:spPr>
        <p:txBody>
          <a:bodyPr wrap="square" lIns="0" tIns="0" rIns="0" bIns="0" rtlCol="0" anchor="ctr"/>
          <a:lstStyle/>
          <a:p>
            <a:pPr indent="0" marL="0">
              <a:buNone/>
            </a:pPr>
            <a:r>
              <a:rPr lang="en-US" sz="1500" b="1" dirty="0">
                <a:solidFill>
                  <a:srgbClr val="1A2E24"/>
                </a:solidFill>
                <a:latin typeface="Calibri" pitchFamily="34" charset="0"/>
                <a:ea typeface="Calibri" pitchFamily="34" charset="-122"/>
                <a:cs typeface="Calibri" pitchFamily="34" charset="-120"/>
              </a:rPr>
              <a:t>One more deployable</a:t>
            </a:r>
            <a:endParaRPr lang="en-US" sz="1500" dirty="0"/>
          </a:p>
        </p:txBody>
      </p:sp>
      <p:sp>
        <p:nvSpPr>
          <p:cNvPr id="18" name="Text 13"/>
          <p:cNvSpPr txBox="1"/>
          <p:nvPr/>
        </p:nvSpPr>
        <p:spPr>
          <a:xfrm>
            <a:off x="804672" y="4480560"/>
            <a:ext cx="4937760" cy="868680"/>
          </a:xfrm>
          <a:prstGeom prst="rect">
            <a:avLst/>
          </a:prstGeom>
          <a:noFill/>
          <a:ln/>
        </p:spPr>
        <p:txBody>
          <a:bodyPr wrap="square" lIns="0" tIns="0" rIns="0" bIns="0" rtlCol="0" anchor="ctr"/>
          <a:lstStyle/>
          <a:p>
            <a:pPr indent="0" marL="0">
              <a:buNone/>
            </a:pPr>
            <a:r>
              <a:rPr lang="en-US" sz="1200" dirty="0">
                <a:solidFill>
                  <a:srgbClr val="5C6F66"/>
                </a:solidFill>
                <a:latin typeface="Calibri" pitchFamily="34" charset="0"/>
                <a:ea typeface="Calibri" pitchFamily="34" charset="-122"/>
                <a:cs typeface="Calibri" pitchFamily="34" charset="-120"/>
              </a:rPr>
              <a:t>The BFF is a service you build, monitor, patch, and page on. The pattern trades client complexity for server operations.</a:t>
            </a:r>
            <a:endParaRPr lang="en-US" sz="1200" dirty="0"/>
          </a:p>
        </p:txBody>
      </p:sp>
      <p:sp>
        <p:nvSpPr>
          <p:cNvPr id="19" name="Shape 14"/>
          <p:cNvSpPr/>
          <p:nvPr/>
        </p:nvSpPr>
        <p:spPr>
          <a:xfrm>
            <a:off x="6199632" y="3703320"/>
            <a:ext cx="5440680" cy="1783080"/>
          </a:xfrm>
          <a:prstGeom prst="roundRect">
            <a:avLst>
              <a:gd name="adj" fmla="val 4615"/>
            </a:avLst>
          </a:prstGeom>
          <a:solidFill>
            <a:srgbClr val="EDF6F1"/>
          </a:solidFill>
          <a:ln w="12700">
            <a:solidFill>
              <a:srgbClr val="CFE3D7"/>
            </a:solidFill>
            <a:prstDash val="solid"/>
          </a:ln>
        </p:spPr>
      </p:sp>
      <p:sp>
        <p:nvSpPr>
          <p:cNvPr id="20" name="Shape 15"/>
          <p:cNvSpPr/>
          <p:nvPr/>
        </p:nvSpPr>
        <p:spPr>
          <a:xfrm>
            <a:off x="6455664" y="3959352"/>
            <a:ext cx="457200" cy="457200"/>
          </a:xfrm>
          <a:prstGeom prst="roundRect">
            <a:avLst>
              <a:gd name="adj" fmla="val 22000"/>
            </a:avLst>
          </a:prstGeom>
          <a:solidFill>
            <a:srgbClr val="B85042"/>
          </a:solidFill>
          <a:ln/>
          <a:effectLst>
            <a:outerShdw sx="100000" sy="100000" kx="0" ky="0" algn="bl" rotWithShape="0" blurRad="76200" dist="25400" dir="5400000">
              <a:srgbClr val="0B3D2E">
                <a:alpha val="18000"/>
              </a:srgbClr>
            </a:outerShdw>
          </a:effectLst>
        </p:spPr>
      </p:sp>
      <p:pic>
        <p:nvPicPr>
          <p:cNvPr id="21" name="Image 3" descr="preencoded.png">    </p:cNvPr>
          <p:cNvPicPr>
            <a:picLocks noChangeAspect="1"/>
          </p:cNvPicPr>
          <p:nvPr/>
        </p:nvPicPr>
        <p:blipFill>
          <a:blip r:embed="rId4"/>
          <a:stretch>
            <a:fillRect/>
          </a:stretch>
        </p:blipFill>
        <p:spPr>
          <a:xfrm>
            <a:off x="6565392" y="4069080"/>
            <a:ext cx="237744" cy="237744"/>
          </a:xfrm>
          <a:prstGeom prst="rect">
            <a:avLst/>
          </a:prstGeom>
        </p:spPr>
      </p:pic>
      <p:sp>
        <p:nvSpPr>
          <p:cNvPr id="22" name="Text 16"/>
          <p:cNvSpPr txBox="1"/>
          <p:nvPr/>
        </p:nvSpPr>
        <p:spPr>
          <a:xfrm>
            <a:off x="7095744" y="3995928"/>
            <a:ext cx="4297680" cy="365760"/>
          </a:xfrm>
          <a:prstGeom prst="rect">
            <a:avLst/>
          </a:prstGeom>
          <a:noFill/>
          <a:ln/>
        </p:spPr>
        <p:txBody>
          <a:bodyPr wrap="square" lIns="0" tIns="0" rIns="0" bIns="0" rtlCol="0" anchor="ctr"/>
          <a:lstStyle/>
          <a:p>
            <a:pPr indent="0" marL="0">
              <a:buNone/>
            </a:pPr>
            <a:r>
              <a:rPr lang="en-US" sz="1500" b="1" dirty="0">
                <a:solidFill>
                  <a:srgbClr val="1A2E24"/>
                </a:solidFill>
                <a:latin typeface="Calibri" pitchFamily="34" charset="0"/>
                <a:ea typeface="Calibri" pitchFamily="34" charset="-122"/>
                <a:cs typeface="Calibri" pitchFamily="34" charset="-120"/>
              </a:rPr>
              <a:t>One BFF per frontend</a:t>
            </a:r>
            <a:endParaRPr lang="en-US" sz="1500" dirty="0"/>
          </a:p>
        </p:txBody>
      </p:sp>
      <p:sp>
        <p:nvSpPr>
          <p:cNvPr id="23" name="Text 17"/>
          <p:cNvSpPr txBox="1"/>
          <p:nvPr/>
        </p:nvSpPr>
        <p:spPr>
          <a:xfrm>
            <a:off x="6455664" y="4480560"/>
            <a:ext cx="4937760" cy="868680"/>
          </a:xfrm>
          <a:prstGeom prst="rect">
            <a:avLst/>
          </a:prstGeom>
          <a:noFill/>
          <a:ln/>
        </p:spPr>
        <p:txBody>
          <a:bodyPr wrap="square" lIns="0" tIns="0" rIns="0" bIns="0" rtlCol="0" anchor="ctr"/>
          <a:lstStyle/>
          <a:p>
            <a:pPr indent="0" marL="0">
              <a:buNone/>
            </a:pPr>
            <a:r>
              <a:rPr lang="en-US" sz="1200" dirty="0">
                <a:solidFill>
                  <a:srgbClr val="5C6F66"/>
                </a:solidFill>
                <a:latin typeface="Calibri" pitchFamily="34" charset="0"/>
                <a:ea typeface="Calibri" pitchFamily="34" charset="-122"/>
                <a:cs typeface="Calibri" pitchFamily="34" charset="-120"/>
              </a:rPr>
              <a:t>The pattern is per-client by design. Mobile or third-party clients want the Bearer door (API_EXPOSED) or a BFF of their own.</a:t>
            </a:r>
            <a:endParaRPr lang="en-US" sz="1200" dirty="0"/>
          </a:p>
        </p:txBody>
      </p:sp>
      <p:sp>
        <p:nvSpPr>
          <p:cNvPr id="24" name="Shape 18"/>
          <p:cNvSpPr/>
          <p:nvPr/>
        </p:nvSpPr>
        <p:spPr>
          <a:xfrm>
            <a:off x="548640" y="5715000"/>
            <a:ext cx="11091672" cy="777240"/>
          </a:xfrm>
          <a:prstGeom prst="roundRect">
            <a:avLst>
              <a:gd name="adj" fmla="val 10588"/>
            </a:avLst>
          </a:prstGeom>
          <a:solidFill>
            <a:srgbClr val="0F6A44"/>
          </a:solidFill>
          <a:ln/>
        </p:spPr>
      </p:sp>
      <p:sp>
        <p:nvSpPr>
          <p:cNvPr id="25" name="Text 19"/>
          <p:cNvSpPr txBox="1"/>
          <p:nvPr/>
        </p:nvSpPr>
        <p:spPr>
          <a:xfrm>
            <a:off x="914400" y="5715000"/>
            <a:ext cx="10424160" cy="7772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verdict this starter takes: </a:t>
            </a:r>
            <a:pPr indent="0" marL="0">
              <a:buNone/>
            </a:pPr>
            <a:r>
              <a:rPr lang="en-US" sz="1350" dirty="0">
                <a:solidFill>
                  <a:srgbClr val="CBEAD9"/>
                </a:solidFill>
                <a:latin typeface="Calibri" pitchFamily="34" charset="0"/>
                <a:ea typeface="Calibri" pitchFamily="34" charset="-122"/>
                <a:cs typeface="Calibri" pitchFamily="34" charset="-120"/>
              </a:rPr>
              <a:t>for a browser app handling real user sessions, the security posture is worth the operational cost - and the costs above are the known, priced-in kind.</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3D2E"/>
        </a:solidFill>
      </p:bgPr>
    </p:bg>
    <p:spTree>
      <p:nvGrpSpPr>
        <p:cNvPr id="1" name=""/>
        <p:cNvGrpSpPr/>
        <p:nvPr/>
      </p:nvGrpSpPr>
      <p:grpSpPr>
        <a:xfrm>
          <a:off x="0" y="0"/>
          <a:ext cx="0" cy="0"/>
          <a:chOff x="0" y="0"/>
          <a:chExt cx="0" cy="0"/>
        </a:xfrm>
      </p:grpSpPr>
      <p:sp>
        <p:nvSpPr>
          <p:cNvPr id="2" name="Shape 0"/>
          <p:cNvSpPr/>
          <p:nvPr/>
        </p:nvSpPr>
        <p:spPr>
          <a:xfrm>
            <a:off x="685800" y="685800"/>
            <a:ext cx="1051560" cy="1051560"/>
          </a:xfrm>
          <a:prstGeom prst="roundRect">
            <a:avLst>
              <a:gd name="adj" fmla="val 20000"/>
            </a:avLst>
          </a:prstGeom>
          <a:solidFill>
            <a:srgbClr val="2FA36B"/>
          </a:solidFill>
          <a:ln/>
          <a:effectLst>
            <a:outerShdw sx="100000" sy="100000" kx="0" ky="0" algn="bl" rotWithShape="0" blurRad="76200" dist="25400" dir="5400000">
              <a:srgbClr val="0B3D2E">
                <a:alpha val="18000"/>
              </a:srgbClr>
            </a:outerShdw>
          </a:effectLst>
        </p:spPr>
      </p:sp>
      <p:sp>
        <p:nvSpPr>
          <p:cNvPr id="3" name="Text 1"/>
          <p:cNvSpPr txBox="1"/>
          <p:nvPr/>
        </p:nvSpPr>
        <p:spPr>
          <a:xfrm>
            <a:off x="685800" y="706831"/>
            <a:ext cx="1051560" cy="609905"/>
          </a:xfrm>
          <a:prstGeom prst="rect">
            <a:avLst/>
          </a:prstGeom>
          <a:noFill/>
          <a:ln/>
        </p:spPr>
        <p:txBody>
          <a:bodyPr wrap="square" lIns="0" tIns="0" rIns="0" bIns="0" rtlCol="0" anchor="ctr"/>
          <a:lstStyle/>
          <a:p>
            <a:pPr algn="ctr" indent="0" marL="0">
              <a:buNone/>
            </a:pPr>
            <a:r>
              <a:rPr lang="en-US" sz="5980" b="1" dirty="0">
                <a:solidFill>
                  <a:srgbClr val="FFFFFF"/>
                </a:solidFill>
                <a:latin typeface="Calibri" pitchFamily="34" charset="0"/>
                <a:ea typeface="Calibri" pitchFamily="34" charset="-122"/>
                <a:cs typeface="Calibri" pitchFamily="34" charset="-120"/>
              </a:rPr>
              <a:t>»</a:t>
            </a:r>
            <a:endParaRPr lang="en-US" sz="5980" dirty="0"/>
          </a:p>
        </p:txBody>
      </p:sp>
      <p:sp>
        <p:nvSpPr>
          <p:cNvPr id="4" name="Text 2"/>
          <p:cNvSpPr txBox="1"/>
          <p:nvPr/>
        </p:nvSpPr>
        <p:spPr>
          <a:xfrm>
            <a:off x="685800" y="1232611"/>
            <a:ext cx="1051560" cy="441655"/>
          </a:xfrm>
          <a:prstGeom prst="rect">
            <a:avLst/>
          </a:prstGeom>
          <a:noFill/>
          <a:ln/>
        </p:spPr>
        <p:txBody>
          <a:bodyPr wrap="square" lIns="0" tIns="0" rIns="0" bIns="0" rtlCol="0" anchor="ctr"/>
          <a:lstStyle/>
          <a:p>
            <a:pPr algn="ctr" indent="0" marL="0">
              <a:buNone/>
            </a:pPr>
            <a:r>
              <a:rPr lang="en-US" sz="3450" b="1" dirty="0">
                <a:solidFill>
                  <a:srgbClr val="FFFFFF"/>
                </a:solidFill>
                <a:latin typeface="Calibri" pitchFamily="34" charset="0"/>
                <a:ea typeface="Calibri" pitchFamily="34" charset="-122"/>
                <a:cs typeface="Calibri" pitchFamily="34" charset="-120"/>
              </a:rPr>
              <a:t>sG</a:t>
            </a:r>
            <a:endParaRPr lang="en-US" sz="3450" dirty="0"/>
          </a:p>
        </p:txBody>
      </p:sp>
      <p:sp>
        <p:nvSpPr>
          <p:cNvPr id="5" name="Text 3"/>
          <p:cNvSpPr txBox="1"/>
          <p:nvPr/>
        </p:nvSpPr>
        <p:spPr>
          <a:xfrm>
            <a:off x="685800" y="2286000"/>
            <a:ext cx="10789920" cy="9144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Clone it, log in, read the code.</a:t>
            </a:r>
            <a:endParaRPr lang="en-US" sz="4000" dirty="0"/>
          </a:p>
        </p:txBody>
      </p:sp>
      <p:sp>
        <p:nvSpPr>
          <p:cNvPr id="6" name="Text 4"/>
          <p:cNvSpPr txBox="1"/>
          <p:nvPr/>
        </p:nvSpPr>
        <p:spPr>
          <a:xfrm>
            <a:off x="685800" y="3246120"/>
            <a:ext cx="9144000" cy="457200"/>
          </a:xfrm>
          <a:prstGeom prst="rect">
            <a:avLst/>
          </a:prstGeom>
          <a:noFill/>
          <a:ln/>
        </p:spPr>
        <p:txBody>
          <a:bodyPr wrap="square" lIns="0" tIns="0" rIns="0" bIns="0" rtlCol="0" anchor="ctr"/>
          <a:lstStyle/>
          <a:p>
            <a:pPr indent="0" marL="0">
              <a:buNone/>
            </a:pPr>
            <a:r>
              <a:rPr lang="en-US" sz="2000" b="1" dirty="0">
                <a:solidFill>
                  <a:srgbClr val="2FA36B"/>
                </a:solidFill>
                <a:latin typeface="Courier New" pitchFamily="34" charset="0"/>
                <a:ea typeface="Courier New" pitchFamily="34" charset="-122"/>
                <a:cs typeface="Courier New" pitchFamily="34" charset="-120"/>
              </a:rPr>
              <a:t>github.com/ryanjjohnson/bff-kickstart</a:t>
            </a:r>
            <a:endParaRPr lang="en-US" sz="2000" dirty="0"/>
          </a:p>
        </p:txBody>
      </p:sp>
      <p:sp>
        <p:nvSpPr>
          <p:cNvPr id="7" name="Shape 5"/>
          <p:cNvSpPr/>
          <p:nvPr/>
        </p:nvSpPr>
        <p:spPr>
          <a:xfrm>
            <a:off x="685800" y="4160520"/>
            <a:ext cx="256032" cy="256032"/>
          </a:xfrm>
          <a:prstGeom prst="roundRect">
            <a:avLst>
              <a:gd name="adj" fmla="val 21429"/>
            </a:avLst>
          </a:prstGeom>
          <a:solidFill>
            <a:srgbClr val="2FA36B"/>
          </a:solidFill>
          <a:ln/>
        </p:spPr>
      </p:sp>
      <p:sp>
        <p:nvSpPr>
          <p:cNvPr id="8" name="Text 6"/>
          <p:cNvSpPr txBox="1"/>
          <p:nvPr/>
        </p:nvSpPr>
        <p:spPr>
          <a:xfrm>
            <a:off x="1143000" y="4096512"/>
            <a:ext cx="4480560" cy="365760"/>
          </a:xfrm>
          <a:prstGeom prst="rect">
            <a:avLst/>
          </a:prstGeom>
          <a:noFill/>
          <a:ln/>
        </p:spPr>
        <p:txBody>
          <a:bodyPr wrap="square" lIns="0" tIns="0" rIns="0" bIns="0" rtlCol="0" anchor="ctr"/>
          <a:lstStyle/>
          <a:p>
            <a:pPr indent="0" marL="0">
              <a:buNone/>
            </a:pPr>
            <a:r>
              <a:rPr lang="en-US" sz="1350" b="1" dirty="0">
                <a:solidFill>
                  <a:srgbClr val="FFFFFF"/>
                </a:solidFill>
                <a:latin typeface="Courier New" pitchFamily="34" charset="0"/>
                <a:ea typeface="Courier New" pitchFamily="34" charset="-122"/>
                <a:cs typeface="Courier New" pitchFamily="34" charset="-120"/>
              </a:rPr>
              <a:t>README</a:t>
            </a:r>
            <a:endParaRPr lang="en-US" sz="1350" dirty="0"/>
          </a:p>
        </p:txBody>
      </p:sp>
      <p:sp>
        <p:nvSpPr>
          <p:cNvPr id="9" name="Text 7"/>
          <p:cNvSpPr txBox="1"/>
          <p:nvPr/>
        </p:nvSpPr>
        <p:spPr>
          <a:xfrm>
            <a:off x="5760720" y="4096512"/>
            <a:ext cx="5852160" cy="365760"/>
          </a:xfrm>
          <a:prstGeom prst="rect">
            <a:avLst/>
          </a:prstGeom>
          <a:noFill/>
          <a:ln/>
        </p:spPr>
        <p:txBody>
          <a:bodyPr wrap="square" lIns="0" tIns="0" rIns="0" bIns="0" rtlCol="0" anchor="ctr"/>
          <a:lstStyle/>
          <a:p>
            <a:pPr indent="0" marL="0">
              <a:buNone/>
            </a:pPr>
            <a:r>
              <a:rPr lang="en-US" sz="1250" dirty="0">
                <a:solidFill>
                  <a:srgbClr val="9FC9B3"/>
                </a:solidFill>
                <a:latin typeface="Calibri" pitchFamily="34" charset="0"/>
                <a:ea typeface="Calibri" pitchFamily="34" charset="-122"/>
                <a:cs typeface="Calibri" pitchFamily="34" charset="-120"/>
              </a:rPr>
              <a:t>Architecture, every technology choice justified, Docker &amp; native bring-up</a:t>
            </a:r>
            <a:endParaRPr lang="en-US" sz="1250" dirty="0"/>
          </a:p>
        </p:txBody>
      </p:sp>
      <p:sp>
        <p:nvSpPr>
          <p:cNvPr id="10" name="Shape 8"/>
          <p:cNvSpPr/>
          <p:nvPr/>
        </p:nvSpPr>
        <p:spPr>
          <a:xfrm>
            <a:off x="685800" y="4754880"/>
            <a:ext cx="256032" cy="256032"/>
          </a:xfrm>
          <a:prstGeom prst="roundRect">
            <a:avLst>
              <a:gd name="adj" fmla="val 21429"/>
            </a:avLst>
          </a:prstGeom>
          <a:solidFill>
            <a:srgbClr val="2FA36B"/>
          </a:solidFill>
          <a:ln/>
        </p:spPr>
      </p:sp>
      <p:sp>
        <p:nvSpPr>
          <p:cNvPr id="11" name="Text 9"/>
          <p:cNvSpPr txBox="1"/>
          <p:nvPr/>
        </p:nvSpPr>
        <p:spPr>
          <a:xfrm>
            <a:off x="1143000" y="4690872"/>
            <a:ext cx="4480560" cy="365760"/>
          </a:xfrm>
          <a:prstGeom prst="rect">
            <a:avLst/>
          </a:prstGeom>
          <a:noFill/>
          <a:ln/>
        </p:spPr>
        <p:txBody>
          <a:bodyPr wrap="square" lIns="0" tIns="0" rIns="0" bIns="0" rtlCol="0" anchor="ctr"/>
          <a:lstStyle/>
          <a:p>
            <a:pPr indent="0" marL="0">
              <a:buNone/>
            </a:pPr>
            <a:r>
              <a:rPr lang="en-US" sz="1350" b="1" dirty="0">
                <a:solidFill>
                  <a:srgbClr val="FFFFFF"/>
                </a:solidFill>
                <a:latin typeface="Courier New" pitchFamily="34" charset="0"/>
                <a:ea typeface="Courier New" pitchFamily="34" charset="-122"/>
                <a:cs typeface="Courier New" pitchFamily="34" charset="-120"/>
              </a:rPr>
              <a:t>docs/02-adding-a-secure-feature.md</a:t>
            </a:r>
            <a:endParaRPr lang="en-US" sz="1350" dirty="0"/>
          </a:p>
        </p:txBody>
      </p:sp>
      <p:sp>
        <p:nvSpPr>
          <p:cNvPr id="12" name="Text 10"/>
          <p:cNvSpPr txBox="1"/>
          <p:nvPr/>
        </p:nvSpPr>
        <p:spPr>
          <a:xfrm>
            <a:off x="5760720" y="4690872"/>
            <a:ext cx="5852160" cy="365760"/>
          </a:xfrm>
          <a:prstGeom prst="rect">
            <a:avLst/>
          </a:prstGeom>
          <a:noFill/>
          <a:ln/>
        </p:spPr>
        <p:txBody>
          <a:bodyPr wrap="square" lIns="0" tIns="0" rIns="0" bIns="0" rtlCol="0" anchor="ctr"/>
          <a:lstStyle/>
          <a:p>
            <a:pPr indent="0" marL="0">
              <a:buNone/>
            </a:pPr>
            <a:r>
              <a:rPr lang="en-US" sz="1250" dirty="0">
                <a:solidFill>
                  <a:srgbClr val="9FC9B3"/>
                </a:solidFill>
                <a:latin typeface="Calibri" pitchFamily="34" charset="0"/>
                <a:ea typeface="Calibri" pitchFamily="34" charset="-122"/>
                <a:cs typeface="Calibri" pitchFamily="34" charset="-120"/>
              </a:rPr>
              <a:t>Worked example: add a role-guarded feature end to end</a:t>
            </a:r>
            <a:endParaRPr lang="en-US" sz="1250" dirty="0"/>
          </a:p>
        </p:txBody>
      </p:sp>
      <p:sp>
        <p:nvSpPr>
          <p:cNvPr id="13" name="Shape 11"/>
          <p:cNvSpPr/>
          <p:nvPr/>
        </p:nvSpPr>
        <p:spPr>
          <a:xfrm>
            <a:off x="685800" y="5349240"/>
            <a:ext cx="256032" cy="256032"/>
          </a:xfrm>
          <a:prstGeom prst="roundRect">
            <a:avLst>
              <a:gd name="adj" fmla="val 21429"/>
            </a:avLst>
          </a:prstGeom>
          <a:solidFill>
            <a:srgbClr val="2FA36B"/>
          </a:solidFill>
          <a:ln/>
        </p:spPr>
      </p:sp>
      <p:sp>
        <p:nvSpPr>
          <p:cNvPr id="14" name="Text 12"/>
          <p:cNvSpPr txBox="1"/>
          <p:nvPr/>
        </p:nvSpPr>
        <p:spPr>
          <a:xfrm>
            <a:off x="1143000" y="5285232"/>
            <a:ext cx="4480560" cy="365760"/>
          </a:xfrm>
          <a:prstGeom prst="rect">
            <a:avLst/>
          </a:prstGeom>
          <a:noFill/>
          <a:ln/>
        </p:spPr>
        <p:txBody>
          <a:bodyPr wrap="square" lIns="0" tIns="0" rIns="0" bIns="0" rtlCol="0" anchor="ctr"/>
          <a:lstStyle/>
          <a:p>
            <a:pPr indent="0" marL="0">
              <a:buNone/>
            </a:pPr>
            <a:r>
              <a:rPr lang="en-US" sz="1350" b="1" dirty="0">
                <a:solidFill>
                  <a:srgbClr val="FFFFFF"/>
                </a:solidFill>
                <a:latin typeface="Courier New" pitchFamily="34" charset="0"/>
                <a:ea typeface="Courier New" pitchFamily="34" charset="-122"/>
                <a:cs typeface="Courier New" pitchFamily="34" charset="-120"/>
              </a:rPr>
              <a:t>docs/03-full-reference.md</a:t>
            </a:r>
            <a:endParaRPr lang="en-US" sz="1350" dirty="0"/>
          </a:p>
        </p:txBody>
      </p:sp>
      <p:sp>
        <p:nvSpPr>
          <p:cNvPr id="15" name="Text 13"/>
          <p:cNvSpPr txBox="1"/>
          <p:nvPr/>
        </p:nvSpPr>
        <p:spPr>
          <a:xfrm>
            <a:off x="5760720" y="5285232"/>
            <a:ext cx="5852160" cy="365760"/>
          </a:xfrm>
          <a:prstGeom prst="rect">
            <a:avLst/>
          </a:prstGeom>
          <a:noFill/>
          <a:ln/>
        </p:spPr>
        <p:txBody>
          <a:bodyPr wrap="square" lIns="0" tIns="0" rIns="0" bIns="0" rtlCol="0" anchor="ctr"/>
          <a:lstStyle/>
          <a:p>
            <a:pPr indent="0" marL="0">
              <a:buNone/>
            </a:pPr>
            <a:r>
              <a:rPr lang="en-US" sz="1250" dirty="0">
                <a:solidFill>
                  <a:srgbClr val="9FC9B3"/>
                </a:solidFill>
                <a:latin typeface="Calibri" pitchFamily="34" charset="0"/>
                <a:ea typeface="Calibri" pitchFamily="34" charset="-122"/>
                <a:cs typeface="Calibri" pitchFamily="34" charset="-120"/>
              </a:rPr>
              <a:t>The complete reference - every moving part, in depth</a:t>
            </a:r>
            <a:endParaRPr lang="en-US" sz="1250" dirty="0"/>
          </a:p>
        </p:txBody>
      </p:sp>
      <p:sp>
        <p:nvSpPr>
          <p:cNvPr id="16" name="Text 14"/>
          <p:cNvSpPr txBox="1"/>
          <p:nvPr/>
        </p:nvSpPr>
        <p:spPr>
          <a:xfrm>
            <a:off x="685800" y="6126480"/>
            <a:ext cx="9144000" cy="365760"/>
          </a:xfrm>
          <a:prstGeom prst="rect">
            <a:avLst/>
          </a:prstGeom>
          <a:noFill/>
          <a:ln/>
        </p:spPr>
        <p:txBody>
          <a:bodyPr wrap="square" lIns="0" tIns="0" rIns="0" bIns="0" rtlCol="0" anchor="ctr"/>
          <a:lstStyle/>
          <a:p>
            <a:pPr indent="0" marL="0">
              <a:buNone/>
            </a:pPr>
            <a:r>
              <a:rPr lang="en-US" sz="1200" dirty="0">
                <a:solidFill>
                  <a:srgbClr val="7FAF97"/>
                </a:solidFill>
                <a:latin typeface="Calibri" pitchFamily="34" charset="0"/>
                <a:ea typeface="Calibri" pitchFamily="34" charset="-122"/>
                <a:cs typeface="Calibri" pitchFamily="34" charset="-120"/>
              </a:rPr>
              <a:t>Public domain (CC0) · fork it, rebrand it, ship it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Backend-for-Frontend Pattern</dc:title>
  <dc:subject>PptxGenJS Presentation</dc:subject>
  <dc:creator>bff-kickstart</dc:creator>
  <cp:lastModifiedBy>bff-kickstart</cp:lastModifiedBy>
  <cp:revision>1</cp:revision>
  <dcterms:created xsi:type="dcterms:W3CDTF">2026-09-09T13:56:01Z</dcterms:created>
  <dcterms:modified xsi:type="dcterms:W3CDTF">2026-09-09T13:56:01Z</dcterms:modified>
</cp:coreProperties>
</file>